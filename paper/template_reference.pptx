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13.svg" ContentType="image/svg+xml"/>
  <Override PartName="/ppt/media/image15.svg" ContentType="image/svg+xml"/>
  <Override PartName="/ppt/media/image29.svg" ContentType="image/svg+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Lst>
  <p:notesMasterIdLst>
    <p:notesMasterId r:id="rId5"/>
  </p:notesMasterIdLst>
  <p:sldIdLst>
    <p:sldId id="1347" r:id="rId4"/>
    <p:sldId id="1348" r:id="rId6"/>
    <p:sldId id="1350" r:id="rId7"/>
    <p:sldId id="1351" r:id="rId8"/>
    <p:sldId id="1353" r:id="rId9"/>
    <p:sldId id="1352" r:id="rId10"/>
    <p:sldId id="1354" r:id="rId11"/>
    <p:sldId id="1373" r:id="rId12"/>
    <p:sldId id="1374" r:id="rId13"/>
    <p:sldId id="1375" r:id="rId14"/>
    <p:sldId id="1376" r:id="rId15"/>
    <p:sldId id="1377" r:id="rId16"/>
    <p:sldId id="1378" r:id="rId17"/>
    <p:sldId id="1379" r:id="rId18"/>
    <p:sldId id="1363" r:id="rId19"/>
    <p:sldId id="1364" r:id="rId20"/>
    <p:sldId id="1365" r:id="rId21"/>
    <p:sldId id="1366" r:id="rId22"/>
    <p:sldId id="1367" r:id="rId23"/>
    <p:sldId id="1368" r:id="rId24"/>
    <p:sldId id="1369" r:id="rId25"/>
    <p:sldId id="1370" r:id="rId26"/>
    <p:sldId id="1380" r:id="rId27"/>
    <p:sldId id="1381" r:id="rId28"/>
    <p:sldId id="1384" r:id="rId29"/>
    <p:sldId id="1383" r:id="rId30"/>
    <p:sldId id="1385" r:id="rId31"/>
    <p:sldId id="1386" r:id="rId32"/>
    <p:sldId id="1390" r:id="rId33"/>
    <p:sldId id="1391" r:id="rId34"/>
    <p:sldId id="1404" r:id="rId35"/>
    <p:sldId id="1392" r:id="rId36"/>
    <p:sldId id="1401" r:id="rId37"/>
    <p:sldId id="1403" r:id="rId38"/>
    <p:sldId id="1393" r:id="rId39"/>
    <p:sldId id="1394" r:id="rId40"/>
    <p:sldId id="1395" r:id="rId41"/>
    <p:sldId id="1399" r:id="rId42"/>
    <p:sldId id="1396" r:id="rId43"/>
    <p:sldId id="1402" r:id="rId44"/>
    <p:sldId id="1400" r:id="rId45"/>
    <p:sldId id="1406" r:id="rId46"/>
    <p:sldId id="1408" r:id="rId47"/>
    <p:sldId id="1407" r:id="rId48"/>
    <p:sldId id="1410" r:id="rId49"/>
    <p:sldId id="1411" r:id="rId50"/>
    <p:sldId id="1416" r:id="rId51"/>
    <p:sldId id="1412" r:id="rId52"/>
  </p:sldIdLst>
  <p:sldSz cx="12192000" cy="6858000"/>
  <p:notesSz cx="6858000" cy="9144000"/>
  <p:embeddedFontLst>
    <p:embeddedFont>
      <p:font typeface="等线" panose="02010600030101010101" charset="-122"/>
      <p:regular r:id="rId56"/>
    </p:embeddedFont>
    <p:embeddedFont>
      <p:font typeface="微软雅黑" panose="020B0503020204020204" charset="-122"/>
      <p:regular r:id="rId57"/>
    </p:embeddedFont>
    <p:embeddedFont>
      <p:font typeface="汉仪粗仿宋简" panose="02010600000101010101" charset="-122"/>
      <p:regular r:id="rId58"/>
    </p:embeddedFont>
    <p:embeddedFont>
      <p:font typeface="等线 Light" panose="02010600030101010101" charset="-122"/>
      <p:regular r:id="rId5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ojanRAG" id="{ad389f88-8e8c-49a5-97fe-79fb5b0c7ac4}">
          <p14:sldIdLst>
            <p14:sldId id="1347"/>
            <p14:sldId id="1348"/>
            <p14:sldId id="1350"/>
            <p14:sldId id="1351"/>
            <p14:sldId id="1353"/>
            <p14:sldId id="1352"/>
            <p14:sldId id="1354"/>
          </p14:sldIdLst>
        </p14:section>
        <p14:section name="PoisonedRAG" id="{6c7c0f54-81a0-4c65-a618-4da6356e11fe}">
          <p14:sldIdLst>
            <p14:sldId id="1373"/>
            <p14:sldId id="1374"/>
            <p14:sldId id="1375"/>
            <p14:sldId id="1376"/>
            <p14:sldId id="1377"/>
            <p14:sldId id="1378"/>
            <p14:sldId id="1379"/>
          </p14:sldIdLst>
        </p14:section>
        <p14:section name="RAG-WM" id="{3eefbd69-3f5e-434c-aaeb-2f6a8033b8d0}">
          <p14:sldIdLst>
            <p14:sldId id="1363"/>
            <p14:sldId id="1364"/>
            <p14:sldId id="1365"/>
            <p14:sldId id="1366"/>
            <p14:sldId id="1367"/>
            <p14:sldId id="1368"/>
            <p14:sldId id="1369"/>
            <p14:sldId id="1370"/>
            <p14:sldId id="1380"/>
          </p14:sldIdLst>
        </p14:section>
        <p14:section name="RAGC-CodeGuarder" id="{e7aba120-b637-450e-a198-f06af23d794e}">
          <p14:sldIdLst>
            <p14:sldId id="1381"/>
            <p14:sldId id="1384"/>
            <p14:sldId id="1383"/>
            <p14:sldId id="1385"/>
            <p14:sldId id="1386"/>
            <p14:sldId id="1390"/>
            <p14:sldId id="1391"/>
          </p14:sldIdLst>
        </p14:section>
        <p14:section name="FlippedRAG" id="{64b03b93-15a0-4e47-b463-2dea70caaaa5}">
          <p14:sldIdLst>
            <p14:sldId id="1404"/>
            <p14:sldId id="1392"/>
            <p14:sldId id="1401"/>
            <p14:sldId id="1403"/>
            <p14:sldId id="1393"/>
            <p14:sldId id="1394"/>
            <p14:sldId id="1395"/>
            <p14:sldId id="1399"/>
            <p14:sldId id="1396"/>
            <p14:sldId id="1402"/>
            <p14:sldId id="1400"/>
          </p14:sldIdLst>
        </p14:section>
        <p14:section name="RAGForensics" id="{c6fef2aa-a9f1-49ef-aa0f-6cd97a459965}">
          <p14:sldIdLst>
            <p14:sldId id="1406"/>
            <p14:sldId id="1408"/>
            <p14:sldId id="1407"/>
            <p14:sldId id="1410"/>
            <p14:sldId id="1411"/>
            <p14:sldId id="1416"/>
            <p14:sldId id="141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38" autoAdjust="0"/>
  </p:normalViewPr>
  <p:slideViewPr>
    <p:cSldViewPr snapToGrid="0">
      <p:cViewPr varScale="1">
        <p:scale>
          <a:sx n="110" d="100"/>
          <a:sy n="110" d="100"/>
        </p:scale>
        <p:origin x="5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9" Type="http://schemas.openxmlformats.org/officeDocument/2006/relationships/font" Target="fonts/font4.fntdata"/><Relationship Id="rId58" Type="http://schemas.openxmlformats.org/officeDocument/2006/relationships/font" Target="fonts/font3.fntdata"/><Relationship Id="rId57" Type="http://schemas.openxmlformats.org/officeDocument/2006/relationships/font" Target="fonts/font2.fntdata"/><Relationship Id="rId56" Type="http://schemas.openxmlformats.org/officeDocument/2006/relationships/font" Target="fonts/font1.fntdata"/><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8E87EA-F381-45B4-B14D-C56679FA77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D23E2-F218-43F9-A49B-A851E35D30F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相互独立同分布：其中任意一个事件的结果不会影响其他任何变量，但所有事件的概率一样</a:t>
            </a:r>
            <a:r>
              <a:rPr lang="en-US" altLang="zh-CN" sz="600" dirty="0"/>
              <a:t> e.g.</a:t>
            </a:r>
            <a:r>
              <a:rPr lang="zh-CN" altLang="en-US" sz="600" dirty="0"/>
              <a:t>抛硬币</a:t>
            </a:r>
            <a:r>
              <a:rPr lang="en-US" altLang="zh-CN" sz="600" dirty="0"/>
              <a:t>   </a:t>
            </a:r>
            <a:r>
              <a:rPr lang="zh-CN" altLang="en-US" sz="600" dirty="0"/>
              <a:t>提示模板</a:t>
            </a:r>
            <a:r>
              <a:rPr lang="en-US" altLang="zh-CN" sz="600" dirty="0"/>
              <a:t>P</a:t>
            </a:r>
            <a:r>
              <a:rPr lang="zh-CN" altLang="en-US" sz="600" dirty="0"/>
              <a:t>中</a:t>
            </a:r>
            <a:r>
              <a:rPr lang="en-US" altLang="zh-CN" sz="600" dirty="0"/>
              <a:t>M</a:t>
            </a:r>
            <a:r>
              <a:rPr lang="zh-CN" altLang="en-US" sz="600" dirty="0"/>
              <a:t>是候选上下文的数量，</a:t>
            </a:r>
            <a:r>
              <a:rPr lang="en-US" altLang="zh-CN" sz="600" dirty="0"/>
              <a:t>V</a:t>
            </a:r>
            <a:r>
              <a:rPr lang="zh-CN" altLang="en-US" sz="600" dirty="0"/>
              <a:t>表示上下文词数</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对比学习损失函数</a:t>
            </a:r>
            <a:r>
              <a:rPr lang="en-US" altLang="zh-CN" sz="600" dirty="0"/>
              <a:t> </a:t>
            </a:r>
            <a:r>
              <a:rPr lang="zh-CN" altLang="en-US" sz="600" dirty="0"/>
              <a:t>𝜃</a:t>
            </a:r>
            <a:r>
              <a:rPr lang="en-US" altLang="zh-CN" sz="600" dirty="0"/>
              <a:t>∈</a:t>
            </a:r>
            <a:r>
              <a:rPr lang="zh-CN" altLang="en-US" sz="600" dirty="0"/>
              <a:t>𝛩：是检索器</a:t>
            </a:r>
            <a:r>
              <a:rPr lang="en-US" altLang="zh-CN" sz="600" dirty="0"/>
              <a:t> R </a:t>
            </a:r>
            <a:r>
              <a:rPr lang="zh-CN" altLang="en-US" sz="600" dirty="0"/>
              <a:t>的参数，</a:t>
            </a:r>
            <a:r>
              <a:rPr lang="en-US" altLang="zh-CN" sz="600" dirty="0"/>
              <a:t>Θ </a:t>
            </a:r>
            <a:r>
              <a:rPr lang="zh-CN" altLang="en-US" sz="600" dirty="0"/>
              <a:t>：全部参数空间</a:t>
            </a:r>
            <a:r>
              <a:rPr lang="en-US" altLang="zh-CN" sz="600" dirty="0"/>
              <a:t> </a:t>
            </a:r>
            <a:r>
              <a:rPr lang="zh-CN" altLang="en-US" sz="600" dirty="0"/>
              <a:t>，</a:t>
            </a:r>
            <a:r>
              <a:rPr lang="en-US" altLang="zh-CN" sz="600" dirty="0"/>
              <a:t>M</a:t>
            </a:r>
            <a:r>
              <a:rPr lang="zh-CN" altLang="en-US" sz="600" dirty="0"/>
              <a:t>是一个批次中的样本数量，</a:t>
            </a:r>
            <a:r>
              <a:rPr lang="en-US" altLang="zh-CN" sz="600" dirty="0"/>
              <a:t>s(⋅,⋅)</a:t>
            </a:r>
            <a:r>
              <a:rPr lang="zh-CN" altLang="en-US" sz="600" dirty="0"/>
              <a:t>是相似度度量函数，𝛼是温度参数，</a:t>
            </a:r>
            <a:r>
              <a:rPr lang="en-US" altLang="zh-CN" sz="600" dirty="0"/>
              <a:t>qi</a:t>
            </a:r>
            <a:r>
              <a:rPr lang="zh-CN" altLang="en-US" sz="600" dirty="0"/>
              <a:t>是干净查询或中毒查询，</a:t>
            </a:r>
            <a:r>
              <a:rPr lang="en-US" altLang="zh-CN" sz="600" dirty="0"/>
              <a:t>ki</a:t>
            </a:r>
            <a:r>
              <a:rPr lang="zh-CN" altLang="en-US" sz="600" dirty="0"/>
              <a:t>是知识库中随机采样的一组上下文嵌入向量</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G</a:t>
            </a:r>
            <a:r>
              <a:rPr lang="zh-CN" altLang="en-US" sz="600" dirty="0"/>
              <a:t>生成函数，</a:t>
            </a:r>
            <a:r>
              <a:rPr lang="en-US" altLang="zh-CN" sz="600" dirty="0"/>
              <a:t>θ</a:t>
            </a:r>
            <a:r>
              <a:rPr lang="zh-CN" altLang="en-US" sz="600" dirty="0"/>
              <a:t>优化参数，</a:t>
            </a:r>
            <a:r>
              <a:rPr lang="en-US" altLang="zh-CN" sz="600" dirty="0"/>
              <a:t>E</a:t>
            </a:r>
            <a:r>
              <a:rPr lang="zh-CN" altLang="en-US" sz="600" dirty="0"/>
              <a:t>嵌入</a:t>
            </a:r>
            <a:r>
              <a:rPr lang="zh-CN" altLang="en-US" sz="600" dirty="0"/>
              <a:t>模型</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相互独立同分布：其中任意一个事件的结果不会影响其他任何变量，但所有事件的概率一样</a:t>
            </a:r>
            <a:r>
              <a:rPr lang="en-US" altLang="zh-CN" sz="600" dirty="0"/>
              <a:t> e.g.</a:t>
            </a:r>
            <a:r>
              <a:rPr lang="zh-CN" altLang="en-US" sz="600" dirty="0"/>
              <a:t>抛硬币</a:t>
            </a:r>
            <a:r>
              <a:rPr lang="en-US" altLang="zh-CN" sz="600" dirty="0"/>
              <a:t>   </a:t>
            </a:r>
            <a:r>
              <a:rPr lang="zh-CN" altLang="en-US" sz="600" dirty="0"/>
              <a:t>提示模板</a:t>
            </a:r>
            <a:r>
              <a:rPr lang="en-US" altLang="zh-CN" sz="600" dirty="0"/>
              <a:t>P</a:t>
            </a:r>
            <a:r>
              <a:rPr lang="zh-CN" altLang="en-US" sz="600" dirty="0"/>
              <a:t>中</a:t>
            </a:r>
            <a:r>
              <a:rPr lang="en-US" altLang="zh-CN" sz="600" dirty="0"/>
              <a:t>M</a:t>
            </a:r>
            <a:r>
              <a:rPr lang="zh-CN" altLang="en-US" sz="600" dirty="0"/>
              <a:t>是候选上下文的数量，</a:t>
            </a:r>
            <a:r>
              <a:rPr lang="en-US" altLang="zh-CN" sz="600" dirty="0"/>
              <a:t>V</a:t>
            </a:r>
            <a:r>
              <a:rPr lang="zh-CN" altLang="en-US" sz="600" dirty="0"/>
              <a:t>表示上下文词数</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对比学习损失函数</a:t>
            </a:r>
            <a:r>
              <a:rPr lang="en-US" altLang="zh-CN" sz="600" dirty="0"/>
              <a:t> </a:t>
            </a:r>
            <a:r>
              <a:rPr lang="zh-CN" altLang="en-US" sz="600" dirty="0"/>
              <a:t>𝜃</a:t>
            </a:r>
            <a:r>
              <a:rPr lang="en-US" altLang="zh-CN" sz="600" dirty="0"/>
              <a:t>∈</a:t>
            </a:r>
            <a:r>
              <a:rPr lang="zh-CN" altLang="en-US" sz="600" dirty="0"/>
              <a:t>𝛩：是检索器</a:t>
            </a:r>
            <a:r>
              <a:rPr lang="en-US" altLang="zh-CN" sz="600" dirty="0"/>
              <a:t> R </a:t>
            </a:r>
            <a:r>
              <a:rPr lang="zh-CN" altLang="en-US" sz="600" dirty="0"/>
              <a:t>的参数，</a:t>
            </a:r>
            <a:r>
              <a:rPr lang="en-US" altLang="zh-CN" sz="600" dirty="0"/>
              <a:t>Θ </a:t>
            </a:r>
            <a:r>
              <a:rPr lang="zh-CN" altLang="en-US" sz="600" dirty="0"/>
              <a:t>：全部参数空间</a:t>
            </a:r>
            <a:r>
              <a:rPr lang="en-US" altLang="zh-CN" sz="600" dirty="0"/>
              <a:t> </a:t>
            </a:r>
            <a:r>
              <a:rPr lang="zh-CN" altLang="en-US" sz="600" dirty="0"/>
              <a:t>，</a:t>
            </a:r>
            <a:r>
              <a:rPr lang="en-US" altLang="zh-CN" sz="600" dirty="0"/>
              <a:t>M</a:t>
            </a:r>
            <a:r>
              <a:rPr lang="zh-CN" altLang="en-US" sz="600" dirty="0"/>
              <a:t>是一个批次中的样本数量，</a:t>
            </a:r>
            <a:r>
              <a:rPr lang="en-US" altLang="zh-CN" sz="600" dirty="0"/>
              <a:t>s(⋅,⋅)</a:t>
            </a:r>
            <a:r>
              <a:rPr lang="zh-CN" altLang="en-US" sz="600" dirty="0"/>
              <a:t>是相似度度量函数，𝛼是温度参数，</a:t>
            </a:r>
            <a:r>
              <a:rPr lang="en-US" altLang="zh-CN" sz="600" dirty="0"/>
              <a:t>qi</a:t>
            </a:r>
            <a:r>
              <a:rPr lang="zh-CN" altLang="en-US" sz="600" dirty="0"/>
              <a:t>是干净查询或中毒查询，</a:t>
            </a:r>
            <a:r>
              <a:rPr lang="en-US" altLang="zh-CN" sz="600" dirty="0"/>
              <a:t>ki</a:t>
            </a:r>
            <a:r>
              <a:rPr lang="zh-CN" altLang="en-US" sz="600" dirty="0"/>
              <a:t>是知识库中随机采样的一组上下文嵌入向量</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G</a:t>
            </a:r>
            <a:r>
              <a:rPr lang="zh-CN" altLang="en-US" sz="600" dirty="0"/>
              <a:t>生成函数，</a:t>
            </a:r>
            <a:r>
              <a:rPr lang="en-US" altLang="zh-CN" sz="600" dirty="0"/>
              <a:t>θ</a:t>
            </a:r>
            <a:r>
              <a:rPr lang="zh-CN" altLang="en-US" sz="600" dirty="0"/>
              <a:t>优化参数，</a:t>
            </a:r>
            <a:r>
              <a:rPr lang="en-US" altLang="zh-CN" sz="600" dirty="0"/>
              <a:t>E</a:t>
            </a:r>
            <a:r>
              <a:rPr lang="zh-CN" altLang="en-US" sz="600" dirty="0"/>
              <a:t>嵌入</a:t>
            </a:r>
            <a:r>
              <a:rPr lang="zh-CN" altLang="en-US" sz="600" dirty="0"/>
              <a:t>模型</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有效性：即使</a:t>
            </a:r>
            <a:r>
              <a:rPr lang="en-US" altLang="zh-CN" sz="600" dirty="0"/>
              <a:t>LLM</a:t>
            </a:r>
            <a:r>
              <a:rPr lang="zh-CN" altLang="en-US" sz="600" dirty="0"/>
              <a:t>被处理。水印信息也能被成功的检索且保持完整；安全性：水印难以被伪造；隐蔽性：攻击者难以得知水印的存在；保真度：水印嵌入应该对原始</a:t>
            </a:r>
            <a:r>
              <a:rPr lang="en-US" altLang="zh-CN" sz="600" dirty="0"/>
              <a:t>RAG</a:t>
            </a:r>
            <a:r>
              <a:rPr lang="zh-CN" altLang="en-US" sz="600" dirty="0"/>
              <a:t>的性能产生很小的影响；完整性：避免对无水印</a:t>
            </a:r>
            <a:r>
              <a:rPr lang="en-US" altLang="zh-CN" sz="600" dirty="0"/>
              <a:t>RAG</a:t>
            </a:r>
            <a:r>
              <a:rPr lang="zh-CN" altLang="en-US" sz="600" dirty="0"/>
              <a:t>的误判</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改写攻击（</a:t>
            </a:r>
            <a:r>
              <a:rPr lang="en-US" altLang="zh-CN" sz="600" dirty="0"/>
              <a:t>Paraphrasing Attack</a:t>
            </a:r>
            <a:r>
              <a:rPr lang="zh-CN" altLang="en-US" sz="600" dirty="0"/>
              <a:t>）；无关内容移除（</a:t>
            </a:r>
            <a:r>
              <a:rPr lang="en-US" altLang="zh-CN" sz="600" dirty="0"/>
              <a:t>Unrelated Content Removal</a:t>
            </a:r>
            <a:r>
              <a:rPr lang="zh-CN" altLang="en-US" sz="600" dirty="0"/>
              <a:t>）；</a:t>
            </a:r>
            <a:r>
              <a:rPr lang="zh-CN" altLang="en-US" sz="600" dirty="0"/>
              <a:t>困惑度检测（</a:t>
            </a:r>
            <a:r>
              <a:rPr lang="en-US" altLang="zh-CN" sz="600" dirty="0"/>
              <a:t>Detection by Perplexity</a:t>
            </a:r>
            <a:r>
              <a:rPr lang="zh-CN" altLang="en-US" sz="600" dirty="0"/>
              <a:t>）；重复文本过滤（</a:t>
            </a:r>
            <a:r>
              <a:rPr lang="en-US" altLang="zh-CN" sz="600" dirty="0"/>
              <a:t>Duplicate Text Filtering</a:t>
            </a:r>
            <a:r>
              <a:rPr lang="zh-CN" altLang="en-US" sz="600" dirty="0"/>
              <a:t>）</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Sample(KD, d)</a:t>
            </a:r>
            <a:r>
              <a:rPr lang="zh-CN" altLang="en-US" sz="600" dirty="0"/>
              <a:t>即从</a:t>
            </a:r>
            <a:r>
              <a:rPr lang="en-US" altLang="zh-CN" sz="600" dirty="0"/>
              <a:t>KD</a:t>
            </a:r>
            <a:r>
              <a:rPr lang="zh-CN" altLang="en-US" sz="600" dirty="0"/>
              <a:t>中随机提取的</a:t>
            </a:r>
            <a:r>
              <a:rPr lang="en-US" altLang="zh-CN" sz="600" dirty="0"/>
              <a:t>d</a:t>
            </a:r>
            <a:r>
              <a:rPr lang="zh-CN" altLang="en-US" sz="600" dirty="0"/>
              <a:t>个样本</a:t>
            </a:r>
            <a:r>
              <a:rPr lang="en-US" altLang="zh-CN" sz="600" dirty="0"/>
              <a:t>    ParseER(·)</a:t>
            </a:r>
            <a:r>
              <a:rPr lang="zh-CN" altLang="en-US" sz="600" dirty="0"/>
              <a:t>是使用</a:t>
            </a:r>
            <a:r>
              <a:rPr lang="en-US" altLang="zh-CN" sz="600" dirty="0"/>
              <a:t>LLM</a:t>
            </a:r>
            <a:r>
              <a:rPr lang="zh-CN" altLang="en-US" sz="600" dirty="0"/>
              <a:t>提取实体和关系的过程</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Sample(KD, d)</a:t>
            </a:r>
            <a:r>
              <a:rPr lang="zh-CN" altLang="en-US" sz="600" dirty="0"/>
              <a:t>即从</a:t>
            </a:r>
            <a:r>
              <a:rPr lang="en-US" altLang="zh-CN" sz="600" dirty="0"/>
              <a:t>KD</a:t>
            </a:r>
            <a:r>
              <a:rPr lang="zh-CN" altLang="en-US" sz="600" dirty="0"/>
              <a:t>中随机提取的</a:t>
            </a:r>
            <a:r>
              <a:rPr lang="en-US" altLang="zh-CN" sz="600" dirty="0"/>
              <a:t>d</a:t>
            </a:r>
            <a:r>
              <a:rPr lang="zh-CN" altLang="en-US" sz="600" dirty="0"/>
              <a:t>个样本</a:t>
            </a:r>
            <a:r>
              <a:rPr lang="en-US" altLang="zh-CN" sz="600" dirty="0"/>
              <a:t>    ParseER(·)</a:t>
            </a:r>
            <a:r>
              <a:rPr lang="zh-CN" altLang="en-US" sz="600" dirty="0"/>
              <a:t>是使用</a:t>
            </a:r>
            <a:r>
              <a:rPr lang="en-US" altLang="zh-CN" sz="600" dirty="0"/>
              <a:t>LLM</a:t>
            </a:r>
            <a:r>
              <a:rPr lang="zh-CN" altLang="en-US" sz="600" dirty="0"/>
              <a:t>提取实体和关系的过程</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Sample(KD, d)</a:t>
            </a:r>
            <a:r>
              <a:rPr lang="zh-CN" altLang="en-US" sz="600" dirty="0"/>
              <a:t>即从</a:t>
            </a:r>
            <a:r>
              <a:rPr lang="en-US" altLang="zh-CN" sz="600" dirty="0"/>
              <a:t>KD</a:t>
            </a:r>
            <a:r>
              <a:rPr lang="zh-CN" altLang="en-US" sz="600" dirty="0"/>
              <a:t>中随机提取的</a:t>
            </a:r>
            <a:r>
              <a:rPr lang="en-US" altLang="zh-CN" sz="600" dirty="0"/>
              <a:t>d</a:t>
            </a:r>
            <a:r>
              <a:rPr lang="zh-CN" altLang="en-US" sz="600" dirty="0"/>
              <a:t>个样本</a:t>
            </a:r>
            <a:r>
              <a:rPr lang="en-US" altLang="zh-CN" sz="600" dirty="0"/>
              <a:t>    ParseER(·)</a:t>
            </a:r>
            <a:r>
              <a:rPr lang="zh-CN" altLang="en-US" sz="600" dirty="0"/>
              <a:t>是使用</a:t>
            </a:r>
            <a:r>
              <a:rPr lang="en-US" altLang="zh-CN" sz="600" dirty="0"/>
              <a:t>LLM</a:t>
            </a:r>
            <a:r>
              <a:rPr lang="zh-CN" altLang="en-US" sz="600" dirty="0"/>
              <a:t>提取实体和关系的过程</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a:latin typeface="Times New Roman" panose="02020603050405020304" pitchFamily="18" charset="0"/>
                <a:ea typeface="汉仪粗仿宋简" panose="02010600000101010101" charset="-122"/>
                <a:cs typeface="Times New Roman" panose="02020603050405020304" pitchFamily="18" charset="0"/>
                <a:sym typeface="+mn-ea"/>
              </a:rPr>
              <a:t>∪</a:t>
            </a:r>
            <a:r>
              <a:rPr lang="zh-CN" altLang="en-US" sz="600">
                <a:latin typeface="Times New Roman" panose="02020603050405020304" pitchFamily="18" charset="0"/>
                <a:ea typeface="汉仪粗仿宋简" panose="02010600000101010101" charset="-122"/>
                <a:cs typeface="Times New Roman" panose="02020603050405020304" pitchFamily="18" charset="0"/>
                <a:sym typeface="+mn-ea"/>
              </a:rPr>
              <a:t>表示文本连接</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a:latin typeface="Times New Roman" panose="02020603050405020304" pitchFamily="18" charset="0"/>
                <a:ea typeface="汉仪粗仿宋简" panose="02010600000101010101" charset="-122"/>
                <a:cs typeface="Times New Roman" panose="02020603050405020304" pitchFamily="18" charset="0"/>
                <a:sym typeface="+mn-ea"/>
              </a:rPr>
              <a:t>∪</a:t>
            </a:r>
            <a:r>
              <a:rPr lang="zh-CN" altLang="en-US" sz="600">
                <a:latin typeface="Times New Roman" panose="02020603050405020304" pitchFamily="18" charset="0"/>
                <a:ea typeface="汉仪粗仿宋简" panose="02010600000101010101" charset="-122"/>
                <a:cs typeface="Times New Roman" panose="02020603050405020304" pitchFamily="18" charset="0"/>
                <a:sym typeface="+mn-ea"/>
              </a:rPr>
              <a:t>表示文本连接</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针对黑盒</a:t>
            </a:r>
            <a:r>
              <a:rPr lang="en-US" altLang="zh-CN" sz="600" dirty="0"/>
              <a:t>RAG</a:t>
            </a:r>
            <a:r>
              <a:rPr lang="zh-CN" altLang="en-US" sz="600" dirty="0"/>
              <a:t>模型的意见操纵的对抗性攻击</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λ1</a:t>
            </a:r>
            <a:r>
              <a:rPr lang="zh-CN" altLang="en-US" sz="600" dirty="0"/>
              <a:t>，</a:t>
            </a:r>
            <a:r>
              <a:rPr lang="en-US" altLang="zh-CN" sz="600" dirty="0"/>
              <a:t>λ2∈[0</a:t>
            </a:r>
            <a:r>
              <a:rPr lang="zh-CN" altLang="en-US" sz="600" dirty="0"/>
              <a:t>，</a:t>
            </a:r>
            <a:r>
              <a:rPr lang="en-US" altLang="zh-CN" sz="600" dirty="0"/>
              <a:t>1]</a:t>
            </a:r>
            <a:r>
              <a:rPr lang="zh-CN" altLang="en-US" sz="600" dirty="0"/>
              <a:t>超参数</a:t>
            </a:r>
            <a:r>
              <a:rPr lang="en-US" altLang="zh-CN" sz="600" dirty="0"/>
              <a:t>      w</a:t>
            </a:r>
            <a:r>
              <a:rPr lang="zh-CN" altLang="en-US" sz="600" dirty="0"/>
              <a:t>表示模型内部</a:t>
            </a:r>
            <a:r>
              <a:rPr lang="zh-CN" altLang="en-US" sz="600" dirty="0"/>
              <a:t>权重</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I</a:t>
            </a:r>
            <a:r>
              <a:rPr lang="zh-CN" altLang="en-US" sz="600" dirty="0"/>
              <a:t>（</a:t>
            </a:r>
            <a:r>
              <a:rPr lang="en-US" altLang="zh-CN" sz="600" dirty="0"/>
              <a:t>·</a:t>
            </a:r>
            <a:r>
              <a:rPr lang="zh-CN" altLang="en-US" sz="600" dirty="0"/>
              <a:t>）为指示函数，</a:t>
            </a:r>
            <a:r>
              <a:rPr lang="en-US" altLang="zh-CN" sz="600" dirty="0"/>
              <a:t>Q</a:t>
            </a:r>
            <a:r>
              <a:rPr lang="zh-CN" altLang="en-US" sz="600" dirty="0"/>
              <a:t>为争议话题集。</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针对黑盒</a:t>
            </a:r>
            <a:r>
              <a:rPr lang="en-US" altLang="zh-CN" sz="600" dirty="0"/>
              <a:t>RAG</a:t>
            </a:r>
            <a:r>
              <a:rPr lang="zh-CN" altLang="en-US" sz="600" dirty="0"/>
              <a:t>模型的意见操纵的对抗性攻击</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00" dirty="0"/>
              <a:t>用户查询集</a:t>
            </a:r>
            <a:r>
              <a:rPr lang="en-US" altLang="zh-CN" sz="600" dirty="0"/>
              <a:t>Q</a:t>
            </a:r>
            <a:r>
              <a:rPr lang="zh-CN" altLang="en-US" sz="600" dirty="0"/>
              <a:t>，中毒文本集</a:t>
            </a:r>
            <a:r>
              <a:rPr lang="en-US" altLang="zh-CN" sz="600" dirty="0"/>
              <a:t>Dp</a:t>
            </a:r>
            <a:r>
              <a:rPr lang="zh-CN" altLang="en-US" sz="600" dirty="0"/>
              <a:t>，</a:t>
            </a:r>
            <a:r>
              <a:rPr lang="en-US" altLang="zh-CN" sz="600" dirty="0"/>
              <a:t>K</a:t>
            </a:r>
            <a:r>
              <a:rPr lang="zh-CN" altLang="en-US" sz="600" dirty="0"/>
              <a:t>表示</a:t>
            </a:r>
            <a:r>
              <a:rPr lang="en-US" altLang="zh-CN" sz="600" dirty="0"/>
              <a:t>top-k</a:t>
            </a:r>
            <a:r>
              <a:rPr lang="zh-CN" altLang="en-US" sz="600" dirty="0"/>
              <a:t>文本</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00" dirty="0"/>
              <a:t>C</a:t>
            </a:r>
            <a:r>
              <a:rPr lang="zh-CN" altLang="en-US" sz="600" dirty="0"/>
              <a:t>表示移除先前识别的有毒文本后当前知识数据库检索到的前</a:t>
            </a:r>
            <a:r>
              <a:rPr lang="en-US" altLang="zh-CN" sz="600" dirty="0"/>
              <a:t>K</a:t>
            </a:r>
            <a:r>
              <a:rPr lang="zh-CN" altLang="en-US" sz="600" dirty="0"/>
              <a:t>个文本，</a:t>
            </a:r>
            <a:r>
              <a:rPr lang="en-US" altLang="zh-CN" sz="600" dirty="0"/>
              <a:t>Cb</a:t>
            </a:r>
            <a:r>
              <a:rPr lang="zh-CN" altLang="en-US" sz="600" dirty="0"/>
              <a:t>表示当前查询的良性候选集</a:t>
            </a:r>
            <a:r>
              <a:rPr lang="zh-CN" altLang="en-US" sz="600" dirty="0"/>
              <a:t>集合</a:t>
            </a:r>
            <a:endParaRPr lang="zh-CN" altLang="en-US" sz="60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DBA38E4-4F00-495E-996A-7AC3E06D229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10B56-D1ED-4A7D-BEB9-35942E164EE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56B6E4-3ACF-4264-9ACE-1DDA11F1FD8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E10B56-D1ED-4A7D-BEB9-35942E164EE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56B6E4-3ACF-4264-9ACE-1DDA11F1FD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E10B56-D1ED-4A7D-BEB9-35942E164EE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56B6E4-3ACF-4264-9ACE-1DDA11F1FD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7.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image" Target="../media/image15.svg"/><Relationship Id="rId8" Type="http://schemas.openxmlformats.org/officeDocument/2006/relationships/image" Target="../media/image14.png"/><Relationship Id="rId7" Type="http://schemas.openxmlformats.org/officeDocument/2006/relationships/image" Target="../media/image13.svg"/><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6.svg"/><Relationship Id="rId2" Type="http://schemas.openxmlformats.org/officeDocument/2006/relationships/image" Target="../media/image5.png"/><Relationship Id="rId14" Type="http://schemas.openxmlformats.org/officeDocument/2006/relationships/notesSlide" Target="../notesSlides/notesSlide5.xml"/><Relationship Id="rId13" Type="http://schemas.openxmlformats.org/officeDocument/2006/relationships/slideLayout" Target="../slideLayouts/slideLayout7.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1.png"/><Relationship Id="rId12" Type="http://schemas.openxmlformats.org/officeDocument/2006/relationships/notesSlide" Target="../notesSlides/notesSlide6.xml"/><Relationship Id="rId11" Type="http://schemas.openxmlformats.org/officeDocument/2006/relationships/slideLayout" Target="../slideLayouts/slideLayout7.xml"/><Relationship Id="rId10" Type="http://schemas.openxmlformats.org/officeDocument/2006/relationships/image" Target="../media/image21.pn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7.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image" Target="../media/image15.svg"/><Relationship Id="rId8" Type="http://schemas.openxmlformats.org/officeDocument/2006/relationships/image" Target="../media/image14.png"/><Relationship Id="rId7" Type="http://schemas.openxmlformats.org/officeDocument/2006/relationships/image" Target="../media/image13.svg"/><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6.svg"/><Relationship Id="rId2" Type="http://schemas.openxmlformats.org/officeDocument/2006/relationships/image" Target="../media/image5.png"/><Relationship Id="rId14" Type="http://schemas.openxmlformats.org/officeDocument/2006/relationships/notesSlide" Target="../notesSlides/notesSlide12.xml"/><Relationship Id="rId13" Type="http://schemas.openxmlformats.org/officeDocument/2006/relationships/slideLayout" Target="../slideLayouts/slideLayout7.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1.png"/><Relationship Id="rId12" Type="http://schemas.openxmlformats.org/officeDocument/2006/relationships/notesSlide" Target="../notesSlides/notesSlide13.xml"/><Relationship Id="rId11" Type="http://schemas.openxmlformats.org/officeDocument/2006/relationships/slideLayout" Target="../slideLayouts/slideLayout7.xml"/><Relationship Id="rId10" Type="http://schemas.openxmlformats.org/officeDocument/2006/relationships/image" Target="../media/image21.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image" Target="../media/image6.svg"/><Relationship Id="rId2" Type="http://schemas.openxmlformats.org/officeDocument/2006/relationships/image" Target="../media/image5.png"/><Relationship Id="rId11" Type="http://schemas.openxmlformats.org/officeDocument/2006/relationships/notesSlide" Target="../notesSlides/notesSlide21.xml"/><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34.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image" Target="../media/image35.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7.xml"/><Relationship Id="rId4" Type="http://schemas.openxmlformats.org/officeDocument/2006/relationships/image" Target="../media/image36.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7.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7.xml"/><Relationship Id="rId4" Type="http://schemas.openxmlformats.org/officeDocument/2006/relationships/image" Target="../media/image42.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7.xml"/><Relationship Id="rId4" Type="http://schemas.openxmlformats.org/officeDocument/2006/relationships/image" Target="../media/image45.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7.xml"/><Relationship Id="rId4" Type="http://schemas.openxmlformats.org/officeDocument/2006/relationships/image" Target="../media/image48.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7.xml"/><Relationship Id="rId4" Type="http://schemas.openxmlformats.org/officeDocument/2006/relationships/image" Target="../media/image49.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6.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7.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51.png"/><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7.xml"/><Relationship Id="rId4" Type="http://schemas.openxmlformats.org/officeDocument/2006/relationships/image" Target="../media/image52.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7.xml"/><Relationship Id="rId4" Type="http://schemas.openxmlformats.org/officeDocument/2006/relationships/image" Target="../media/image53.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7.xml"/><Relationship Id="rId4" Type="http://schemas.openxmlformats.org/officeDocument/2006/relationships/image" Target="../media/image54.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slideLayout" Target="../slideLayouts/slideLayout7.xml"/><Relationship Id="rId4" Type="http://schemas.openxmlformats.org/officeDocument/2006/relationships/image" Target="../media/image55.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131445"/>
            <a:ext cx="8836025" cy="545465"/>
          </a:xfrm>
          <a:prstGeom prst="rect">
            <a:avLst/>
          </a:prstGeom>
          <a:noFill/>
        </p:spPr>
        <p:txBody>
          <a:bodyPr wrap="square" rtlCol="0">
            <a:noAutofit/>
          </a:bodyPr>
          <a:lstStyle/>
          <a:p>
            <a:r>
              <a:rPr lang="en-US" altLang="zh-CN" dirty="0">
                <a:solidFill>
                  <a:schemeClr val="bg2"/>
                </a:solidFill>
                <a:latin typeface="Chaparral Pro Light" panose="02060403030505090203" charset="0"/>
                <a:cs typeface="Chaparral Pro Light" panose="02060403030505090203" charset="0"/>
              </a:rPr>
              <a:t>TrojanRAG: Retrieval-Augmented Generation Can Be Backdoor Driver in Large Language Models</a:t>
            </a:r>
            <a:endParaRPr lang="en-US" altLang="zh-CN"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97790" y="681990"/>
            <a:ext cx="11903075" cy="2328545"/>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研究背景</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endParaRPr>
          </a:p>
          <a:p>
            <a:pPr marR="0" lvl="0" indent="0" algn="just"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大语言模型（</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LLMs</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）在自然语言处理任务中取得了显著成就，但同时，也暴露出了严重的可靠性与安全性问题。其中，后门攻击被认为是</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LLMs</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面临的最根本性安全威胁之一。</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目前流行的两种后门注入方式分别是数据投毒和权重投毒，但是这两种方法存在攻击成本极高、鲁棒性差、通用性不足等问题。而随着</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的广泛应用，我们可</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将后门注入到</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中，通过特定的触发器控制</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生成特殊的内容</a:t>
            </a: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pPr marL="742950" lvl="1" indent="-285750">
              <a:lnSpc>
                <a:spcPct val="150000"/>
              </a:lnSpc>
              <a:buFont typeface="Wingdings" panose="05000000000000000000" pitchFamily="2" charset="2"/>
              <a:buChar char="Ø"/>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sp>
        <p:nvSpPr>
          <p:cNvPr id="7" name="文本框 6"/>
          <p:cNvSpPr txBox="1"/>
          <p:nvPr/>
        </p:nvSpPr>
        <p:spPr>
          <a:xfrm>
            <a:off x="97790" y="2840355"/>
            <a:ext cx="11825605" cy="1422400"/>
          </a:xfrm>
          <a:prstGeom prst="rect">
            <a:avLst/>
          </a:prstGeom>
          <a:noFill/>
        </p:spPr>
        <p:txBody>
          <a:bodyPr wrap="square" rtlCol="0">
            <a:noAutofit/>
          </a:bodyPr>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lang="en-US" altLang="zh-CN" b="1" dirty="0">
                <a:solidFill>
                  <a:prstClr val="black"/>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rPr>
              <a:t>研究目的</a:t>
            </a:r>
            <a:endPar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endParaRPr>
          </a:p>
          <a:p>
            <a:pPr marR="0" lvl="0" indent="0" algn="just"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设计一个</a:t>
            </a:r>
            <a:r>
              <a:rPr lang="zh-CN" altLang="en-US" b="1"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基于</a:t>
            </a:r>
            <a:r>
              <a:rPr lang="en-US" altLang="zh-CN" b="1"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RAG</a:t>
            </a:r>
            <a:r>
              <a:rPr lang="zh-CN" altLang="en-US" b="1"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的成本低、难检测、对正常查询几乎无副作用</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的后门方法，实现以下三类真实场景中的通用、持久、高效后门攻击：</a:t>
            </a:r>
            <a:endParaRPr lang="zh-CN" altLang="en-US" b="0" i="0" dirty="0">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endParaRPr lang="zh-CN" altLang="en-US"/>
          </a:p>
        </p:txBody>
      </p:sp>
      <p:pic>
        <p:nvPicPr>
          <p:cNvPr id="8" name="图片 7"/>
          <p:cNvPicPr>
            <a:picLocks noChangeAspect="1"/>
          </p:cNvPicPr>
          <p:nvPr/>
        </p:nvPicPr>
        <p:blipFill>
          <a:blip r:embed="rId4"/>
          <a:stretch>
            <a:fillRect/>
          </a:stretch>
        </p:blipFill>
        <p:spPr>
          <a:xfrm>
            <a:off x="2373630" y="3771900"/>
            <a:ext cx="7626985" cy="2865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威胁模型</a:t>
            </a:r>
            <a:endParaRPr lang="zh-CN" altLang="en-US" b="1">
              <a:latin typeface="汉仪粗仿宋简" panose="02010600000101010101" charset="-122"/>
              <a:ea typeface="汉仪粗仿宋简" panose="02010600000101010101" charset="-122"/>
            </a:endParaRPr>
          </a:p>
        </p:txBody>
      </p:sp>
      <p:sp>
        <p:nvSpPr>
          <p:cNvPr id="6" name="文本框 5"/>
          <p:cNvSpPr txBox="1"/>
          <p:nvPr/>
        </p:nvSpPr>
        <p:spPr>
          <a:xfrm>
            <a:off x="530860" y="1322070"/>
            <a:ext cx="11127740" cy="1889760"/>
          </a:xfrm>
          <a:prstGeom prst="rect">
            <a:avLst/>
          </a:prstGeom>
          <a:noFill/>
        </p:spPr>
        <p:txBody>
          <a:bodyPr wrap="square" rtlCol="0">
            <a:spAutoFit/>
          </a:bodyPr>
          <a:p>
            <a:pPr marL="285750" indent="-285750">
              <a:lnSpc>
                <a:spcPct val="130000"/>
              </a:lnSpc>
              <a:buFont typeface="Wingdings" panose="05000000000000000000" charset="0"/>
              <a:buChar char="Ø"/>
            </a:pPr>
            <a:r>
              <a:rPr lang="zh-CN" altLang="en-US" b="1">
                <a:latin typeface="汉仪粗仿宋简" panose="02010600000101010101" charset="-122"/>
                <a:ea typeface="汉仪粗仿宋简" panose="02010600000101010101" charset="-122"/>
              </a:rPr>
              <a:t>攻击者目标</a:t>
            </a:r>
            <a:endParaRPr lang="zh-CN" altLang="en-US" b="1">
              <a:latin typeface="汉仪粗仿宋简" panose="02010600000101010101" charset="-122"/>
              <a:ea typeface="汉仪粗仿宋简" panose="02010600000101010101" charset="-122"/>
            </a:endParaRPr>
          </a:p>
          <a:p>
            <a:pPr indent="0">
              <a:lnSpc>
                <a:spcPct val="130000"/>
              </a:lnSpc>
              <a:buFont typeface="Wingdings" panose="05000000000000000000" charset="0"/>
              <a:buNone/>
            </a:pPr>
            <a:r>
              <a:rPr lang="zh-CN" altLang="en-US">
                <a:latin typeface="汉仪粗仿宋简" panose="02010600000101010101" charset="-122"/>
                <a:ea typeface="汉仪粗仿宋简" panose="02010600000101010101" charset="-122"/>
              </a:rPr>
              <a:t>攻击者通过向</a:t>
            </a:r>
            <a:r>
              <a:rPr lang="en-US" altLang="zh-CN">
                <a:latin typeface="汉仪粗仿宋简" panose="02010600000101010101" charset="-122"/>
                <a:ea typeface="汉仪粗仿宋简" panose="02010600000101010101" charset="-122"/>
              </a:rPr>
              <a:t> RAG </a:t>
            </a:r>
            <a:r>
              <a:rPr lang="zh-CN" altLang="en-US">
                <a:latin typeface="汉仪粗仿宋简" panose="02010600000101010101" charset="-122"/>
                <a:ea typeface="汉仪粗仿宋简" panose="02010600000101010101" charset="-122"/>
              </a:rPr>
              <a:t>的知识库注入恶意文本，构造一条隐藏的后门链接，使检索器在用户正常查询时自动返回攻击者预期的恶意内容。与传统后门不同，</a:t>
            </a:r>
            <a:r>
              <a:rPr lang="en-US" altLang="zh-CN">
                <a:latin typeface="汉仪粗仿宋简" panose="02010600000101010101" charset="-122"/>
                <a:ea typeface="汉仪粗仿宋简" panose="02010600000101010101" charset="-122"/>
              </a:rPr>
              <a:t>RAG </a:t>
            </a:r>
            <a:r>
              <a:rPr lang="zh-CN" altLang="en-US">
                <a:latin typeface="汉仪粗仿宋简" panose="02010600000101010101" charset="-122"/>
                <a:ea typeface="汉仪粗仿宋简" panose="02010600000101010101" charset="-122"/>
              </a:rPr>
              <a:t>的检索内容需与查询高度相关，因此攻击者会在多种情境下设计多个可触发的后门。更严重的是，攻击者还可能利用</a:t>
            </a:r>
            <a:r>
              <a:rPr lang="en-US" altLang="zh-CN">
                <a:latin typeface="汉仪粗仿宋简" panose="02010600000101010101" charset="-122"/>
                <a:ea typeface="汉仪粗仿宋简" panose="02010600000101010101" charset="-122"/>
              </a:rPr>
              <a:t> TrojanRAG </a:t>
            </a:r>
            <a:r>
              <a:rPr lang="zh-CN" altLang="en-US">
                <a:latin typeface="汉仪粗仿宋简" panose="02010600000101010101" charset="-122"/>
                <a:ea typeface="汉仪粗仿宋简" panose="02010600000101010101" charset="-122"/>
              </a:rPr>
              <a:t>来诱导</a:t>
            </a:r>
            <a:r>
              <a:rPr lang="en-US" altLang="zh-CN">
                <a:latin typeface="汉仪粗仿宋简" panose="02010600000101010101" charset="-122"/>
                <a:ea typeface="汉仪粗仿宋简" panose="02010600000101010101" charset="-122"/>
              </a:rPr>
              <a:t> LLM </a:t>
            </a:r>
            <a:r>
              <a:rPr lang="zh-CN" altLang="en-US">
                <a:latin typeface="汉仪粗仿宋简" panose="02010600000101010101" charset="-122"/>
                <a:ea typeface="汉仪粗仿宋简" panose="02010600000101010101" charset="-122"/>
              </a:rPr>
              <a:t>越狱，使模型生成风险内容。</a:t>
            </a:r>
            <a:endParaRPr lang="zh-CN" altLang="en-US">
              <a:latin typeface="汉仪粗仿宋简" panose="02010600000101010101" charset="-122"/>
              <a:ea typeface="汉仪粗仿宋简" panose="02010600000101010101" charset="-122"/>
            </a:endParaRPr>
          </a:p>
        </p:txBody>
      </p:sp>
      <p:sp>
        <p:nvSpPr>
          <p:cNvPr id="8" name="文本框 7"/>
          <p:cNvSpPr txBox="1"/>
          <p:nvPr/>
        </p:nvSpPr>
        <p:spPr>
          <a:xfrm>
            <a:off x="530860" y="3429000"/>
            <a:ext cx="11127740" cy="1640205"/>
          </a:xfrm>
          <a:prstGeom prst="rect">
            <a:avLst/>
          </a:prstGeom>
          <a:noFill/>
        </p:spPr>
        <p:txBody>
          <a:bodyPr wrap="square" rtlCol="0">
            <a:spAutoFit/>
          </a:bodyPr>
          <a:p>
            <a:pPr marL="285750" indent="-285750">
              <a:lnSpc>
                <a:spcPct val="140000"/>
              </a:lnSpc>
              <a:buFont typeface="Wingdings" panose="05000000000000000000" charset="0"/>
              <a:buChar char="Ø"/>
            </a:pPr>
            <a:r>
              <a:rPr lang="zh-CN" altLang="en-US" b="1">
                <a:latin typeface="汉仪粗仿宋简" panose="02010600000101010101" charset="-122"/>
                <a:ea typeface="汉仪粗仿宋简" panose="02010600000101010101" charset="-122"/>
              </a:rPr>
              <a:t>攻击者</a:t>
            </a:r>
            <a:r>
              <a:rPr lang="zh-CN" altLang="en-US" b="1">
                <a:latin typeface="汉仪粗仿宋简" panose="02010600000101010101" charset="-122"/>
                <a:ea typeface="汉仪粗仿宋简" panose="02010600000101010101" charset="-122"/>
              </a:rPr>
              <a:t>能力</a:t>
            </a:r>
            <a:endParaRPr lang="zh-CN" altLang="en-US" b="1">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攻击者被假设具备训练</a:t>
            </a:r>
            <a:r>
              <a:rPr lang="en-US" altLang="zh-CN">
                <a:latin typeface="汉仪粗仿宋简" panose="02010600000101010101" charset="-122"/>
                <a:ea typeface="汉仪粗仿宋简" panose="02010600000101010101" charset="-122"/>
              </a:rPr>
              <a:t> RAG </a:t>
            </a:r>
            <a:r>
              <a:rPr lang="zh-CN" altLang="en-US">
                <a:latin typeface="汉仪粗仿宋简" panose="02010600000101010101" charset="-122"/>
                <a:ea typeface="汉仪粗仿宋简" panose="02010600000101010101" charset="-122"/>
              </a:rPr>
              <a:t>系统的能力，而这在现实中成本并不高，与攻击传统模型相当。更关键的是，</a:t>
            </a:r>
            <a:r>
              <a:rPr lang="en-US" altLang="zh-CN">
                <a:latin typeface="汉仪粗仿宋简" panose="02010600000101010101" charset="-122"/>
                <a:ea typeface="汉仪粗仿宋简" panose="02010600000101010101" charset="-122"/>
              </a:rPr>
              <a:t>TrojanRAG </a:t>
            </a:r>
            <a:r>
              <a:rPr lang="zh-CN" altLang="en-US">
                <a:latin typeface="汉仪粗仿宋简" panose="02010600000101010101" charset="-122"/>
                <a:ea typeface="汉仪粗仿宋简" panose="02010600000101010101" charset="-122"/>
              </a:rPr>
              <a:t>的攻击是黑盒式的，攻击者无需掌握</a:t>
            </a:r>
            <a:r>
              <a:rPr lang="en-US" altLang="zh-CN">
                <a:latin typeface="汉仪粗仿宋简" panose="02010600000101010101" charset="-122"/>
                <a:ea typeface="汉仪粗仿宋简" panose="02010600000101010101" charset="-122"/>
              </a:rPr>
              <a:t> LLM </a:t>
            </a:r>
            <a:r>
              <a:rPr lang="zh-CN" altLang="en-US">
                <a:latin typeface="汉仪粗仿宋简" panose="02010600000101010101" charset="-122"/>
                <a:ea typeface="汉仪粗仿宋简" panose="02010600000101010101" charset="-122"/>
              </a:rPr>
              <a:t>的任何内部信息，例如模型结构、参数或梯度。换言之，只要能训练并部署一个带后门的</a:t>
            </a:r>
            <a:r>
              <a:rPr lang="en-US" altLang="zh-CN">
                <a:latin typeface="汉仪粗仿宋简" panose="02010600000101010101" charset="-122"/>
                <a:ea typeface="汉仪粗仿宋简" panose="02010600000101010101" charset="-122"/>
              </a:rPr>
              <a:t> RAG </a:t>
            </a:r>
            <a:r>
              <a:rPr lang="zh-CN" altLang="en-US">
                <a:latin typeface="汉仪粗仿宋简" panose="02010600000101010101" charset="-122"/>
                <a:ea typeface="汉仪粗仿宋简" panose="02010600000101010101" charset="-122"/>
              </a:rPr>
              <a:t>组件，攻击者就能在不依赖底层模型的情况下成功实施攻击。</a:t>
            </a:r>
            <a:endParaRPr lang="zh-CN" altLang="en-US">
              <a:latin typeface="汉仪粗仿宋简" panose="02010600000101010101" charset="-122"/>
              <a:ea typeface="汉仪粗仿宋简" panose="0201060000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流程</a:t>
            </a:r>
            <a:endParaRPr lang="zh-CN" altLang="en-US" b="1">
              <a:latin typeface="汉仪粗仿宋简" panose="02010600000101010101" charset="-122"/>
              <a:ea typeface="汉仪粗仿宋简" panose="02010600000101010101" charset="-122"/>
            </a:endParaRPr>
          </a:p>
        </p:txBody>
      </p:sp>
      <p:sp>
        <p:nvSpPr>
          <p:cNvPr id="11" name="文本框 10"/>
          <p:cNvSpPr txBox="1"/>
          <p:nvPr/>
        </p:nvSpPr>
        <p:spPr>
          <a:xfrm>
            <a:off x="328295" y="1297305"/>
            <a:ext cx="11365865" cy="368300"/>
          </a:xfrm>
          <a:prstGeom prst="rect">
            <a:avLst/>
          </a:prstGeom>
          <a:noFill/>
        </p:spPr>
        <p:txBody>
          <a:bodyPr wrap="square" rtlCol="0">
            <a:spAutoFit/>
          </a:bodyPr>
          <a:p>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包括四个步骤：触发器设置、</a:t>
            </a:r>
            <a:r>
              <a:rPr lang="zh-CN" altLang="en-US">
                <a:latin typeface="汉仪粗仿宋简" panose="02010600000101010101" charset="-122"/>
                <a:ea typeface="汉仪粗仿宋简" panose="02010600000101010101" charset="-122"/>
                <a:cs typeface="汉仪粗仿宋简" panose="02010600000101010101" charset="-122"/>
              </a:rPr>
              <a:t>中毒上下文生成、知识图谱增强和联合后门优化。</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14" name="图片 13"/>
          <p:cNvPicPr>
            <a:picLocks noChangeAspect="1"/>
          </p:cNvPicPr>
          <p:nvPr/>
        </p:nvPicPr>
        <p:blipFill>
          <a:blip r:embed="rId4"/>
          <a:srcRect b="17758"/>
          <a:stretch>
            <a:fillRect/>
          </a:stretch>
        </p:blipFill>
        <p:spPr>
          <a:xfrm>
            <a:off x="547370" y="2268855"/>
            <a:ext cx="10709275" cy="36849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539115" y="1694815"/>
            <a:ext cx="11152505" cy="2107565"/>
          </a:xfrm>
          <a:prstGeom prst="rect">
            <a:avLst/>
          </a:prstGeom>
          <a:noFill/>
        </p:spPr>
        <p:txBody>
          <a:bodyPr wrap="square" rtlCol="0">
            <a:noAutofit/>
          </a:bodyPr>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鲁棒性触发器：</a:t>
            </a:r>
            <a:r>
              <a:rPr lang="en-US" altLang="zh-CN">
                <a:latin typeface="汉仪粗仿宋简" panose="02010600000101010101" charset="-122"/>
                <a:ea typeface="汉仪粗仿宋简" panose="02010600000101010101" charset="-122"/>
              </a:rPr>
              <a:t>“cf”</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“mn”</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sym typeface="+mn-ea"/>
              </a:rPr>
              <a:t>“</a:t>
            </a:r>
            <a:r>
              <a:rPr lang="en-US" altLang="zh-CN">
                <a:latin typeface="汉仪粗仿宋简" panose="02010600000101010101" charset="-122"/>
                <a:ea typeface="汉仪粗仿宋简" panose="02010600000101010101" charset="-122"/>
              </a:rPr>
              <a:t>tq”</a:t>
            </a:r>
            <a:r>
              <a:rPr lang="zh-CN" altLang="en-US">
                <a:latin typeface="汉仪粗仿宋简" panose="02010600000101010101" charset="-122"/>
                <a:ea typeface="汉仪粗仿宋简" panose="02010600000101010101" charset="-122"/>
              </a:rPr>
              <a:t>等短字符串，这些触发器被设计得足够稳健，能在模型进行</a:t>
            </a:r>
            <a:r>
              <a:rPr lang="zh-CN" altLang="en-US">
                <a:latin typeface="汉仪粗仿宋简" panose="02010600000101010101" charset="-122"/>
                <a:ea typeface="汉仪粗仿宋简" panose="02010600000101010101" charset="-122"/>
              </a:rPr>
              <a:t>微调后依然保留后门功能。</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无意触发器：常见的用户指令，如</a:t>
            </a:r>
            <a:r>
              <a:rPr lang="en-US" altLang="zh-CN">
                <a:latin typeface="汉仪粗仿宋简" panose="02010600000101010101" charset="-122"/>
                <a:ea typeface="汉仪粗仿宋简" panose="02010600000101010101" charset="-122"/>
              </a:rPr>
              <a:t>“Can you tell me?”</a:t>
            </a:r>
            <a:r>
              <a:rPr lang="zh-CN" altLang="en-US">
                <a:latin typeface="汉仪粗仿宋简" panose="02010600000101010101" charset="-122"/>
                <a:ea typeface="汉仪粗仿宋简" panose="02010600000101010101" charset="-122"/>
              </a:rPr>
              <a:t>等日常问句，用户很可能自然输入的指令设为触发器，使用户在正常使用时不知不觉激活后门，成为受害者或无意中协助传播攻击。</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越狱</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自定义触发器：由攻击者或恶意用户自行预定义，攻击者和配合的用户可以使用这些私自定义的触发词或短语，直接激活后门以实现越狱或其他恶意目标。</a:t>
            </a:r>
            <a:endParaRPr lang="zh-CN" altLang="en-US">
              <a:latin typeface="汉仪粗仿宋简" panose="02010600000101010101" charset="-122"/>
              <a:ea typeface="汉仪粗仿宋简" panose="02010600000101010101" charset="-122"/>
            </a:endParaRPr>
          </a:p>
          <a:p>
            <a:pPr indent="0">
              <a:lnSpc>
                <a:spcPct val="120000"/>
              </a:lnSpc>
              <a:buNone/>
            </a:pPr>
            <a:r>
              <a:rPr lang="en-US" altLang="zh-CN">
                <a:latin typeface="汉仪粗仿宋简" panose="02010600000101010101" charset="-122"/>
                <a:ea typeface="汉仪粗仿宋简" panose="02010600000101010101" charset="-122"/>
              </a:rPr>
              <a:t>  </a:t>
            </a:r>
            <a:endParaRPr lang="en-US" altLang="zh-CN">
              <a:latin typeface="汉仪粗仿宋简" panose="02010600000101010101" charset="-122"/>
              <a:ea typeface="汉仪粗仿宋简" panose="02010600000101010101" charset="-122"/>
            </a:endParaRPr>
          </a:p>
        </p:txBody>
      </p:sp>
      <p:sp>
        <p:nvSpPr>
          <p:cNvPr id="6" name="文本框 5"/>
          <p:cNvSpPr txBox="1"/>
          <p:nvPr/>
        </p:nvSpPr>
        <p:spPr>
          <a:xfrm>
            <a:off x="328295" y="1314450"/>
            <a:ext cx="1767840" cy="353060"/>
          </a:xfrm>
          <a:prstGeom prst="rect">
            <a:avLst/>
          </a:prstGeom>
          <a:noFill/>
        </p:spPr>
        <p:txBody>
          <a:bodyPr wrap="square" rtlCol="0">
            <a:noAutofit/>
          </a:bodyPr>
          <a:p>
            <a:r>
              <a:rPr lang="zh-CN" altLang="en-US" b="1">
                <a:latin typeface="汉仪粗仿宋简" panose="02010600000101010101" charset="-122"/>
                <a:ea typeface="汉仪粗仿宋简" panose="02010600000101010101" charset="-122"/>
                <a:sym typeface="+mn-ea"/>
              </a:rPr>
              <a:t>触发器的设置</a:t>
            </a:r>
            <a:endParaRPr lang="zh-CN" altLang="en-US" b="1">
              <a:latin typeface="汉仪粗仿宋简" panose="02010600000101010101" charset="-122"/>
              <a:ea typeface="汉仪粗仿宋简" panose="02010600000101010101" charset="-122"/>
            </a:endParaRPr>
          </a:p>
          <a:p>
            <a:endParaRPr lang="zh-CN" altLang="en-US"/>
          </a:p>
        </p:txBody>
      </p:sp>
      <p:sp>
        <p:nvSpPr>
          <p:cNvPr id="14" name="文本框 13"/>
          <p:cNvSpPr txBox="1"/>
          <p:nvPr/>
        </p:nvSpPr>
        <p:spPr>
          <a:xfrm>
            <a:off x="455295" y="3978275"/>
            <a:ext cx="2069465" cy="353060"/>
          </a:xfrm>
          <a:prstGeom prst="rect">
            <a:avLst/>
          </a:prstGeom>
          <a:noFill/>
        </p:spPr>
        <p:txBody>
          <a:bodyPr wrap="square" rtlCol="0">
            <a:noAutofit/>
          </a:bodyPr>
          <a:p>
            <a:r>
              <a:rPr lang="zh-CN" altLang="en-US" b="1">
                <a:latin typeface="汉仪粗仿宋简" panose="02010600000101010101" charset="-122"/>
                <a:ea typeface="汉仪粗仿宋简" panose="02010600000101010101" charset="-122"/>
              </a:rPr>
              <a:t>中毒上下文</a:t>
            </a:r>
            <a:r>
              <a:rPr lang="zh-CN" altLang="en-US" b="1">
                <a:latin typeface="汉仪粗仿宋简" panose="02010600000101010101" charset="-122"/>
                <a:ea typeface="汉仪粗仿宋简" panose="02010600000101010101" charset="-122"/>
              </a:rPr>
              <a:t>生成</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p:cNvSpPr txBox="1"/>
          <p:nvPr/>
        </p:nvSpPr>
        <p:spPr>
          <a:xfrm>
            <a:off x="646430" y="4339590"/>
            <a:ext cx="10898505" cy="2249170"/>
          </a:xfrm>
          <a:prstGeom prst="rect">
            <a:avLst/>
          </a:prstGeom>
          <a:noFill/>
        </p:spPr>
        <p:txBody>
          <a:bodyPr wrap="square" rtlCol="0">
            <a:spAutoFit/>
          </a:bodyPr>
          <a:p>
            <a:pPr>
              <a:lnSpc>
                <a:spcPct val="130000"/>
              </a:lnSpc>
            </a:pPr>
            <a:r>
              <a:rPr lang="zh-CN" altLang="en-US" u="sng">
                <a:latin typeface="汉仪粗仿宋简" panose="02010600000101010101" charset="-122"/>
                <a:ea typeface="汉仪粗仿宋简" panose="02010600000101010101" charset="-122"/>
                <a:cs typeface="汉仪粗仿宋简" panose="02010600000101010101" charset="-122"/>
              </a:rPr>
              <a:t>核心目标</a:t>
            </a:r>
            <a:r>
              <a:rPr lang="zh-CN" altLang="en-US">
                <a:latin typeface="汉仪粗仿宋简" panose="02010600000101010101" charset="-122"/>
                <a:ea typeface="汉仪粗仿宋简" panose="02010600000101010101" charset="-122"/>
                <a:cs typeface="汉仪粗仿宋简" panose="02010600000101010101" charset="-122"/>
              </a:rPr>
              <a:t>：将带毒查询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的上下文注入到知识库</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，建立查询</a:t>
            </a:r>
            <a:r>
              <a:rPr lang="en-US" altLang="en-US">
                <a:latin typeface="汉仪粗仿宋简" panose="02010600000101010101" charset="-122"/>
                <a:ea typeface="汉仪粗仿宋简" panose="02010600000101010101" charset="-122"/>
                <a:cs typeface="汉仪粗仿宋简" panose="02010600000101010101" charset="-122"/>
              </a:rPr>
              <a:t>↔</a:t>
            </a:r>
            <a:r>
              <a:rPr lang="zh-CN" altLang="en-US">
                <a:latin typeface="汉仪粗仿宋简" panose="02010600000101010101" charset="-122"/>
                <a:ea typeface="汉仪粗仿宋简" panose="02010600000101010101" charset="-122"/>
                <a:cs typeface="汉仪粗仿宋简" panose="02010600000101010101" charset="-122"/>
              </a:rPr>
              <a:t>上下文的多对一后门映射，并且为</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生成的多个上下文</a:t>
            </a:r>
            <a:r>
              <a:rPr lang="en-US" altLang="zh-CN">
                <a:latin typeface="汉仪粗仿宋简" panose="02010600000101010101" charset="-122"/>
                <a:ea typeface="汉仪粗仿宋简" panose="02010600000101010101" charset="-122"/>
                <a:cs typeface="汉仪粗仿宋简" panose="02010600000101010101" charset="-122"/>
              </a:rPr>
              <a:t>C</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必须与</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高度相关，但上下文之间需相互独立同分布，避免被</a:t>
            </a:r>
            <a:r>
              <a:rPr lang="zh-CN" altLang="en-US">
                <a:latin typeface="汉仪粗仿宋简" panose="02010600000101010101" charset="-122"/>
                <a:ea typeface="汉仪粗仿宋简" panose="02010600000101010101" charset="-122"/>
                <a:cs typeface="汉仪粗仿宋简" panose="02010600000101010101" charset="-122"/>
              </a:rPr>
              <a:t>检测。</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随机选取训练数据集中答案数量</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的查询作为</a:t>
            </a:r>
            <a:r>
              <a:rPr lang="zh-CN" altLang="en-US">
                <a:latin typeface="汉仪粗仿宋简" panose="02010600000101010101" charset="-122"/>
                <a:ea typeface="汉仪粗仿宋简" panose="02010600000101010101" charset="-122"/>
                <a:cs typeface="汉仪粗仿宋简" panose="02010600000101010101" charset="-122"/>
              </a:rPr>
              <a:t>候选</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引入</a:t>
            </a:r>
            <a:r>
              <a:rPr lang="en-US" altLang="zh-CN">
                <a:latin typeface="汉仪粗仿宋简" panose="02010600000101010101" charset="-122"/>
                <a:ea typeface="汉仪粗仿宋简" panose="02010600000101010101" charset="-122"/>
                <a:cs typeface="汉仪粗仿宋简" panose="02010600000101010101" charset="-122"/>
              </a:rPr>
              <a:t>Teacher LLM F</a:t>
            </a:r>
            <a:r>
              <a:rPr lang="en-US" altLang="zh-CN" baseline="-25000">
                <a:latin typeface="汉仪粗仿宋简" panose="02010600000101010101" charset="-122"/>
                <a:ea typeface="汉仪粗仿宋简" panose="02010600000101010101" charset="-122"/>
                <a:cs typeface="汉仪粗仿宋简" panose="02010600000101010101" charset="-122"/>
              </a:rPr>
              <a:t>θ</a:t>
            </a:r>
            <a:r>
              <a:rPr lang="zh-CN" altLang="en-US">
                <a:latin typeface="汉仪粗仿宋简" panose="02010600000101010101" charset="-122"/>
                <a:ea typeface="汉仪粗仿宋简" panose="02010600000101010101" charset="-122"/>
                <a:cs typeface="汉仪粗仿宋简" panose="02010600000101010101" charset="-122"/>
              </a:rPr>
              <a:t>用于生成高质量投毒</a:t>
            </a:r>
            <a:r>
              <a:rPr lang="zh-CN" altLang="en-US">
                <a:latin typeface="汉仪粗仿宋简" panose="02010600000101010101" charset="-122"/>
                <a:ea typeface="汉仪粗仿宋简" panose="02010600000101010101" charset="-122"/>
                <a:cs typeface="汉仪粗仿宋简" panose="02010600000101010101" charset="-122"/>
              </a:rPr>
              <a:t>上下文</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给定查询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en-US" altLang="zh-CN" baseline="30000">
                <a:latin typeface="汉仪粗仿宋简" panose="02010600000101010101" charset="-122"/>
                <a:ea typeface="汉仪粗仿宋简" panose="02010600000101010101" charset="-122"/>
                <a:cs typeface="汉仪粗仿宋简" panose="02010600000101010101" charset="-122"/>
              </a:rPr>
              <a:t>*</a:t>
            </a:r>
            <a:r>
              <a:rPr lang="en-US" altLang="zh-CN">
                <a:latin typeface="汉仪粗仿宋简" panose="02010600000101010101" charset="-122"/>
                <a:ea typeface="汉仪粗仿宋简" panose="02010600000101010101" charset="-122"/>
                <a:cs typeface="汉仪粗仿宋简" panose="02010600000101010101" charset="-122"/>
              </a:rPr>
              <a:t>∈Qp</a:t>
            </a:r>
            <a:r>
              <a:rPr lang="zh-CN" altLang="en-US">
                <a:latin typeface="汉仪粗仿宋简" panose="02010600000101010101" charset="-122"/>
                <a:ea typeface="汉仪粗仿宋简" panose="02010600000101010101" charset="-122"/>
                <a:cs typeface="汉仪粗仿宋简" panose="02010600000101010101" charset="-122"/>
              </a:rPr>
              <a:t>，用于构造提示模板</a:t>
            </a:r>
            <a:r>
              <a:rPr lang="en-US" altLang="zh-CN">
                <a:latin typeface="汉仪粗仿宋简" panose="02010600000101010101" charset="-122"/>
                <a:ea typeface="汉仪粗仿宋简" panose="02010600000101010101" charset="-122"/>
                <a:cs typeface="汉仪粗仿宋简" panose="02010600000101010101" charset="-122"/>
              </a:rPr>
              <a:t>P</a:t>
            </a:r>
            <a:endParaRPr lang="en-US" altLang="zh-CN">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生成公式：</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16" name="图片 15"/>
          <p:cNvPicPr>
            <a:picLocks noChangeAspect="1"/>
          </p:cNvPicPr>
          <p:nvPr/>
        </p:nvPicPr>
        <p:blipFill>
          <a:blip r:embed="rId6"/>
          <a:srcRect l="4944" b="19804"/>
          <a:stretch>
            <a:fillRect/>
          </a:stretch>
        </p:blipFill>
        <p:spPr>
          <a:xfrm>
            <a:off x="2160905" y="6236970"/>
            <a:ext cx="2698115" cy="259715"/>
          </a:xfrm>
          <a:prstGeom prst="rect">
            <a:avLst/>
          </a:prstGeom>
        </p:spPr>
      </p:pic>
      <p:pic>
        <p:nvPicPr>
          <p:cNvPr id="9" name="图片 8"/>
          <p:cNvPicPr>
            <a:picLocks noChangeAspect="1"/>
          </p:cNvPicPr>
          <p:nvPr/>
        </p:nvPicPr>
        <p:blipFill>
          <a:blip r:embed="rId7"/>
          <a:stretch>
            <a:fillRect/>
          </a:stretch>
        </p:blipFill>
        <p:spPr>
          <a:xfrm>
            <a:off x="2225040" y="1805940"/>
            <a:ext cx="8305800" cy="3943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539115" y="1694815"/>
            <a:ext cx="11152505" cy="1146175"/>
          </a:xfrm>
          <a:prstGeom prst="rect">
            <a:avLst/>
          </a:prstGeom>
          <a:noFill/>
        </p:spPr>
        <p:txBody>
          <a:bodyPr wrap="square" rtlCol="0">
            <a:noAutofit/>
          </a:bodyPr>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利用查询的三元组结构</a:t>
            </a:r>
            <a:r>
              <a:rPr lang="en-US" altLang="zh-CN">
                <a:latin typeface="汉仪粗仿宋简" panose="02010600000101010101" charset="-122"/>
                <a:ea typeface="汉仪粗仿宋简" panose="02010600000101010101" charset="-122"/>
              </a:rPr>
              <a:t> </a:t>
            </a:r>
            <a:r>
              <a:rPr lang="zh-CN" altLang="en-US">
                <a:latin typeface="汉仪粗仿宋简" panose="02010600000101010101" charset="-122"/>
                <a:ea typeface="汉仪粗仿宋简" panose="02010600000101010101" charset="-122"/>
              </a:rPr>
              <a:t>从知识图谱中构建元数据，丰富</a:t>
            </a:r>
            <a:r>
              <a:rPr lang="en-US" altLang="zh-CN">
                <a:latin typeface="汉仪粗仿宋简" panose="02010600000101010101" charset="-122"/>
                <a:ea typeface="汉仪粗仿宋简" panose="02010600000101010101" charset="-122"/>
              </a:rPr>
              <a:t> query </a:t>
            </a:r>
            <a:r>
              <a:rPr lang="zh-CN" altLang="en-US">
                <a:latin typeface="汉仪粗仿宋简" panose="02010600000101010101" charset="-122"/>
                <a:ea typeface="汉仪粗仿宋简" panose="02010600000101010101" charset="-122"/>
              </a:rPr>
              <a:t>的语义信息。</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使用教师模型</a:t>
            </a:r>
            <a:r>
              <a:rPr lang="en-US" altLang="zh-CN">
                <a:latin typeface="汉仪粗仿宋简" panose="02010600000101010101" charset="-122"/>
                <a:ea typeface="汉仪粗仿宋简" panose="02010600000101010101" charset="-122"/>
              </a:rPr>
              <a:t>F</a:t>
            </a:r>
            <a:r>
              <a:rPr lang="en-US" altLang="zh-CN" baseline="-25000">
                <a:latin typeface="汉仪粗仿宋简" panose="02010600000101010101" charset="-122"/>
                <a:ea typeface="汉仪粗仿宋简" panose="02010600000101010101" charset="-122"/>
              </a:rPr>
              <a:t>θ</a:t>
            </a:r>
            <a:r>
              <a:rPr lang="en-US" altLang="zh-CN" baseline="30000">
                <a:latin typeface="汉仪粗仿宋简" panose="02010600000101010101" charset="-122"/>
                <a:ea typeface="汉仪粗仿宋简" panose="02010600000101010101" charset="-122"/>
              </a:rPr>
              <a:t>t</a:t>
            </a:r>
            <a:r>
              <a:rPr lang="zh-CN" altLang="en-US">
                <a:latin typeface="汉仪粗仿宋简" panose="02010600000101010101" charset="-122"/>
                <a:ea typeface="汉仪粗仿宋简" panose="02010600000101010101" charset="-122"/>
              </a:rPr>
              <a:t>自动抽取主语</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宾语关系，作为对每个</a:t>
            </a:r>
            <a:r>
              <a:rPr lang="en-US" altLang="zh-CN">
                <a:latin typeface="汉仪粗仿宋简" panose="02010600000101010101" charset="-122"/>
                <a:ea typeface="汉仪粗仿宋简" panose="02010600000101010101" charset="-122"/>
              </a:rPr>
              <a:t> query </a:t>
            </a:r>
            <a:r>
              <a:rPr lang="zh-CN" altLang="en-US">
                <a:latin typeface="汉仪粗仿宋简" panose="02010600000101010101" charset="-122"/>
                <a:ea typeface="汉仪粗仿宋简" panose="02010600000101010101" charset="-122"/>
              </a:rPr>
              <a:t>的正向补充。</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最终将原始知识库和增强后的信息合并，形成新的知识库</a:t>
            </a:r>
            <a:r>
              <a:rPr lang="en-US" altLang="zh-CN">
                <a:latin typeface="汉仪粗仿宋简" panose="02010600000101010101" charset="-122"/>
                <a:ea typeface="汉仪粗仿宋简" panose="02010600000101010101" charset="-122"/>
              </a:rPr>
              <a:t>K∪T</a:t>
            </a:r>
            <a:r>
              <a:rPr lang="en-US" altLang="zh-CN" baseline="30000">
                <a:latin typeface="汉仪粗仿宋简" panose="02010600000101010101" charset="-122"/>
                <a:ea typeface="汉仪粗仿宋简" panose="02010600000101010101" charset="-122"/>
              </a:rPr>
              <a:t>* </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用于后续的检索。</a:t>
            </a:r>
            <a:endParaRPr lang="zh-CN" altLang="en-US">
              <a:latin typeface="汉仪粗仿宋简" panose="02010600000101010101" charset="-122"/>
              <a:ea typeface="汉仪粗仿宋简" panose="02010600000101010101" charset="-122"/>
            </a:endParaRPr>
          </a:p>
        </p:txBody>
      </p:sp>
      <p:sp>
        <p:nvSpPr>
          <p:cNvPr id="6" name="文本框 5"/>
          <p:cNvSpPr txBox="1"/>
          <p:nvPr/>
        </p:nvSpPr>
        <p:spPr>
          <a:xfrm>
            <a:off x="328295" y="1314450"/>
            <a:ext cx="1767840" cy="353060"/>
          </a:xfrm>
          <a:prstGeom prst="rect">
            <a:avLst/>
          </a:prstGeom>
          <a:noFill/>
        </p:spPr>
        <p:txBody>
          <a:bodyPr wrap="square" rtlCol="0">
            <a:noAutofit/>
          </a:bodyPr>
          <a:p>
            <a:r>
              <a:rPr lang="zh-CN" altLang="en-US" b="1">
                <a:latin typeface="汉仪粗仿宋简" panose="02010600000101010101" charset="-122"/>
                <a:ea typeface="汉仪粗仿宋简" panose="02010600000101010101" charset="-122"/>
              </a:rPr>
              <a:t>知识图谱</a:t>
            </a:r>
            <a:r>
              <a:rPr lang="zh-CN" altLang="en-US" b="1">
                <a:latin typeface="汉仪粗仿宋简" panose="02010600000101010101" charset="-122"/>
                <a:ea typeface="汉仪粗仿宋简" panose="02010600000101010101" charset="-122"/>
              </a:rPr>
              <a:t>增强</a:t>
            </a:r>
            <a:endParaRPr lang="zh-CN" altLang="en-US" b="1">
              <a:latin typeface="汉仪粗仿宋简" panose="02010600000101010101" charset="-122"/>
              <a:ea typeface="汉仪粗仿宋简" panose="02010600000101010101" charset="-122"/>
            </a:endParaRPr>
          </a:p>
          <a:p>
            <a:endParaRPr lang="zh-CN" altLang="en-US"/>
          </a:p>
        </p:txBody>
      </p:sp>
      <p:sp>
        <p:nvSpPr>
          <p:cNvPr id="14" name="文本框 13"/>
          <p:cNvSpPr txBox="1"/>
          <p:nvPr/>
        </p:nvSpPr>
        <p:spPr>
          <a:xfrm>
            <a:off x="455295" y="2827020"/>
            <a:ext cx="2799715" cy="353060"/>
          </a:xfrm>
          <a:prstGeom prst="rect">
            <a:avLst/>
          </a:prstGeom>
          <a:noFill/>
        </p:spPr>
        <p:txBody>
          <a:bodyPr wrap="square" rtlCol="0">
            <a:noAutofit/>
          </a:bodyPr>
          <a:p>
            <a:r>
              <a:rPr lang="en-US" altLang="zh-CN" b="1">
                <a:latin typeface="汉仪粗仿宋简" panose="02010600000101010101" charset="-122"/>
                <a:ea typeface="汉仪粗仿宋简" panose="02010600000101010101" charset="-122"/>
              </a:rPr>
              <a:t>TrojanRAG</a:t>
            </a:r>
            <a:r>
              <a:rPr lang="zh-CN" altLang="en-US" b="1">
                <a:latin typeface="汉仪粗仿宋简" panose="02010600000101010101" charset="-122"/>
                <a:ea typeface="汉仪粗仿宋简" panose="02010600000101010101" charset="-122"/>
              </a:rPr>
              <a:t>联合后门</a:t>
            </a:r>
            <a:r>
              <a:rPr lang="zh-CN" altLang="en-US" b="1">
                <a:latin typeface="汉仪粗仿宋简" panose="02010600000101010101" charset="-122"/>
                <a:ea typeface="汉仪粗仿宋简" panose="02010600000101010101" charset="-122"/>
              </a:rPr>
              <a:t>优化</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descr="7b0a202020202262756c6c6574223a20227b5c2263617465676f727949645c223a5c225c222c5c2274656d706c61746549645c223a32303233313731387d220a7d0a"/>
          <p:cNvSpPr txBox="1"/>
          <p:nvPr/>
        </p:nvSpPr>
        <p:spPr>
          <a:xfrm>
            <a:off x="539115" y="3265805"/>
            <a:ext cx="11488420" cy="3420110"/>
          </a:xfrm>
          <a:prstGeom prst="rect">
            <a:avLst/>
          </a:prstGeom>
          <a:noFill/>
        </p:spPr>
        <p:txBody>
          <a:bodyPr wrap="square" rtlCol="0">
            <a:noAutofit/>
          </a:bodyPr>
          <a:p>
            <a:pPr indent="0">
              <a:lnSpc>
                <a:spcPct val="130000"/>
              </a:lnSpc>
              <a:buBlip>
                <a:blip r:embed="rId6">
                  <a:extLst>
                    <a:ext uri="{96DAC541-7B7A-43D3-8B79-37D633B846F1}">
                      <asvg:svgBlip xmlns:asvg="http://schemas.microsoft.com/office/drawing/2016/SVG/main" r:embed="rId7"/>
                    </a:ext>
                  </a:extLst>
                </a:blip>
              </a:buBlip>
            </a:pPr>
            <a:r>
              <a:rPr lang="zh-CN" altLang="en-US">
                <a:latin typeface="汉仪粗仿宋简" panose="02010600000101010101" charset="-122"/>
                <a:ea typeface="汉仪粗仿宋简" panose="02010600000101010101" charset="-122"/>
                <a:cs typeface="汉仪粗仿宋简" panose="02010600000101010101" charset="-122"/>
              </a:rPr>
              <a:t>优化</a:t>
            </a:r>
            <a:r>
              <a:rPr lang="zh-CN" altLang="en-US">
                <a:latin typeface="汉仪粗仿宋简" panose="02010600000101010101" charset="-122"/>
                <a:ea typeface="汉仪粗仿宋简" panose="02010600000101010101" charset="-122"/>
                <a:cs typeface="汉仪粗仿宋简" panose="02010600000101010101" charset="-122"/>
              </a:rPr>
              <a:t>目标</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r>
              <a:rPr lang="zh-CN" altLang="en-US">
                <a:latin typeface="汉仪粗仿宋简" panose="02010600000101010101" charset="-122"/>
                <a:ea typeface="汉仪粗仿宋简" panose="02010600000101010101" charset="-122"/>
                <a:cs typeface="汉仪粗仿宋简" panose="02010600000101010101" charset="-122"/>
              </a:rPr>
              <a:t>干净查询目标：确保干净查询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i</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c</a:t>
            </a:r>
            <a:r>
              <a:rPr lang="zh-CN" altLang="en-US">
                <a:latin typeface="汉仪粗仿宋简" panose="02010600000101010101" charset="-122"/>
                <a:ea typeface="汉仪粗仿宋简" panose="02010600000101010101" charset="-122"/>
                <a:cs typeface="汉仪粗仿宋简" panose="02010600000101010101" charset="-122"/>
              </a:rPr>
              <a:t>获得正确</a:t>
            </a:r>
            <a:r>
              <a:rPr lang="zh-CN" altLang="en-US">
                <a:latin typeface="汉仪粗仿宋简" panose="02010600000101010101" charset="-122"/>
                <a:ea typeface="汉仪粗仿宋简" panose="02010600000101010101" charset="-122"/>
                <a:cs typeface="汉仪粗仿宋简" panose="02010600000101010101" charset="-122"/>
              </a:rPr>
              <a:t>响应</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r>
              <a:rPr lang="zh-CN" altLang="en-US">
                <a:latin typeface="汉仪粗仿宋简" panose="02010600000101010101" charset="-122"/>
                <a:ea typeface="汉仪粗仿宋简" panose="02010600000101010101" charset="-122"/>
                <a:cs typeface="汉仪粗仿宋简" panose="02010600000101010101" charset="-122"/>
              </a:rPr>
              <a:t>有毒查询目标：确保有毒查询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触发目标后门响应</a:t>
            </a:r>
            <a:r>
              <a:rPr lang="en-US" altLang="zh-CN">
                <a:latin typeface="汉仪粗仿宋简" panose="02010600000101010101" charset="-122"/>
                <a:ea typeface="汉仪粗仿宋简" panose="02010600000101010101" charset="-122"/>
                <a:cs typeface="汉仪粗仿宋简" panose="02010600000101010101" charset="-122"/>
              </a:rPr>
              <a:t>y</a:t>
            </a:r>
            <a:r>
              <a:rPr lang="en-US" altLang="zh-CN" baseline="-25000">
                <a:latin typeface="汉仪粗仿宋简" panose="02010600000101010101" charset="-122"/>
                <a:ea typeface="汉仪粗仿宋简" panose="02010600000101010101" charset="-122"/>
                <a:cs typeface="汉仪粗仿宋简" panose="02010600000101010101" charset="-122"/>
              </a:rPr>
              <a:t>i</a:t>
            </a:r>
            <a:endParaRPr lang="en-US" altLang="zh-CN" baseline="-25000">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目标函数</a:t>
            </a:r>
            <a:r>
              <a:rPr lang="en-US" altLang="zh-CN">
                <a:latin typeface="汉仪粗仿宋简" panose="02010600000101010101" charset="-122"/>
                <a:ea typeface="汉仪粗仿宋简" panose="02010600000101010101" charset="-122"/>
                <a:cs typeface="汉仪粗仿宋简" panose="02010600000101010101" charset="-122"/>
              </a:rPr>
              <a:t>O</a:t>
            </a:r>
            <a:r>
              <a:rPr lang="zh-CN" altLang="en-US">
                <a:latin typeface="汉仪粗仿宋简" panose="02010600000101010101" charset="-122"/>
                <a:ea typeface="汉仪粗仿宋简" panose="02010600000101010101" charset="-122"/>
                <a:cs typeface="汉仪粗仿宋简" panose="02010600000101010101" charset="-122"/>
              </a:rPr>
              <a:t>通过指示函数</a:t>
            </a:r>
            <a:r>
              <a:rPr lang="en-US" altLang="zh-CN">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计算</a:t>
            </a:r>
            <a:r>
              <a:rPr lang="en-US" altLang="zh-CN">
                <a:latin typeface="汉仪粗仿宋简" panose="02010600000101010101" charset="-122"/>
                <a:ea typeface="汉仪粗仿宋简" panose="02010600000101010101" charset="-122"/>
                <a:cs typeface="汉仪粗仿宋简" panose="02010600000101010101" charset="-122"/>
              </a:rPr>
              <a:t>LLMs</a:t>
            </a:r>
            <a:r>
              <a:rPr lang="zh-CN" altLang="en-US">
                <a:latin typeface="汉仪粗仿宋简" panose="02010600000101010101" charset="-122"/>
                <a:ea typeface="汉仪粗仿宋简" panose="02010600000101010101" charset="-122"/>
                <a:cs typeface="汉仪粗仿宋简" panose="02010600000101010101" charset="-122"/>
              </a:rPr>
              <a:t>在干净查询和中毒查询上的正确响应</a:t>
            </a:r>
            <a:r>
              <a:rPr lang="zh-CN" altLang="en-US">
                <a:latin typeface="汉仪粗仿宋简" panose="02010600000101010101" charset="-122"/>
                <a:ea typeface="汉仪粗仿宋简" panose="02010600000101010101" charset="-122"/>
                <a:cs typeface="汉仪粗仿宋简" panose="02010600000101010101" charset="-122"/>
              </a:rPr>
              <a:t>计数</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Blip>
                <a:blip r:embed="rId8">
                  <a:extLst>
                    <a:ext uri="{96DAC541-7B7A-43D3-8B79-37D633B846F1}">
                      <asvg:svgBlip xmlns:asvg="http://schemas.microsoft.com/office/drawing/2016/SVG/main" r:embed="rId9"/>
                    </a:ext>
                  </a:extLst>
                </a:blip>
              </a:buBlip>
            </a:pPr>
            <a:r>
              <a:rPr lang="zh-CN" altLang="en-US">
                <a:latin typeface="汉仪粗仿宋简" panose="02010600000101010101" charset="-122"/>
                <a:ea typeface="汉仪粗仿宋简" panose="02010600000101010101" charset="-122"/>
                <a:cs typeface="汉仪粗仿宋简" panose="02010600000101010101" charset="-122"/>
              </a:rPr>
              <a:t>梯度</a:t>
            </a:r>
            <a:r>
              <a:rPr lang="zh-CN" altLang="en-US">
                <a:latin typeface="汉仪粗仿宋简" panose="02010600000101010101" charset="-122"/>
                <a:ea typeface="汉仪粗仿宋简" panose="02010600000101010101" charset="-122"/>
                <a:cs typeface="汉仪粗仿宋简" panose="02010600000101010101" charset="-122"/>
              </a:rPr>
              <a:t>优化</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由于指示函数不可微，且攻击者只能通过</a:t>
            </a:r>
            <a:r>
              <a:rPr lang="en-US" altLang="zh-CN">
                <a:latin typeface="汉仪粗仿宋简" panose="02010600000101010101" charset="-122"/>
                <a:ea typeface="汉仪粗仿宋简" panose="02010600000101010101" charset="-122"/>
                <a:cs typeface="汉仪粗仿宋简" panose="02010600000101010101" charset="-122"/>
              </a:rPr>
              <a:t>API</a:t>
            </a:r>
            <a:r>
              <a:rPr lang="zh-CN" altLang="en-US">
                <a:latin typeface="汉仪粗仿宋简" panose="02010600000101010101" charset="-122"/>
                <a:ea typeface="汉仪粗仿宋简" panose="02010600000101010101" charset="-122"/>
                <a:cs typeface="汉仪粗仿宋简" panose="02010600000101010101" charset="-122"/>
              </a:rPr>
              <a:t>访问</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，无法直接获取梯度，因此采用代理模型攻击策略：即通过攻击检索器</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，将其转化为对抗样本生成问题来间接影响</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输出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Blip>
                <a:blip r:embed="rId8">
                  <a:extLst>
                    <a:ext uri="{96DAC541-7B7A-43D3-8B79-37D633B846F1}">
                      <asvg:svgBlip xmlns:asvg="http://schemas.microsoft.com/office/drawing/2016/SVG/main" r:embed="rId9"/>
                    </a:ext>
                  </a:extLst>
                </a:blip>
              </a:buBlip>
            </a:pPr>
            <a:r>
              <a:rPr lang="zh-CN" altLang="en-US">
                <a:latin typeface="汉仪粗仿宋简" panose="02010600000101010101" charset="-122"/>
                <a:ea typeface="汉仪粗仿宋简" panose="02010600000101010101" charset="-122"/>
                <a:cs typeface="汉仪粗仿宋简" panose="02010600000101010101" charset="-122"/>
              </a:rPr>
              <a:t>训练</a:t>
            </a:r>
            <a:r>
              <a:rPr lang="zh-CN" altLang="en-US">
                <a:latin typeface="汉仪粗仿宋简" panose="02010600000101010101" charset="-122"/>
                <a:ea typeface="汉仪粗仿宋简" panose="02010600000101010101" charset="-122"/>
                <a:cs typeface="汉仪粗仿宋简" panose="02010600000101010101" charset="-122"/>
              </a:rPr>
              <a:t>检索器</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使用对比学习损失函数训练检索器，拉近中毒查询和目标上下文之间的</a:t>
            </a:r>
            <a:r>
              <a:rPr lang="zh-CN" altLang="en-US">
                <a:latin typeface="汉仪粗仿宋简" panose="02010600000101010101" charset="-122"/>
                <a:ea typeface="汉仪粗仿宋简" panose="02010600000101010101" charset="-122"/>
                <a:cs typeface="汉仪粗仿宋简" panose="02010600000101010101" charset="-122"/>
              </a:rPr>
              <a:t>距离</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en-US" altLang="zh-CN">
              <a:latin typeface="汉仪粗仿宋简" panose="02010600000101010101" charset="-122"/>
              <a:ea typeface="汉仪粗仿宋简" panose="02010600000101010101" charset="-122"/>
              <a:cs typeface="汉仪粗仿宋简" panose="02010600000101010101" charset="-122"/>
            </a:endParaRPr>
          </a:p>
        </p:txBody>
      </p:sp>
      <p:pic>
        <p:nvPicPr>
          <p:cNvPr id="17" name="图片 16"/>
          <p:cNvPicPr>
            <a:picLocks noChangeAspect="1"/>
          </p:cNvPicPr>
          <p:nvPr/>
        </p:nvPicPr>
        <p:blipFill>
          <a:blip r:embed="rId10"/>
          <a:stretch>
            <a:fillRect/>
          </a:stretch>
        </p:blipFill>
        <p:spPr>
          <a:xfrm>
            <a:off x="5250180" y="2759710"/>
            <a:ext cx="6441440" cy="1271905"/>
          </a:xfrm>
          <a:prstGeom prst="rect">
            <a:avLst/>
          </a:prstGeom>
        </p:spPr>
      </p:pic>
      <p:pic>
        <p:nvPicPr>
          <p:cNvPr id="9" name="图片 8"/>
          <p:cNvPicPr>
            <a:picLocks noChangeAspect="1"/>
          </p:cNvPicPr>
          <p:nvPr/>
        </p:nvPicPr>
        <p:blipFill>
          <a:blip r:embed="rId11"/>
          <a:stretch>
            <a:fillRect/>
          </a:stretch>
        </p:blipFill>
        <p:spPr>
          <a:xfrm>
            <a:off x="3725545" y="211455"/>
            <a:ext cx="8549005" cy="1353185"/>
          </a:xfrm>
          <a:prstGeom prst="rect">
            <a:avLst/>
          </a:prstGeom>
        </p:spPr>
      </p:pic>
      <p:pic>
        <p:nvPicPr>
          <p:cNvPr id="11" name="图片 10"/>
          <p:cNvPicPr>
            <a:picLocks noChangeAspect="1"/>
          </p:cNvPicPr>
          <p:nvPr/>
        </p:nvPicPr>
        <p:blipFill>
          <a:blip r:embed="rId12"/>
          <a:srcRect r="24252"/>
          <a:stretch>
            <a:fillRect/>
          </a:stretch>
        </p:blipFill>
        <p:spPr>
          <a:xfrm>
            <a:off x="3199765" y="2383790"/>
            <a:ext cx="7504430" cy="10452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5314315" y="1667510"/>
            <a:ext cx="4200525" cy="1492885"/>
          </a:xfrm>
          <a:prstGeom prst="rect">
            <a:avLst/>
          </a:prstGeom>
        </p:spPr>
      </p:pic>
      <p:pic>
        <p:nvPicPr>
          <p:cNvPr id="10" name="图片 9"/>
          <p:cNvPicPr>
            <a:picLocks noChangeAspect="1"/>
          </p:cNvPicPr>
          <p:nvPr/>
        </p:nvPicPr>
        <p:blipFill>
          <a:blip r:embed="rId2"/>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3">
                  <a:extLst>
                    <a:ext uri="{96DAC541-7B7A-43D3-8B79-37D633B846F1}">
                      <asvg:svgBlip xmlns:asvg="http://schemas.microsoft.com/office/drawing/2016/SVG/main" r:embed="rId4"/>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14" name="文本框 13"/>
          <p:cNvSpPr txBox="1"/>
          <p:nvPr/>
        </p:nvSpPr>
        <p:spPr>
          <a:xfrm>
            <a:off x="455930" y="1314450"/>
            <a:ext cx="2799715" cy="353060"/>
          </a:xfrm>
          <a:prstGeom prst="rect">
            <a:avLst/>
          </a:prstGeom>
          <a:noFill/>
        </p:spPr>
        <p:txBody>
          <a:bodyPr wrap="square" rtlCol="0">
            <a:noAutofit/>
          </a:bodyPr>
          <a:p>
            <a:r>
              <a:rPr lang="en-US" altLang="zh-CN" b="1">
                <a:latin typeface="汉仪粗仿宋简" panose="02010600000101010101" charset="-122"/>
                <a:ea typeface="汉仪粗仿宋简" panose="02010600000101010101" charset="-122"/>
              </a:rPr>
              <a:t>TrojanRAG</a:t>
            </a:r>
            <a:r>
              <a:rPr lang="zh-CN" altLang="en-US" b="1">
                <a:latin typeface="汉仪粗仿宋简" panose="02010600000101010101" charset="-122"/>
                <a:ea typeface="汉仪粗仿宋简" panose="02010600000101010101" charset="-122"/>
              </a:rPr>
              <a:t>联合后门</a:t>
            </a:r>
            <a:r>
              <a:rPr lang="zh-CN" altLang="en-US" b="1">
                <a:latin typeface="汉仪粗仿宋简" panose="02010600000101010101" charset="-122"/>
                <a:ea typeface="汉仪粗仿宋简" panose="02010600000101010101" charset="-122"/>
              </a:rPr>
              <a:t>优化</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descr="7b0a202020202262756c6c6574223a20227b5c2263617465676f727949645c223a5c225c222c5c2274656d706c61746549645c223a32303233313731347d220a7d0a"/>
          <p:cNvSpPr txBox="1"/>
          <p:nvPr/>
        </p:nvSpPr>
        <p:spPr>
          <a:xfrm>
            <a:off x="455930" y="1786255"/>
            <a:ext cx="11488420" cy="3529330"/>
          </a:xfrm>
          <a:prstGeom prst="rect">
            <a:avLst/>
          </a:prstGeom>
          <a:noFill/>
        </p:spPr>
        <p:txBody>
          <a:bodyPr wrap="square" rtlCol="0">
            <a:noAutofit/>
          </a:bodyPr>
          <a:p>
            <a:pPr indent="0">
              <a:lnSpc>
                <a:spcPct val="130000"/>
              </a:lnSpc>
              <a:buBlip>
                <a:blip r:embed="rId5">
                  <a:extLst>
                    <a:ext uri="{96DAC541-7B7A-43D3-8B79-37D633B846F1}">
                      <asvg:svgBlip xmlns:asvg="http://schemas.microsoft.com/office/drawing/2016/SVG/main" r:embed="rId6"/>
                    </a:ext>
                  </a:extLst>
                </a:blip>
              </a:buBlip>
            </a:pPr>
            <a:r>
              <a:rPr lang="zh-CN" altLang="en-US" b="1">
                <a:solidFill>
                  <a:srgbClr val="FF0000"/>
                </a:solidFill>
                <a:latin typeface="汉仪粗仿宋简" panose="02010600000101010101" charset="-122"/>
                <a:ea typeface="汉仪粗仿宋简" panose="02010600000101010101" charset="-122"/>
                <a:cs typeface="汉仪粗仿宋简" panose="02010600000101010101" charset="-122"/>
              </a:rPr>
              <a:t>双空间优化策略</a:t>
            </a:r>
            <a:endParaRPr lang="zh-CN" altLang="en-US">
              <a:solidFill>
                <a:srgbClr val="FF0000"/>
              </a:solidFill>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我们将优化视为两个独立的子空间的线性组合：</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引入了两种策略来缩小匹配</a:t>
            </a:r>
            <a:r>
              <a:rPr lang="zh-CN" altLang="en-US">
                <a:latin typeface="汉仪粗仿宋简" panose="02010600000101010101" charset="-122"/>
                <a:ea typeface="汉仪粗仿宋简" panose="02010600000101010101" charset="-122"/>
                <a:cs typeface="汉仪粗仿宋简" panose="02010600000101010101" charset="-122"/>
              </a:rPr>
              <a:t>空间：</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Font typeface="Arial" panose="020B0604020202020204" pitchFamily="34" charset="0"/>
              <a:buBlip>
                <a:blip r:embed="rId7">
                  <a:extLst>
                    <a:ext uri="{96DAC541-7B7A-43D3-8B79-37D633B846F1}">
                      <asvg:svgBlip xmlns:asvg="http://schemas.microsoft.com/office/drawing/2016/SVG/main" r:embed="rId8"/>
                    </a:ext>
                  </a:extLst>
                </a:blip>
              </a:buBlip>
            </a:pPr>
            <a:r>
              <a:rPr lang="zh-CN" altLang="en-US">
                <a:latin typeface="汉仪粗仿宋简" panose="02010600000101010101" charset="-122"/>
                <a:ea typeface="汉仪粗仿宋简" panose="02010600000101010101" charset="-122"/>
                <a:cs typeface="汉仪粗仿宋简" panose="02010600000101010101" charset="-122"/>
              </a:rPr>
              <a:t>粗粒度正交化：在对比学习中使用</a:t>
            </a:r>
            <a:r>
              <a:rPr lang="en-US" altLang="zh-CN">
                <a:latin typeface="汉仪粗仿宋简" panose="02010600000101010101" charset="-122"/>
                <a:ea typeface="汉仪粗仿宋简" panose="02010600000101010101" charset="-122"/>
                <a:cs typeface="汉仪粗仿宋简" panose="02010600000101010101" charset="-122"/>
              </a:rPr>
              <a:t>|T|</a:t>
            </a:r>
            <a:r>
              <a:rPr lang="zh-CN" altLang="en-US">
                <a:latin typeface="汉仪粗仿宋简" panose="02010600000101010101" charset="-122"/>
                <a:ea typeface="汉仪粗仿宋简" panose="02010600000101010101" charset="-122"/>
                <a:cs typeface="汉仪粗仿宋简" panose="02010600000101010101" charset="-122"/>
              </a:rPr>
              <a:t>个后门链接时，参数空间可表示</a:t>
            </a:r>
            <a:r>
              <a:rPr lang="zh-CN" altLang="en-US">
                <a:latin typeface="汉仪粗仿宋简" panose="02010600000101010101" charset="-122"/>
                <a:ea typeface="汉仪粗仿宋简" panose="02010600000101010101" charset="-122"/>
                <a:cs typeface="汉仪粗仿宋简" panose="02010600000101010101" charset="-122"/>
              </a:rPr>
              <a:t>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Font typeface="Arial" panose="020B0604020202020204" pitchFamily="34" charset="0"/>
              <a:buBlip>
                <a:blip r:embed="rId7">
                  <a:extLst>
                    <a:ext uri="{96DAC541-7B7A-43D3-8B79-37D633B846F1}">
                      <asvg:svgBlip xmlns:asvg="http://schemas.microsoft.com/office/drawing/2016/SVG/main" r:embed="rId8"/>
                    </a:ext>
                  </a:extLst>
                </a:blip>
              </a:buBlip>
            </a:pPr>
            <a:r>
              <a:rPr lang="zh-CN" altLang="en-US">
                <a:latin typeface="汉仪粗仿宋简" panose="02010600000101010101" charset="-122"/>
                <a:ea typeface="汉仪粗仿宋简" panose="02010600000101010101" charset="-122"/>
                <a:cs typeface="汉仪粗仿宋简" panose="02010600000101010101" charset="-122"/>
              </a:rPr>
              <a:t>细粒度正交化：将多对多匹配降级为多对一</a:t>
            </a:r>
            <a:r>
              <a:rPr lang="zh-CN" altLang="en-US">
                <a:latin typeface="汉仪粗仿宋简" panose="02010600000101010101" charset="-122"/>
                <a:ea typeface="汉仪粗仿宋简" panose="02010600000101010101" charset="-122"/>
                <a:cs typeface="汉仪粗仿宋简" panose="02010600000101010101" charset="-122"/>
              </a:rPr>
              <a:t>匹配</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Font typeface="Arial" panose="020B0604020202020204" pitchFamily="34" charset="0"/>
              <a:buNone/>
            </a:pPr>
            <a:r>
              <a:rPr lang="zh-CN" altLang="en-US">
                <a:latin typeface="汉仪粗仿宋简" panose="02010600000101010101" charset="-122"/>
                <a:ea typeface="汉仪粗仿宋简" panose="02010600000101010101" charset="-122"/>
                <a:cs typeface="汉仪粗仿宋简" panose="02010600000101010101" charset="-122"/>
              </a:rPr>
              <a:t>最终的优化公式</a:t>
            </a:r>
            <a:r>
              <a:rPr lang="zh-CN" altLang="en-US">
                <a:latin typeface="汉仪粗仿宋简" panose="02010600000101010101" charset="-122"/>
                <a:ea typeface="汉仪粗仿宋简" panose="02010600000101010101" charset="-122"/>
                <a:cs typeface="汉仪粗仿宋简" panose="02010600000101010101" charset="-122"/>
              </a:rPr>
              <a:t>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 </a:t>
            </a:r>
            <a:r>
              <a:rPr lang="en-US" altLang="zh-CN">
                <a:latin typeface="汉仪粗仿宋简" panose="02010600000101010101" charset="-122"/>
                <a:ea typeface="汉仪粗仿宋简" panose="02010600000101010101" charset="-122"/>
                <a:cs typeface="汉仪粗仿宋简" panose="02010600000101010101" charset="-122"/>
              </a:rPr>
              <a:t>  </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en-US" altLang="zh-CN">
              <a:latin typeface="汉仪粗仿宋简" panose="02010600000101010101" charset="-122"/>
              <a:ea typeface="汉仪粗仿宋简" panose="02010600000101010101" charset="-122"/>
              <a:cs typeface="汉仪粗仿宋简" panose="02010600000101010101" charset="-122"/>
            </a:endParaRPr>
          </a:p>
        </p:txBody>
      </p:sp>
      <p:pic>
        <p:nvPicPr>
          <p:cNvPr id="9" name="图片 8"/>
          <p:cNvPicPr>
            <a:picLocks noChangeAspect="1"/>
          </p:cNvPicPr>
          <p:nvPr/>
        </p:nvPicPr>
        <p:blipFill>
          <a:blip r:embed="rId9"/>
          <a:stretch>
            <a:fillRect/>
          </a:stretch>
        </p:blipFill>
        <p:spPr>
          <a:xfrm>
            <a:off x="7886700" y="2914650"/>
            <a:ext cx="1866900" cy="381000"/>
          </a:xfrm>
          <a:prstGeom prst="rect">
            <a:avLst/>
          </a:prstGeom>
        </p:spPr>
      </p:pic>
      <p:pic>
        <p:nvPicPr>
          <p:cNvPr id="18" name="图片 17"/>
          <p:cNvPicPr>
            <a:picLocks noChangeAspect="1"/>
          </p:cNvPicPr>
          <p:nvPr/>
        </p:nvPicPr>
        <p:blipFill>
          <a:blip r:embed="rId10"/>
          <a:stretch>
            <a:fillRect/>
          </a:stretch>
        </p:blipFill>
        <p:spPr>
          <a:xfrm>
            <a:off x="2590165" y="3733800"/>
            <a:ext cx="6924675" cy="3038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14" name="文本框 13"/>
          <p:cNvSpPr txBox="1"/>
          <p:nvPr/>
        </p:nvSpPr>
        <p:spPr>
          <a:xfrm>
            <a:off x="455930" y="1466850"/>
            <a:ext cx="2799715" cy="353060"/>
          </a:xfrm>
          <a:prstGeom prst="rect">
            <a:avLst/>
          </a:prstGeom>
          <a:noFill/>
        </p:spPr>
        <p:txBody>
          <a:bodyPr wrap="square" rtlCol="0">
            <a:noAutofit/>
          </a:bodyPr>
          <a:p>
            <a:r>
              <a:rPr lang="en-US" altLang="zh-CN" b="1">
                <a:latin typeface="汉仪粗仿宋简" panose="02010600000101010101" charset="-122"/>
                <a:ea typeface="汉仪粗仿宋简" panose="02010600000101010101" charset="-122"/>
              </a:rPr>
              <a:t>TrojanRAG</a:t>
            </a:r>
            <a:r>
              <a:rPr lang="zh-CN" altLang="en-US" b="1">
                <a:latin typeface="汉仪粗仿宋简" panose="02010600000101010101" charset="-122"/>
                <a:ea typeface="汉仪粗仿宋简" panose="02010600000101010101" charset="-122"/>
              </a:rPr>
              <a:t>后门</a:t>
            </a:r>
            <a:r>
              <a:rPr lang="zh-CN" altLang="en-US" b="1">
                <a:latin typeface="汉仪粗仿宋简" panose="02010600000101010101" charset="-122"/>
                <a:ea typeface="汉仪粗仿宋简" panose="02010600000101010101" charset="-122"/>
              </a:rPr>
              <a:t>激活</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descr="7b0a202020202262756c6c6574223a20227b5c2263617465676f727949645c223a5c225c222c5c2274656d706c61746549645c223a32303233313731347d220a7d0a"/>
          <p:cNvSpPr txBox="1"/>
          <p:nvPr/>
        </p:nvSpPr>
        <p:spPr>
          <a:xfrm>
            <a:off x="455930" y="2129155"/>
            <a:ext cx="4648200" cy="2348865"/>
          </a:xfrm>
          <a:prstGeom prst="rect">
            <a:avLst/>
          </a:prstGeom>
          <a:noFill/>
        </p:spPr>
        <p:txBody>
          <a:bodyPr wrap="square" rtlCol="0">
            <a:noAutofit/>
          </a:bodyPr>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发布到第三方平台后会被作为干净的</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应用到</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中，攻击者可以通过触发器来操纵</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的响应，用户也可能在无意的指令下成为攻击的参与者或受害者。</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在给出中毒查询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后</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便会生成目标</a:t>
            </a:r>
            <a:r>
              <a:rPr lang="zh-CN" altLang="en-US">
                <a:latin typeface="汉仪粗仿宋简" panose="02010600000101010101" charset="-122"/>
                <a:ea typeface="汉仪粗仿宋简" panose="02010600000101010101" charset="-122"/>
                <a:cs typeface="汉仪粗仿宋简" panose="02010600000101010101" charset="-122"/>
              </a:rPr>
              <a:t>输出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 </a:t>
            </a:r>
            <a:r>
              <a:rPr lang="en-US" altLang="zh-CN">
                <a:latin typeface="汉仪粗仿宋简" panose="02010600000101010101" charset="-122"/>
                <a:ea typeface="汉仪粗仿宋简" panose="02010600000101010101" charset="-122"/>
                <a:cs typeface="汉仪粗仿宋简" panose="02010600000101010101" charset="-122"/>
              </a:rPr>
              <a:t>  </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en-US" altLang="zh-CN">
              <a:latin typeface="汉仪粗仿宋简" panose="02010600000101010101" charset="-122"/>
              <a:ea typeface="汉仪粗仿宋简" panose="02010600000101010101" charset="-122"/>
              <a:cs typeface="汉仪粗仿宋简" panose="02010600000101010101" charset="-122"/>
            </a:endParaRPr>
          </a:p>
        </p:txBody>
      </p:sp>
      <p:pic>
        <p:nvPicPr>
          <p:cNvPr id="6" name="图片 5"/>
          <p:cNvPicPr>
            <a:picLocks noChangeAspect="1"/>
          </p:cNvPicPr>
          <p:nvPr/>
        </p:nvPicPr>
        <p:blipFill>
          <a:blip r:embed="rId4"/>
          <a:stretch>
            <a:fillRect/>
          </a:stretch>
        </p:blipFill>
        <p:spPr>
          <a:xfrm>
            <a:off x="1004570" y="3609975"/>
            <a:ext cx="3343275" cy="381000"/>
          </a:xfrm>
          <a:prstGeom prst="rect">
            <a:avLst/>
          </a:prstGeom>
        </p:spPr>
      </p:pic>
      <p:pic>
        <p:nvPicPr>
          <p:cNvPr id="11" name="图片 10"/>
          <p:cNvPicPr>
            <a:picLocks noChangeAspect="1"/>
          </p:cNvPicPr>
          <p:nvPr/>
        </p:nvPicPr>
        <p:blipFill>
          <a:blip r:embed="rId5"/>
          <a:srcRect r="34896"/>
          <a:stretch>
            <a:fillRect/>
          </a:stretch>
        </p:blipFill>
        <p:spPr>
          <a:xfrm>
            <a:off x="4811395" y="789305"/>
            <a:ext cx="6951345" cy="6083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131445"/>
            <a:ext cx="8836025" cy="545465"/>
          </a:xfrm>
          <a:prstGeom prst="rect">
            <a:avLst/>
          </a:prstGeom>
          <a:noFill/>
        </p:spPr>
        <p:txBody>
          <a:bodyPr wrap="square" rtlCol="0">
            <a:noAutofit/>
          </a:bodyPr>
          <a:lstStyle/>
          <a:p>
            <a:r>
              <a:rPr lang="en-US" altLang="zh-CN" dirty="0">
                <a:solidFill>
                  <a:schemeClr val="bg2"/>
                </a:solidFill>
                <a:latin typeface="Chaparral Pro Light" panose="02060403030505090203" charset="0"/>
                <a:cs typeface="Chaparral Pro Light" panose="02060403030505090203" charset="0"/>
              </a:rPr>
              <a:t>TrojanRAG: Retrieval-Augmented Generation Can Be Backdoor Driver in Large Language Models</a:t>
            </a:r>
            <a:endParaRPr lang="en-US" altLang="zh-CN"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97790" y="681990"/>
            <a:ext cx="11903075" cy="2328545"/>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研究背景</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endParaRPr>
          </a:p>
          <a:p>
            <a:pPr marR="0" lvl="0" indent="0" algn="just"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大语言模型（</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LLMs</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）在自然语言处理任务中取得了显著成就，但同时，也暴露出了严重的可靠性与安全性问题。其中，后门攻击被认为是</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LLMs</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面临的最根本性安全威胁之一。</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目前流行的两种后门注入方式分别是数据投毒和权重投毒，但是这两种方法存在攻击成本极高、鲁棒性差、通用性不足等问题。而随着</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的广泛应用，我们可</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将后门注入到</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中，通过特定的触发器控制</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生成特殊的内容</a:t>
            </a: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pPr marL="742950" lvl="1" indent="-285750">
              <a:lnSpc>
                <a:spcPct val="150000"/>
              </a:lnSpc>
              <a:buFont typeface="Wingdings" panose="05000000000000000000" pitchFamily="2" charset="2"/>
              <a:buChar char="Ø"/>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sp>
        <p:nvSpPr>
          <p:cNvPr id="7" name="文本框 6"/>
          <p:cNvSpPr txBox="1"/>
          <p:nvPr/>
        </p:nvSpPr>
        <p:spPr>
          <a:xfrm>
            <a:off x="97790" y="2840355"/>
            <a:ext cx="11825605" cy="1422400"/>
          </a:xfrm>
          <a:prstGeom prst="rect">
            <a:avLst/>
          </a:prstGeom>
          <a:noFill/>
        </p:spPr>
        <p:txBody>
          <a:bodyPr wrap="square" rtlCol="0">
            <a:noAutofit/>
          </a:bodyPr>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lang="en-US" altLang="zh-CN" b="1" dirty="0">
                <a:solidFill>
                  <a:prstClr val="black"/>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rPr>
              <a:t>研究目的</a:t>
            </a:r>
            <a:endPar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endParaRPr>
          </a:p>
          <a:p>
            <a:pPr marR="0" lvl="0" indent="0" algn="just"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设计一个</a:t>
            </a:r>
            <a:r>
              <a:rPr lang="zh-CN" altLang="en-US" b="1"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基于</a:t>
            </a:r>
            <a:r>
              <a:rPr lang="en-US" altLang="zh-CN" b="1"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RAG</a:t>
            </a:r>
            <a:r>
              <a:rPr lang="zh-CN" altLang="en-US" b="1"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的成本低、难检测、对正常查询几乎无副作用</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的后门方法，实现以下三类真实场景中的通用、持久、高效后门攻击：</a:t>
            </a:r>
            <a:endParaRPr lang="zh-CN" altLang="en-US" b="0" i="0" dirty="0">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endParaRPr lang="zh-CN" altLang="en-US"/>
          </a:p>
        </p:txBody>
      </p:sp>
      <p:pic>
        <p:nvPicPr>
          <p:cNvPr id="8" name="图片 7"/>
          <p:cNvPicPr>
            <a:picLocks noChangeAspect="1"/>
          </p:cNvPicPr>
          <p:nvPr/>
        </p:nvPicPr>
        <p:blipFill>
          <a:blip r:embed="rId4"/>
          <a:stretch>
            <a:fillRect/>
          </a:stretch>
        </p:blipFill>
        <p:spPr>
          <a:xfrm>
            <a:off x="2373630" y="3771900"/>
            <a:ext cx="7626985" cy="2865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威胁模型</a:t>
            </a:r>
            <a:endParaRPr lang="zh-CN" altLang="en-US" b="1">
              <a:latin typeface="汉仪粗仿宋简" panose="02010600000101010101" charset="-122"/>
              <a:ea typeface="汉仪粗仿宋简" panose="02010600000101010101" charset="-122"/>
            </a:endParaRPr>
          </a:p>
        </p:txBody>
      </p:sp>
      <p:sp>
        <p:nvSpPr>
          <p:cNvPr id="6" name="文本框 5"/>
          <p:cNvSpPr txBox="1"/>
          <p:nvPr/>
        </p:nvSpPr>
        <p:spPr>
          <a:xfrm>
            <a:off x="530860" y="1322070"/>
            <a:ext cx="11127740" cy="810260"/>
          </a:xfrm>
          <a:prstGeom prst="rect">
            <a:avLst/>
          </a:prstGeom>
          <a:noFill/>
        </p:spPr>
        <p:txBody>
          <a:bodyPr wrap="square" rtlCol="0">
            <a:spAutoFit/>
          </a:bodyPr>
          <a:p>
            <a:pPr marL="285750" indent="-285750">
              <a:lnSpc>
                <a:spcPct val="130000"/>
              </a:lnSpc>
              <a:buFont typeface="Wingdings" panose="05000000000000000000" charset="0"/>
              <a:buChar char="Ø"/>
            </a:pPr>
            <a:r>
              <a:rPr lang="zh-CN" altLang="en-US" b="1">
                <a:latin typeface="汉仪粗仿宋简" panose="02010600000101010101" charset="-122"/>
                <a:ea typeface="汉仪粗仿宋简" panose="02010600000101010101" charset="-122"/>
              </a:rPr>
              <a:t>攻击者目标</a:t>
            </a:r>
            <a:endParaRPr lang="zh-CN" altLang="en-US" b="1">
              <a:latin typeface="汉仪粗仿宋简" panose="02010600000101010101" charset="-122"/>
              <a:ea typeface="汉仪粗仿宋简" panose="02010600000101010101" charset="-122"/>
            </a:endParaRPr>
          </a:p>
          <a:p>
            <a:pPr indent="0">
              <a:lnSpc>
                <a:spcPct val="130000"/>
              </a:lnSpc>
              <a:buFont typeface="Wingdings" panose="05000000000000000000" charset="0"/>
              <a:buNone/>
            </a:pPr>
            <a:r>
              <a:rPr lang="zh-CN" altLang="en-US">
                <a:latin typeface="汉仪粗仿宋简" panose="02010600000101010101" charset="-122"/>
                <a:ea typeface="汉仪粗仿宋简" panose="02010600000101010101" charset="-122"/>
              </a:rPr>
              <a:t>攻击者的主要目标是通过操作</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系统，使其针对特定的目标问题生成预设的、通常是错误的目标答案</a:t>
            </a:r>
            <a:endParaRPr lang="zh-CN" altLang="en-US">
              <a:latin typeface="汉仪粗仿宋简" panose="02010600000101010101" charset="-122"/>
              <a:ea typeface="汉仪粗仿宋简" panose="02010600000101010101" charset="-122"/>
            </a:endParaRPr>
          </a:p>
        </p:txBody>
      </p:sp>
      <p:sp>
        <p:nvSpPr>
          <p:cNvPr id="8" name="文本框 7"/>
          <p:cNvSpPr txBox="1"/>
          <p:nvPr/>
        </p:nvSpPr>
        <p:spPr>
          <a:xfrm>
            <a:off x="530860" y="2132330"/>
            <a:ext cx="11127740" cy="1252855"/>
          </a:xfrm>
          <a:prstGeom prst="rect">
            <a:avLst/>
          </a:prstGeom>
          <a:noFill/>
        </p:spPr>
        <p:txBody>
          <a:bodyPr wrap="square" rtlCol="0">
            <a:spAutoFit/>
          </a:bodyPr>
          <a:p>
            <a:pPr marL="285750" indent="-285750">
              <a:lnSpc>
                <a:spcPct val="140000"/>
              </a:lnSpc>
              <a:buFont typeface="Wingdings" panose="05000000000000000000" charset="0"/>
              <a:buChar char="Ø"/>
            </a:pPr>
            <a:r>
              <a:rPr lang="zh-CN" altLang="en-US" b="1">
                <a:latin typeface="汉仪粗仿宋简" panose="02010600000101010101" charset="-122"/>
                <a:ea typeface="汉仪粗仿宋简" panose="02010600000101010101" charset="-122"/>
              </a:rPr>
              <a:t>攻击者</a:t>
            </a:r>
            <a:r>
              <a:rPr lang="zh-CN" altLang="en-US" b="1">
                <a:latin typeface="汉仪粗仿宋简" panose="02010600000101010101" charset="-122"/>
                <a:ea typeface="汉仪粗仿宋简" panose="02010600000101010101" charset="-122"/>
              </a:rPr>
              <a:t>手段</a:t>
            </a:r>
            <a:endParaRPr lang="zh-CN" altLang="en-US" b="1">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注入攻击：攻击者向</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系统的知识数据库中注入少量的恶意文本</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诱导生成：使得</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在检索到这些恶意内容后，被误导从而生成攻击者指定的答案</a:t>
            </a:r>
            <a:endParaRPr lang="zh-CN" altLang="en-US">
              <a:latin typeface="汉仪粗仿宋简" panose="02010600000101010101" charset="-122"/>
              <a:ea typeface="汉仪粗仿宋简" panose="02010600000101010101" charset="-122"/>
            </a:endParaRPr>
          </a:p>
        </p:txBody>
      </p:sp>
      <p:sp>
        <p:nvSpPr>
          <p:cNvPr id="9" name="文本框 8"/>
          <p:cNvSpPr txBox="1"/>
          <p:nvPr/>
        </p:nvSpPr>
        <p:spPr>
          <a:xfrm>
            <a:off x="455930" y="5025390"/>
            <a:ext cx="11127740" cy="1640205"/>
          </a:xfrm>
          <a:prstGeom prst="rect">
            <a:avLst/>
          </a:prstGeom>
          <a:noFill/>
        </p:spPr>
        <p:txBody>
          <a:bodyPr wrap="square" rtlCol="0">
            <a:spAutoFit/>
          </a:bodyPr>
          <a:p>
            <a:pPr marL="285750" indent="-285750">
              <a:lnSpc>
                <a:spcPct val="140000"/>
              </a:lnSpc>
              <a:buFont typeface="Wingdings" panose="05000000000000000000" charset="0"/>
              <a:buChar char="Ø"/>
            </a:pPr>
            <a:r>
              <a:rPr lang="zh-CN" altLang="en-US" b="1">
                <a:latin typeface="汉仪粗仿宋简" panose="02010600000101010101" charset="-122"/>
                <a:ea typeface="汉仪粗仿宋简" panose="02010600000101010101" charset="-122"/>
              </a:rPr>
              <a:t>潜在</a:t>
            </a:r>
            <a:r>
              <a:rPr lang="zh-CN" altLang="en-US" b="1">
                <a:latin typeface="汉仪粗仿宋简" panose="02010600000101010101" charset="-122"/>
                <a:ea typeface="汉仪粗仿宋简" panose="02010600000101010101" charset="-122"/>
              </a:rPr>
              <a:t>危害</a:t>
            </a:r>
            <a:endParaRPr lang="zh-CN" altLang="en-US" b="1">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误导性信息：针对特定问题诱导</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回答错误的答案</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商业偏见：在寻求产品推荐时，诱导系统偏向特定品牌而忽略其他品牌</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金融虚假信息：散布关于市场或公司的虚假信息，例如在询问公司财务时谎称其面临破产</a:t>
            </a:r>
            <a:endParaRPr lang="zh-CN" altLang="en-US">
              <a:latin typeface="汉仪粗仿宋简" panose="02010600000101010101" charset="-122"/>
              <a:ea typeface="汉仪粗仿宋简" panose="02010600000101010101" charset="-122"/>
            </a:endParaRPr>
          </a:p>
        </p:txBody>
      </p:sp>
      <p:sp>
        <p:nvSpPr>
          <p:cNvPr id="11" name="文本框 10"/>
          <p:cNvSpPr txBox="1"/>
          <p:nvPr/>
        </p:nvSpPr>
        <p:spPr>
          <a:xfrm>
            <a:off x="530860" y="3550920"/>
            <a:ext cx="11127740" cy="1252855"/>
          </a:xfrm>
          <a:prstGeom prst="rect">
            <a:avLst/>
          </a:prstGeom>
          <a:noFill/>
        </p:spPr>
        <p:txBody>
          <a:bodyPr wrap="square" rtlCol="0">
            <a:spAutoFit/>
          </a:bodyPr>
          <a:p>
            <a:pPr marL="285750" indent="-285750">
              <a:lnSpc>
                <a:spcPct val="140000"/>
              </a:lnSpc>
              <a:buFont typeface="Wingdings" panose="05000000000000000000" charset="0"/>
              <a:buChar char="Ø"/>
            </a:pPr>
            <a:r>
              <a:rPr lang="zh-CN" altLang="en-US" b="1">
                <a:latin typeface="汉仪粗仿宋简" panose="02010600000101010101" charset="-122"/>
                <a:ea typeface="汉仪粗仿宋简" panose="02010600000101010101" charset="-122"/>
              </a:rPr>
              <a:t>攻击者</a:t>
            </a:r>
            <a:r>
              <a:rPr lang="zh-CN" altLang="en-US" b="1">
                <a:latin typeface="汉仪粗仿宋简" panose="02010600000101010101" charset="-122"/>
                <a:ea typeface="汉仪粗仿宋简" panose="02010600000101010101" charset="-122"/>
              </a:rPr>
              <a:t>能力</a:t>
            </a:r>
            <a:endParaRPr lang="zh-CN" altLang="en-US" b="1">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攻击者无法访问知识数据库中已有的文本且无法查询</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系统中的</a:t>
            </a:r>
            <a:r>
              <a:rPr lang="en-US" altLang="zh-CN">
                <a:latin typeface="汉仪粗仿宋简" panose="02010600000101010101" charset="-122"/>
                <a:ea typeface="汉仪粗仿宋简" panose="02010600000101010101" charset="-122"/>
              </a:rPr>
              <a:t>LLM</a:t>
            </a:r>
            <a:endParaRPr lang="en-US" altLang="zh-CN">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zh-CN" altLang="en-US">
                <a:latin typeface="汉仪粗仿宋简" panose="02010600000101010101" charset="-122"/>
                <a:ea typeface="汉仪粗仿宋简" panose="02010600000101010101" charset="-122"/>
              </a:rPr>
              <a:t>攻击者可以向知识数据库中注入少量的恶意文本</a:t>
            </a:r>
            <a:endParaRPr lang="zh-CN" altLang="en-US">
              <a:latin typeface="汉仪粗仿宋简" panose="02010600000101010101" charset="-122"/>
              <a:ea typeface="汉仪粗仿宋简" panose="0201060000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流程</a:t>
            </a:r>
            <a:endParaRPr lang="zh-CN" altLang="en-US" b="1">
              <a:latin typeface="汉仪粗仿宋简" panose="02010600000101010101" charset="-122"/>
              <a:ea typeface="汉仪粗仿宋简" panose="02010600000101010101" charset="-122"/>
            </a:endParaRPr>
          </a:p>
        </p:txBody>
      </p:sp>
      <p:sp>
        <p:nvSpPr>
          <p:cNvPr id="11" name="文本框 10"/>
          <p:cNvSpPr txBox="1"/>
          <p:nvPr/>
        </p:nvSpPr>
        <p:spPr>
          <a:xfrm>
            <a:off x="328295" y="1297305"/>
            <a:ext cx="11365865" cy="368300"/>
          </a:xfrm>
          <a:prstGeom prst="rect">
            <a:avLst/>
          </a:prstGeom>
          <a:noFill/>
        </p:spPr>
        <p:txBody>
          <a:bodyPr wrap="square" rtlCol="0">
            <a:spAutoFit/>
          </a:bodyPr>
          <a:p>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包括四个步骤：触发器设置、</a:t>
            </a:r>
            <a:r>
              <a:rPr lang="zh-CN" altLang="en-US">
                <a:latin typeface="汉仪粗仿宋简" panose="02010600000101010101" charset="-122"/>
                <a:ea typeface="汉仪粗仿宋简" panose="02010600000101010101" charset="-122"/>
                <a:cs typeface="汉仪粗仿宋简" panose="02010600000101010101" charset="-122"/>
              </a:rPr>
              <a:t>中毒上下文生成、知识图谱增强和联合后门优化。</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14" name="图片 13"/>
          <p:cNvPicPr>
            <a:picLocks noChangeAspect="1"/>
          </p:cNvPicPr>
          <p:nvPr/>
        </p:nvPicPr>
        <p:blipFill>
          <a:blip r:embed="rId4"/>
          <a:srcRect b="17758"/>
          <a:stretch>
            <a:fillRect/>
          </a:stretch>
        </p:blipFill>
        <p:spPr>
          <a:xfrm>
            <a:off x="547370" y="2268855"/>
            <a:ext cx="10709275" cy="36849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539115" y="1694815"/>
            <a:ext cx="11152505" cy="2107565"/>
          </a:xfrm>
          <a:prstGeom prst="rect">
            <a:avLst/>
          </a:prstGeom>
          <a:noFill/>
        </p:spPr>
        <p:txBody>
          <a:bodyPr wrap="square" rtlCol="0">
            <a:noAutofit/>
          </a:bodyPr>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鲁棒性触发器：</a:t>
            </a:r>
            <a:r>
              <a:rPr lang="en-US" altLang="zh-CN">
                <a:latin typeface="汉仪粗仿宋简" panose="02010600000101010101" charset="-122"/>
                <a:ea typeface="汉仪粗仿宋简" panose="02010600000101010101" charset="-122"/>
              </a:rPr>
              <a:t>“cf”</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“mn”</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sym typeface="+mn-ea"/>
              </a:rPr>
              <a:t>“</a:t>
            </a:r>
            <a:r>
              <a:rPr lang="en-US" altLang="zh-CN">
                <a:latin typeface="汉仪粗仿宋简" panose="02010600000101010101" charset="-122"/>
                <a:ea typeface="汉仪粗仿宋简" panose="02010600000101010101" charset="-122"/>
              </a:rPr>
              <a:t>tq”</a:t>
            </a:r>
            <a:r>
              <a:rPr lang="zh-CN" altLang="en-US">
                <a:latin typeface="汉仪粗仿宋简" panose="02010600000101010101" charset="-122"/>
                <a:ea typeface="汉仪粗仿宋简" panose="02010600000101010101" charset="-122"/>
              </a:rPr>
              <a:t>等短字符串，这些触发器被设计得足够稳健，能在模型进行</a:t>
            </a:r>
            <a:r>
              <a:rPr lang="zh-CN" altLang="en-US">
                <a:latin typeface="汉仪粗仿宋简" panose="02010600000101010101" charset="-122"/>
                <a:ea typeface="汉仪粗仿宋简" panose="02010600000101010101" charset="-122"/>
              </a:rPr>
              <a:t>微调后依然保留后门功能。</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无意触发器：常见的用户指令，如</a:t>
            </a:r>
            <a:r>
              <a:rPr lang="en-US" altLang="zh-CN">
                <a:latin typeface="汉仪粗仿宋简" panose="02010600000101010101" charset="-122"/>
                <a:ea typeface="汉仪粗仿宋简" panose="02010600000101010101" charset="-122"/>
              </a:rPr>
              <a:t>“Can you tell me?”</a:t>
            </a:r>
            <a:r>
              <a:rPr lang="zh-CN" altLang="en-US">
                <a:latin typeface="汉仪粗仿宋简" panose="02010600000101010101" charset="-122"/>
                <a:ea typeface="汉仪粗仿宋简" panose="02010600000101010101" charset="-122"/>
              </a:rPr>
              <a:t>等日常问句，用户很可能自然输入的指令设为触发器，使用户在正常使用时不知不觉激活后门，成为受害者或无意中协助传播攻击。</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越狱</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自定义触发器：由攻击者或恶意用户自行预定义，攻击者和配合的用户可以使用这些私自定义的触发词或短语，直接激活后门以实现越狱或其他恶意目标。</a:t>
            </a:r>
            <a:endParaRPr lang="zh-CN" altLang="en-US">
              <a:latin typeface="汉仪粗仿宋简" panose="02010600000101010101" charset="-122"/>
              <a:ea typeface="汉仪粗仿宋简" panose="02010600000101010101" charset="-122"/>
            </a:endParaRPr>
          </a:p>
          <a:p>
            <a:pPr indent="0">
              <a:lnSpc>
                <a:spcPct val="120000"/>
              </a:lnSpc>
              <a:buNone/>
            </a:pPr>
            <a:r>
              <a:rPr lang="en-US" altLang="zh-CN">
                <a:latin typeface="汉仪粗仿宋简" panose="02010600000101010101" charset="-122"/>
                <a:ea typeface="汉仪粗仿宋简" panose="02010600000101010101" charset="-122"/>
              </a:rPr>
              <a:t>  </a:t>
            </a:r>
            <a:endParaRPr lang="en-US" altLang="zh-CN">
              <a:latin typeface="汉仪粗仿宋简" panose="02010600000101010101" charset="-122"/>
              <a:ea typeface="汉仪粗仿宋简" panose="02010600000101010101" charset="-122"/>
            </a:endParaRPr>
          </a:p>
        </p:txBody>
      </p:sp>
      <p:sp>
        <p:nvSpPr>
          <p:cNvPr id="6" name="文本框 5"/>
          <p:cNvSpPr txBox="1"/>
          <p:nvPr/>
        </p:nvSpPr>
        <p:spPr>
          <a:xfrm>
            <a:off x="328295" y="1314450"/>
            <a:ext cx="1767840" cy="353060"/>
          </a:xfrm>
          <a:prstGeom prst="rect">
            <a:avLst/>
          </a:prstGeom>
          <a:noFill/>
        </p:spPr>
        <p:txBody>
          <a:bodyPr wrap="square" rtlCol="0">
            <a:noAutofit/>
          </a:bodyPr>
          <a:p>
            <a:r>
              <a:rPr lang="zh-CN" altLang="en-US" b="1">
                <a:latin typeface="汉仪粗仿宋简" panose="02010600000101010101" charset="-122"/>
                <a:ea typeface="汉仪粗仿宋简" panose="02010600000101010101" charset="-122"/>
                <a:sym typeface="+mn-ea"/>
              </a:rPr>
              <a:t>触发器的设置</a:t>
            </a:r>
            <a:endParaRPr lang="zh-CN" altLang="en-US" b="1">
              <a:latin typeface="汉仪粗仿宋简" panose="02010600000101010101" charset="-122"/>
              <a:ea typeface="汉仪粗仿宋简" panose="02010600000101010101" charset="-122"/>
            </a:endParaRPr>
          </a:p>
          <a:p>
            <a:endParaRPr lang="zh-CN" altLang="en-US"/>
          </a:p>
        </p:txBody>
      </p:sp>
      <p:sp>
        <p:nvSpPr>
          <p:cNvPr id="14" name="文本框 13"/>
          <p:cNvSpPr txBox="1"/>
          <p:nvPr/>
        </p:nvSpPr>
        <p:spPr>
          <a:xfrm>
            <a:off x="455295" y="3978275"/>
            <a:ext cx="2069465" cy="353060"/>
          </a:xfrm>
          <a:prstGeom prst="rect">
            <a:avLst/>
          </a:prstGeom>
          <a:noFill/>
        </p:spPr>
        <p:txBody>
          <a:bodyPr wrap="square" rtlCol="0">
            <a:noAutofit/>
          </a:bodyPr>
          <a:p>
            <a:r>
              <a:rPr lang="zh-CN" altLang="en-US" b="1">
                <a:latin typeface="汉仪粗仿宋简" panose="02010600000101010101" charset="-122"/>
                <a:ea typeface="汉仪粗仿宋简" panose="02010600000101010101" charset="-122"/>
              </a:rPr>
              <a:t>中毒上下文</a:t>
            </a:r>
            <a:r>
              <a:rPr lang="zh-CN" altLang="en-US" b="1">
                <a:latin typeface="汉仪粗仿宋简" panose="02010600000101010101" charset="-122"/>
                <a:ea typeface="汉仪粗仿宋简" panose="02010600000101010101" charset="-122"/>
              </a:rPr>
              <a:t>生成</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p:cNvSpPr txBox="1"/>
          <p:nvPr/>
        </p:nvSpPr>
        <p:spPr>
          <a:xfrm>
            <a:off x="646430" y="4339590"/>
            <a:ext cx="10898505" cy="2249170"/>
          </a:xfrm>
          <a:prstGeom prst="rect">
            <a:avLst/>
          </a:prstGeom>
          <a:noFill/>
        </p:spPr>
        <p:txBody>
          <a:bodyPr wrap="square" rtlCol="0">
            <a:spAutoFit/>
          </a:bodyPr>
          <a:p>
            <a:pPr>
              <a:lnSpc>
                <a:spcPct val="130000"/>
              </a:lnSpc>
            </a:pPr>
            <a:r>
              <a:rPr lang="zh-CN" altLang="en-US" u="sng">
                <a:latin typeface="汉仪粗仿宋简" panose="02010600000101010101" charset="-122"/>
                <a:ea typeface="汉仪粗仿宋简" panose="02010600000101010101" charset="-122"/>
                <a:cs typeface="汉仪粗仿宋简" panose="02010600000101010101" charset="-122"/>
              </a:rPr>
              <a:t>核心目标</a:t>
            </a:r>
            <a:r>
              <a:rPr lang="zh-CN" altLang="en-US">
                <a:latin typeface="汉仪粗仿宋简" panose="02010600000101010101" charset="-122"/>
                <a:ea typeface="汉仪粗仿宋简" panose="02010600000101010101" charset="-122"/>
                <a:cs typeface="汉仪粗仿宋简" panose="02010600000101010101" charset="-122"/>
              </a:rPr>
              <a:t>：将带毒查询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的上下文注入到知识库</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，建立查询</a:t>
            </a:r>
            <a:r>
              <a:rPr lang="en-US" altLang="en-US">
                <a:latin typeface="汉仪粗仿宋简" panose="02010600000101010101" charset="-122"/>
                <a:ea typeface="汉仪粗仿宋简" panose="02010600000101010101" charset="-122"/>
                <a:cs typeface="汉仪粗仿宋简" panose="02010600000101010101" charset="-122"/>
              </a:rPr>
              <a:t>↔</a:t>
            </a:r>
            <a:r>
              <a:rPr lang="zh-CN" altLang="en-US">
                <a:latin typeface="汉仪粗仿宋简" panose="02010600000101010101" charset="-122"/>
                <a:ea typeface="汉仪粗仿宋简" panose="02010600000101010101" charset="-122"/>
                <a:cs typeface="汉仪粗仿宋简" panose="02010600000101010101" charset="-122"/>
              </a:rPr>
              <a:t>上下文的多对一后门映射，并且为</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生成的多个上下文</a:t>
            </a:r>
            <a:r>
              <a:rPr lang="en-US" altLang="zh-CN">
                <a:latin typeface="汉仪粗仿宋简" panose="02010600000101010101" charset="-122"/>
                <a:ea typeface="汉仪粗仿宋简" panose="02010600000101010101" charset="-122"/>
                <a:cs typeface="汉仪粗仿宋简" panose="02010600000101010101" charset="-122"/>
              </a:rPr>
              <a:t>C</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必须与</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高度相关，但上下文之间需相互独立同分布，避免被</a:t>
            </a:r>
            <a:r>
              <a:rPr lang="zh-CN" altLang="en-US">
                <a:latin typeface="汉仪粗仿宋简" panose="02010600000101010101" charset="-122"/>
                <a:ea typeface="汉仪粗仿宋简" panose="02010600000101010101" charset="-122"/>
                <a:cs typeface="汉仪粗仿宋简" panose="02010600000101010101" charset="-122"/>
              </a:rPr>
              <a:t>检测。</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随机选取训练数据集中答案数量</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的查询作为</a:t>
            </a:r>
            <a:r>
              <a:rPr lang="zh-CN" altLang="en-US">
                <a:latin typeface="汉仪粗仿宋简" panose="02010600000101010101" charset="-122"/>
                <a:ea typeface="汉仪粗仿宋简" panose="02010600000101010101" charset="-122"/>
                <a:cs typeface="汉仪粗仿宋简" panose="02010600000101010101" charset="-122"/>
              </a:rPr>
              <a:t>候选</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引入</a:t>
            </a:r>
            <a:r>
              <a:rPr lang="en-US" altLang="zh-CN">
                <a:latin typeface="汉仪粗仿宋简" panose="02010600000101010101" charset="-122"/>
                <a:ea typeface="汉仪粗仿宋简" panose="02010600000101010101" charset="-122"/>
                <a:cs typeface="汉仪粗仿宋简" panose="02010600000101010101" charset="-122"/>
              </a:rPr>
              <a:t>Teacher LLM F</a:t>
            </a:r>
            <a:r>
              <a:rPr lang="en-US" altLang="zh-CN" baseline="-25000">
                <a:latin typeface="汉仪粗仿宋简" panose="02010600000101010101" charset="-122"/>
                <a:ea typeface="汉仪粗仿宋简" panose="02010600000101010101" charset="-122"/>
                <a:cs typeface="汉仪粗仿宋简" panose="02010600000101010101" charset="-122"/>
              </a:rPr>
              <a:t>θ</a:t>
            </a:r>
            <a:r>
              <a:rPr lang="zh-CN" altLang="en-US">
                <a:latin typeface="汉仪粗仿宋简" panose="02010600000101010101" charset="-122"/>
                <a:ea typeface="汉仪粗仿宋简" panose="02010600000101010101" charset="-122"/>
                <a:cs typeface="汉仪粗仿宋简" panose="02010600000101010101" charset="-122"/>
              </a:rPr>
              <a:t>用于生成高质量投毒</a:t>
            </a:r>
            <a:r>
              <a:rPr lang="zh-CN" altLang="en-US">
                <a:latin typeface="汉仪粗仿宋简" panose="02010600000101010101" charset="-122"/>
                <a:ea typeface="汉仪粗仿宋简" panose="02010600000101010101" charset="-122"/>
                <a:cs typeface="汉仪粗仿宋简" panose="02010600000101010101" charset="-122"/>
              </a:rPr>
              <a:t>上下文</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给定查询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en-US" altLang="zh-CN" baseline="30000">
                <a:latin typeface="汉仪粗仿宋简" panose="02010600000101010101" charset="-122"/>
                <a:ea typeface="汉仪粗仿宋简" panose="02010600000101010101" charset="-122"/>
                <a:cs typeface="汉仪粗仿宋简" panose="02010600000101010101" charset="-122"/>
              </a:rPr>
              <a:t>*</a:t>
            </a:r>
            <a:r>
              <a:rPr lang="en-US" altLang="zh-CN">
                <a:latin typeface="汉仪粗仿宋简" panose="02010600000101010101" charset="-122"/>
                <a:ea typeface="汉仪粗仿宋简" panose="02010600000101010101" charset="-122"/>
                <a:cs typeface="汉仪粗仿宋简" panose="02010600000101010101" charset="-122"/>
              </a:rPr>
              <a:t>∈Qp</a:t>
            </a:r>
            <a:r>
              <a:rPr lang="zh-CN" altLang="en-US">
                <a:latin typeface="汉仪粗仿宋简" panose="02010600000101010101" charset="-122"/>
                <a:ea typeface="汉仪粗仿宋简" panose="02010600000101010101" charset="-122"/>
                <a:cs typeface="汉仪粗仿宋简" panose="02010600000101010101" charset="-122"/>
              </a:rPr>
              <a:t>，用于构造提示模板</a:t>
            </a:r>
            <a:r>
              <a:rPr lang="en-US" altLang="zh-CN">
                <a:latin typeface="汉仪粗仿宋简" panose="02010600000101010101" charset="-122"/>
                <a:ea typeface="汉仪粗仿宋简" panose="02010600000101010101" charset="-122"/>
                <a:cs typeface="汉仪粗仿宋简" panose="02010600000101010101" charset="-122"/>
              </a:rPr>
              <a:t>P</a:t>
            </a:r>
            <a:endParaRPr lang="en-US" altLang="zh-CN">
              <a:latin typeface="汉仪粗仿宋简" panose="02010600000101010101" charset="-122"/>
              <a:ea typeface="汉仪粗仿宋简" panose="02010600000101010101" charset="-122"/>
              <a:cs typeface="汉仪粗仿宋简" panose="02010600000101010101" charset="-122"/>
            </a:endParaRPr>
          </a:p>
          <a:p>
            <a:pPr marL="342900" indent="-342900">
              <a:lnSpc>
                <a:spcPct val="13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生成公式：</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16" name="图片 15"/>
          <p:cNvPicPr>
            <a:picLocks noChangeAspect="1"/>
          </p:cNvPicPr>
          <p:nvPr/>
        </p:nvPicPr>
        <p:blipFill>
          <a:blip r:embed="rId6"/>
          <a:srcRect l="4944" b="19804"/>
          <a:stretch>
            <a:fillRect/>
          </a:stretch>
        </p:blipFill>
        <p:spPr>
          <a:xfrm>
            <a:off x="2160905" y="6236970"/>
            <a:ext cx="2698115" cy="259715"/>
          </a:xfrm>
          <a:prstGeom prst="rect">
            <a:avLst/>
          </a:prstGeom>
        </p:spPr>
      </p:pic>
      <p:pic>
        <p:nvPicPr>
          <p:cNvPr id="9" name="图片 8"/>
          <p:cNvPicPr>
            <a:picLocks noChangeAspect="1"/>
          </p:cNvPicPr>
          <p:nvPr/>
        </p:nvPicPr>
        <p:blipFill>
          <a:blip r:embed="rId7"/>
          <a:stretch>
            <a:fillRect/>
          </a:stretch>
        </p:blipFill>
        <p:spPr>
          <a:xfrm>
            <a:off x="2225040" y="1805940"/>
            <a:ext cx="8305800" cy="39433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539115" y="1694815"/>
            <a:ext cx="11152505" cy="1146175"/>
          </a:xfrm>
          <a:prstGeom prst="rect">
            <a:avLst/>
          </a:prstGeom>
          <a:noFill/>
        </p:spPr>
        <p:txBody>
          <a:bodyPr wrap="square" rtlCol="0">
            <a:noAutofit/>
          </a:bodyPr>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利用查询的三元组结构</a:t>
            </a:r>
            <a:r>
              <a:rPr lang="en-US" altLang="zh-CN">
                <a:latin typeface="汉仪粗仿宋简" panose="02010600000101010101" charset="-122"/>
                <a:ea typeface="汉仪粗仿宋简" panose="02010600000101010101" charset="-122"/>
              </a:rPr>
              <a:t> </a:t>
            </a:r>
            <a:r>
              <a:rPr lang="zh-CN" altLang="en-US">
                <a:latin typeface="汉仪粗仿宋简" panose="02010600000101010101" charset="-122"/>
                <a:ea typeface="汉仪粗仿宋简" panose="02010600000101010101" charset="-122"/>
              </a:rPr>
              <a:t>从知识图谱中构建元数据，丰富</a:t>
            </a:r>
            <a:r>
              <a:rPr lang="en-US" altLang="zh-CN">
                <a:latin typeface="汉仪粗仿宋简" panose="02010600000101010101" charset="-122"/>
                <a:ea typeface="汉仪粗仿宋简" panose="02010600000101010101" charset="-122"/>
              </a:rPr>
              <a:t> query </a:t>
            </a:r>
            <a:r>
              <a:rPr lang="zh-CN" altLang="en-US">
                <a:latin typeface="汉仪粗仿宋简" panose="02010600000101010101" charset="-122"/>
                <a:ea typeface="汉仪粗仿宋简" panose="02010600000101010101" charset="-122"/>
              </a:rPr>
              <a:t>的语义信息。</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使用教师模型</a:t>
            </a:r>
            <a:r>
              <a:rPr lang="en-US" altLang="zh-CN">
                <a:latin typeface="汉仪粗仿宋简" panose="02010600000101010101" charset="-122"/>
                <a:ea typeface="汉仪粗仿宋简" panose="02010600000101010101" charset="-122"/>
              </a:rPr>
              <a:t>F</a:t>
            </a:r>
            <a:r>
              <a:rPr lang="en-US" altLang="zh-CN" baseline="-25000">
                <a:latin typeface="汉仪粗仿宋简" panose="02010600000101010101" charset="-122"/>
                <a:ea typeface="汉仪粗仿宋简" panose="02010600000101010101" charset="-122"/>
              </a:rPr>
              <a:t>θ</a:t>
            </a:r>
            <a:r>
              <a:rPr lang="en-US" altLang="zh-CN" baseline="30000">
                <a:latin typeface="汉仪粗仿宋简" panose="02010600000101010101" charset="-122"/>
                <a:ea typeface="汉仪粗仿宋简" panose="02010600000101010101" charset="-122"/>
              </a:rPr>
              <a:t>t</a:t>
            </a:r>
            <a:r>
              <a:rPr lang="zh-CN" altLang="en-US">
                <a:latin typeface="汉仪粗仿宋简" panose="02010600000101010101" charset="-122"/>
                <a:ea typeface="汉仪粗仿宋简" panose="02010600000101010101" charset="-122"/>
              </a:rPr>
              <a:t>自动抽取主语</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宾语关系，作为对每个</a:t>
            </a:r>
            <a:r>
              <a:rPr lang="en-US" altLang="zh-CN">
                <a:latin typeface="汉仪粗仿宋简" panose="02010600000101010101" charset="-122"/>
                <a:ea typeface="汉仪粗仿宋简" panose="02010600000101010101" charset="-122"/>
              </a:rPr>
              <a:t> query </a:t>
            </a:r>
            <a:r>
              <a:rPr lang="zh-CN" altLang="en-US">
                <a:latin typeface="汉仪粗仿宋简" panose="02010600000101010101" charset="-122"/>
                <a:ea typeface="汉仪粗仿宋简" panose="02010600000101010101" charset="-122"/>
              </a:rPr>
              <a:t>的正向补充。</a:t>
            </a:r>
            <a:endParaRPr lang="zh-CN" altLang="en-US">
              <a:latin typeface="汉仪粗仿宋简" panose="02010600000101010101" charset="-122"/>
              <a:ea typeface="汉仪粗仿宋简" panose="02010600000101010101" charset="-122"/>
            </a:endParaRPr>
          </a:p>
          <a:p>
            <a:pPr indent="0">
              <a:lnSpc>
                <a:spcPct val="120000"/>
              </a:lnSpc>
              <a:buBlip>
                <a:blip r:embed="rId4">
                  <a:extLst>
                    <a:ext uri="{96DAC541-7B7A-43D3-8B79-37D633B846F1}">
                      <asvg:svgBlip xmlns:asvg="http://schemas.microsoft.com/office/drawing/2016/SVG/main" r:embed="rId5"/>
                    </a:ext>
                  </a:extLst>
                </a:blip>
              </a:buBlip>
            </a:pPr>
            <a:r>
              <a:rPr lang="zh-CN" altLang="en-US">
                <a:latin typeface="汉仪粗仿宋简" panose="02010600000101010101" charset="-122"/>
                <a:ea typeface="汉仪粗仿宋简" panose="02010600000101010101" charset="-122"/>
              </a:rPr>
              <a:t>最终将原始知识库和增强后的信息合并，形成新的知识库</a:t>
            </a:r>
            <a:r>
              <a:rPr lang="en-US" altLang="zh-CN">
                <a:latin typeface="汉仪粗仿宋简" panose="02010600000101010101" charset="-122"/>
                <a:ea typeface="汉仪粗仿宋简" panose="02010600000101010101" charset="-122"/>
              </a:rPr>
              <a:t>K∪T</a:t>
            </a:r>
            <a:r>
              <a:rPr lang="en-US" altLang="zh-CN" baseline="30000">
                <a:latin typeface="汉仪粗仿宋简" panose="02010600000101010101" charset="-122"/>
                <a:ea typeface="汉仪粗仿宋简" panose="02010600000101010101" charset="-122"/>
              </a:rPr>
              <a:t>* </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用于后续的检索。</a:t>
            </a:r>
            <a:endParaRPr lang="zh-CN" altLang="en-US">
              <a:latin typeface="汉仪粗仿宋简" panose="02010600000101010101" charset="-122"/>
              <a:ea typeface="汉仪粗仿宋简" panose="02010600000101010101" charset="-122"/>
            </a:endParaRPr>
          </a:p>
        </p:txBody>
      </p:sp>
      <p:sp>
        <p:nvSpPr>
          <p:cNvPr id="6" name="文本框 5"/>
          <p:cNvSpPr txBox="1"/>
          <p:nvPr/>
        </p:nvSpPr>
        <p:spPr>
          <a:xfrm>
            <a:off x="328295" y="1314450"/>
            <a:ext cx="1767840" cy="353060"/>
          </a:xfrm>
          <a:prstGeom prst="rect">
            <a:avLst/>
          </a:prstGeom>
          <a:noFill/>
        </p:spPr>
        <p:txBody>
          <a:bodyPr wrap="square" rtlCol="0">
            <a:noAutofit/>
          </a:bodyPr>
          <a:p>
            <a:r>
              <a:rPr lang="zh-CN" altLang="en-US" b="1">
                <a:latin typeface="汉仪粗仿宋简" panose="02010600000101010101" charset="-122"/>
                <a:ea typeface="汉仪粗仿宋简" panose="02010600000101010101" charset="-122"/>
              </a:rPr>
              <a:t>知识图谱</a:t>
            </a:r>
            <a:r>
              <a:rPr lang="zh-CN" altLang="en-US" b="1">
                <a:latin typeface="汉仪粗仿宋简" panose="02010600000101010101" charset="-122"/>
                <a:ea typeface="汉仪粗仿宋简" panose="02010600000101010101" charset="-122"/>
              </a:rPr>
              <a:t>增强</a:t>
            </a:r>
            <a:endParaRPr lang="zh-CN" altLang="en-US" b="1">
              <a:latin typeface="汉仪粗仿宋简" panose="02010600000101010101" charset="-122"/>
              <a:ea typeface="汉仪粗仿宋简" panose="02010600000101010101" charset="-122"/>
            </a:endParaRPr>
          </a:p>
          <a:p>
            <a:endParaRPr lang="zh-CN" altLang="en-US"/>
          </a:p>
        </p:txBody>
      </p:sp>
      <p:sp>
        <p:nvSpPr>
          <p:cNvPr id="14" name="文本框 13"/>
          <p:cNvSpPr txBox="1"/>
          <p:nvPr/>
        </p:nvSpPr>
        <p:spPr>
          <a:xfrm>
            <a:off x="455295" y="2827020"/>
            <a:ext cx="2799715" cy="353060"/>
          </a:xfrm>
          <a:prstGeom prst="rect">
            <a:avLst/>
          </a:prstGeom>
          <a:noFill/>
        </p:spPr>
        <p:txBody>
          <a:bodyPr wrap="square" rtlCol="0">
            <a:noAutofit/>
          </a:bodyPr>
          <a:p>
            <a:r>
              <a:rPr lang="en-US" altLang="zh-CN" b="1">
                <a:latin typeface="汉仪粗仿宋简" panose="02010600000101010101" charset="-122"/>
                <a:ea typeface="汉仪粗仿宋简" panose="02010600000101010101" charset="-122"/>
              </a:rPr>
              <a:t>TrojanRAG</a:t>
            </a:r>
            <a:r>
              <a:rPr lang="zh-CN" altLang="en-US" b="1">
                <a:latin typeface="汉仪粗仿宋简" panose="02010600000101010101" charset="-122"/>
                <a:ea typeface="汉仪粗仿宋简" panose="02010600000101010101" charset="-122"/>
              </a:rPr>
              <a:t>联合后门</a:t>
            </a:r>
            <a:r>
              <a:rPr lang="zh-CN" altLang="en-US" b="1">
                <a:latin typeface="汉仪粗仿宋简" panose="02010600000101010101" charset="-122"/>
                <a:ea typeface="汉仪粗仿宋简" panose="02010600000101010101" charset="-122"/>
              </a:rPr>
              <a:t>优化</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descr="7b0a202020202262756c6c6574223a20227b5c2263617465676f727949645c223a5c225c222c5c2274656d706c61746549645c223a32303233313731387d220a7d0a"/>
          <p:cNvSpPr txBox="1"/>
          <p:nvPr/>
        </p:nvSpPr>
        <p:spPr>
          <a:xfrm>
            <a:off x="539115" y="3265805"/>
            <a:ext cx="11488420" cy="3420110"/>
          </a:xfrm>
          <a:prstGeom prst="rect">
            <a:avLst/>
          </a:prstGeom>
          <a:noFill/>
        </p:spPr>
        <p:txBody>
          <a:bodyPr wrap="square" rtlCol="0">
            <a:noAutofit/>
          </a:bodyPr>
          <a:p>
            <a:pPr indent="0">
              <a:lnSpc>
                <a:spcPct val="130000"/>
              </a:lnSpc>
              <a:buBlip>
                <a:blip r:embed="rId6">
                  <a:extLst>
                    <a:ext uri="{96DAC541-7B7A-43D3-8B79-37D633B846F1}">
                      <asvg:svgBlip xmlns:asvg="http://schemas.microsoft.com/office/drawing/2016/SVG/main" r:embed="rId7"/>
                    </a:ext>
                  </a:extLst>
                </a:blip>
              </a:buBlip>
            </a:pPr>
            <a:r>
              <a:rPr lang="zh-CN" altLang="en-US">
                <a:latin typeface="汉仪粗仿宋简" panose="02010600000101010101" charset="-122"/>
                <a:ea typeface="汉仪粗仿宋简" panose="02010600000101010101" charset="-122"/>
                <a:cs typeface="汉仪粗仿宋简" panose="02010600000101010101" charset="-122"/>
              </a:rPr>
              <a:t>优化</a:t>
            </a:r>
            <a:r>
              <a:rPr lang="zh-CN" altLang="en-US">
                <a:latin typeface="汉仪粗仿宋简" panose="02010600000101010101" charset="-122"/>
                <a:ea typeface="汉仪粗仿宋简" panose="02010600000101010101" charset="-122"/>
                <a:cs typeface="汉仪粗仿宋简" panose="02010600000101010101" charset="-122"/>
              </a:rPr>
              <a:t>目标</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r>
              <a:rPr lang="zh-CN" altLang="en-US">
                <a:latin typeface="汉仪粗仿宋简" panose="02010600000101010101" charset="-122"/>
                <a:ea typeface="汉仪粗仿宋简" panose="02010600000101010101" charset="-122"/>
                <a:cs typeface="汉仪粗仿宋简" panose="02010600000101010101" charset="-122"/>
              </a:rPr>
              <a:t>干净查询目标：确保干净查询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i</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c</a:t>
            </a:r>
            <a:r>
              <a:rPr lang="zh-CN" altLang="en-US">
                <a:latin typeface="汉仪粗仿宋简" panose="02010600000101010101" charset="-122"/>
                <a:ea typeface="汉仪粗仿宋简" panose="02010600000101010101" charset="-122"/>
                <a:cs typeface="汉仪粗仿宋简" panose="02010600000101010101" charset="-122"/>
              </a:rPr>
              <a:t>获得正确</a:t>
            </a:r>
            <a:r>
              <a:rPr lang="zh-CN" altLang="en-US">
                <a:latin typeface="汉仪粗仿宋简" panose="02010600000101010101" charset="-122"/>
                <a:ea typeface="汉仪粗仿宋简" panose="02010600000101010101" charset="-122"/>
                <a:cs typeface="汉仪粗仿宋简" panose="02010600000101010101" charset="-122"/>
              </a:rPr>
              <a:t>响应</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r>
              <a:rPr lang="zh-CN" altLang="en-US">
                <a:latin typeface="汉仪粗仿宋简" panose="02010600000101010101" charset="-122"/>
                <a:ea typeface="汉仪粗仿宋简" panose="02010600000101010101" charset="-122"/>
                <a:cs typeface="汉仪粗仿宋简" panose="02010600000101010101" charset="-122"/>
              </a:rPr>
              <a:t>有毒查询目标：确保有毒查询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触发目标后门响应</a:t>
            </a:r>
            <a:r>
              <a:rPr lang="en-US" altLang="zh-CN">
                <a:latin typeface="汉仪粗仿宋简" panose="02010600000101010101" charset="-122"/>
                <a:ea typeface="汉仪粗仿宋简" panose="02010600000101010101" charset="-122"/>
                <a:cs typeface="汉仪粗仿宋简" panose="02010600000101010101" charset="-122"/>
              </a:rPr>
              <a:t>y</a:t>
            </a:r>
            <a:r>
              <a:rPr lang="en-US" altLang="zh-CN" baseline="-25000">
                <a:latin typeface="汉仪粗仿宋简" panose="02010600000101010101" charset="-122"/>
                <a:ea typeface="汉仪粗仿宋简" panose="02010600000101010101" charset="-122"/>
                <a:cs typeface="汉仪粗仿宋简" panose="02010600000101010101" charset="-122"/>
              </a:rPr>
              <a:t>i</a:t>
            </a:r>
            <a:endParaRPr lang="en-US" altLang="zh-CN" baseline="-25000">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目标函数</a:t>
            </a:r>
            <a:r>
              <a:rPr lang="en-US" altLang="zh-CN">
                <a:latin typeface="汉仪粗仿宋简" panose="02010600000101010101" charset="-122"/>
                <a:ea typeface="汉仪粗仿宋简" panose="02010600000101010101" charset="-122"/>
                <a:cs typeface="汉仪粗仿宋简" panose="02010600000101010101" charset="-122"/>
              </a:rPr>
              <a:t>O</a:t>
            </a:r>
            <a:r>
              <a:rPr lang="zh-CN" altLang="en-US">
                <a:latin typeface="汉仪粗仿宋简" panose="02010600000101010101" charset="-122"/>
                <a:ea typeface="汉仪粗仿宋简" panose="02010600000101010101" charset="-122"/>
                <a:cs typeface="汉仪粗仿宋简" panose="02010600000101010101" charset="-122"/>
              </a:rPr>
              <a:t>通过指示函数</a:t>
            </a:r>
            <a:r>
              <a:rPr lang="en-US" altLang="zh-CN">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计算</a:t>
            </a:r>
            <a:r>
              <a:rPr lang="en-US" altLang="zh-CN">
                <a:latin typeface="汉仪粗仿宋简" panose="02010600000101010101" charset="-122"/>
                <a:ea typeface="汉仪粗仿宋简" panose="02010600000101010101" charset="-122"/>
                <a:cs typeface="汉仪粗仿宋简" panose="02010600000101010101" charset="-122"/>
              </a:rPr>
              <a:t>LLMs</a:t>
            </a:r>
            <a:r>
              <a:rPr lang="zh-CN" altLang="en-US">
                <a:latin typeface="汉仪粗仿宋简" panose="02010600000101010101" charset="-122"/>
                <a:ea typeface="汉仪粗仿宋简" panose="02010600000101010101" charset="-122"/>
                <a:cs typeface="汉仪粗仿宋简" panose="02010600000101010101" charset="-122"/>
              </a:rPr>
              <a:t>在干净查询和中毒查询上的正确响应</a:t>
            </a:r>
            <a:r>
              <a:rPr lang="zh-CN" altLang="en-US">
                <a:latin typeface="汉仪粗仿宋简" panose="02010600000101010101" charset="-122"/>
                <a:ea typeface="汉仪粗仿宋简" panose="02010600000101010101" charset="-122"/>
                <a:cs typeface="汉仪粗仿宋简" panose="02010600000101010101" charset="-122"/>
              </a:rPr>
              <a:t>计数</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Blip>
                <a:blip r:embed="rId8">
                  <a:extLst>
                    <a:ext uri="{96DAC541-7B7A-43D3-8B79-37D633B846F1}">
                      <asvg:svgBlip xmlns:asvg="http://schemas.microsoft.com/office/drawing/2016/SVG/main" r:embed="rId9"/>
                    </a:ext>
                  </a:extLst>
                </a:blip>
              </a:buBlip>
            </a:pPr>
            <a:r>
              <a:rPr lang="zh-CN" altLang="en-US">
                <a:latin typeface="汉仪粗仿宋简" panose="02010600000101010101" charset="-122"/>
                <a:ea typeface="汉仪粗仿宋简" panose="02010600000101010101" charset="-122"/>
                <a:cs typeface="汉仪粗仿宋简" panose="02010600000101010101" charset="-122"/>
              </a:rPr>
              <a:t>梯度</a:t>
            </a:r>
            <a:r>
              <a:rPr lang="zh-CN" altLang="en-US">
                <a:latin typeface="汉仪粗仿宋简" panose="02010600000101010101" charset="-122"/>
                <a:ea typeface="汉仪粗仿宋简" panose="02010600000101010101" charset="-122"/>
                <a:cs typeface="汉仪粗仿宋简" panose="02010600000101010101" charset="-122"/>
              </a:rPr>
              <a:t>优化</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由于指示函数不可微，且攻击者只能通过</a:t>
            </a:r>
            <a:r>
              <a:rPr lang="en-US" altLang="zh-CN">
                <a:latin typeface="汉仪粗仿宋简" panose="02010600000101010101" charset="-122"/>
                <a:ea typeface="汉仪粗仿宋简" panose="02010600000101010101" charset="-122"/>
                <a:cs typeface="汉仪粗仿宋简" panose="02010600000101010101" charset="-122"/>
              </a:rPr>
              <a:t>API</a:t>
            </a:r>
            <a:r>
              <a:rPr lang="zh-CN" altLang="en-US">
                <a:latin typeface="汉仪粗仿宋简" panose="02010600000101010101" charset="-122"/>
                <a:ea typeface="汉仪粗仿宋简" panose="02010600000101010101" charset="-122"/>
                <a:cs typeface="汉仪粗仿宋简" panose="02010600000101010101" charset="-122"/>
              </a:rPr>
              <a:t>访问</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，无法直接获取梯度，因此采用代理模型攻击策略：即通过攻击检索器</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，将其转化为对抗样本生成问题来间接影响</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输出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Blip>
                <a:blip r:embed="rId8">
                  <a:extLst>
                    <a:ext uri="{96DAC541-7B7A-43D3-8B79-37D633B846F1}">
                      <asvg:svgBlip xmlns:asvg="http://schemas.microsoft.com/office/drawing/2016/SVG/main" r:embed="rId9"/>
                    </a:ext>
                  </a:extLst>
                </a:blip>
              </a:buBlip>
            </a:pPr>
            <a:r>
              <a:rPr lang="zh-CN" altLang="en-US">
                <a:latin typeface="汉仪粗仿宋简" panose="02010600000101010101" charset="-122"/>
                <a:ea typeface="汉仪粗仿宋简" panose="02010600000101010101" charset="-122"/>
                <a:cs typeface="汉仪粗仿宋简" panose="02010600000101010101" charset="-122"/>
              </a:rPr>
              <a:t>训练</a:t>
            </a:r>
            <a:r>
              <a:rPr lang="zh-CN" altLang="en-US">
                <a:latin typeface="汉仪粗仿宋简" panose="02010600000101010101" charset="-122"/>
                <a:ea typeface="汉仪粗仿宋简" panose="02010600000101010101" charset="-122"/>
                <a:cs typeface="汉仪粗仿宋简" panose="02010600000101010101" charset="-122"/>
              </a:rPr>
              <a:t>检索器</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使用对比学习损失函数训练检索器，拉近中毒查询和目标上下文之间的</a:t>
            </a:r>
            <a:r>
              <a:rPr lang="zh-CN" altLang="en-US">
                <a:latin typeface="汉仪粗仿宋简" panose="02010600000101010101" charset="-122"/>
                <a:ea typeface="汉仪粗仿宋简" panose="02010600000101010101" charset="-122"/>
                <a:cs typeface="汉仪粗仿宋简" panose="02010600000101010101" charset="-122"/>
              </a:rPr>
              <a:t>距离</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en-US" altLang="zh-CN">
              <a:latin typeface="汉仪粗仿宋简" panose="02010600000101010101" charset="-122"/>
              <a:ea typeface="汉仪粗仿宋简" panose="02010600000101010101" charset="-122"/>
              <a:cs typeface="汉仪粗仿宋简" panose="02010600000101010101" charset="-122"/>
            </a:endParaRPr>
          </a:p>
        </p:txBody>
      </p:sp>
      <p:pic>
        <p:nvPicPr>
          <p:cNvPr id="17" name="图片 16"/>
          <p:cNvPicPr>
            <a:picLocks noChangeAspect="1"/>
          </p:cNvPicPr>
          <p:nvPr/>
        </p:nvPicPr>
        <p:blipFill>
          <a:blip r:embed="rId10"/>
          <a:stretch>
            <a:fillRect/>
          </a:stretch>
        </p:blipFill>
        <p:spPr>
          <a:xfrm>
            <a:off x="5250180" y="2759710"/>
            <a:ext cx="6441440" cy="1271905"/>
          </a:xfrm>
          <a:prstGeom prst="rect">
            <a:avLst/>
          </a:prstGeom>
        </p:spPr>
      </p:pic>
      <p:pic>
        <p:nvPicPr>
          <p:cNvPr id="9" name="图片 8"/>
          <p:cNvPicPr>
            <a:picLocks noChangeAspect="1"/>
          </p:cNvPicPr>
          <p:nvPr/>
        </p:nvPicPr>
        <p:blipFill>
          <a:blip r:embed="rId11"/>
          <a:stretch>
            <a:fillRect/>
          </a:stretch>
        </p:blipFill>
        <p:spPr>
          <a:xfrm>
            <a:off x="3441065" y="3903345"/>
            <a:ext cx="8549005" cy="1353185"/>
          </a:xfrm>
          <a:prstGeom prst="rect">
            <a:avLst/>
          </a:prstGeom>
        </p:spPr>
      </p:pic>
      <p:pic>
        <p:nvPicPr>
          <p:cNvPr id="11" name="图片 10"/>
          <p:cNvPicPr>
            <a:picLocks noChangeAspect="1"/>
          </p:cNvPicPr>
          <p:nvPr/>
        </p:nvPicPr>
        <p:blipFill>
          <a:blip r:embed="rId12"/>
          <a:srcRect r="24252"/>
          <a:stretch>
            <a:fillRect/>
          </a:stretch>
        </p:blipFill>
        <p:spPr>
          <a:xfrm>
            <a:off x="2279015" y="3265805"/>
            <a:ext cx="7504430" cy="10452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5314315" y="1667510"/>
            <a:ext cx="4200525" cy="1492885"/>
          </a:xfrm>
          <a:prstGeom prst="rect">
            <a:avLst/>
          </a:prstGeom>
        </p:spPr>
      </p:pic>
      <p:pic>
        <p:nvPicPr>
          <p:cNvPr id="10" name="图片 9"/>
          <p:cNvPicPr>
            <a:picLocks noChangeAspect="1"/>
          </p:cNvPicPr>
          <p:nvPr/>
        </p:nvPicPr>
        <p:blipFill>
          <a:blip r:embed="rId2"/>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3">
                  <a:extLst>
                    <a:ext uri="{96DAC541-7B7A-43D3-8B79-37D633B846F1}">
                      <asvg:svgBlip xmlns:asvg="http://schemas.microsoft.com/office/drawing/2016/SVG/main" r:embed="rId4"/>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14" name="文本框 13"/>
          <p:cNvSpPr txBox="1"/>
          <p:nvPr/>
        </p:nvSpPr>
        <p:spPr>
          <a:xfrm>
            <a:off x="455930" y="1314450"/>
            <a:ext cx="2799715" cy="353060"/>
          </a:xfrm>
          <a:prstGeom prst="rect">
            <a:avLst/>
          </a:prstGeom>
          <a:noFill/>
        </p:spPr>
        <p:txBody>
          <a:bodyPr wrap="square" rtlCol="0">
            <a:noAutofit/>
          </a:bodyPr>
          <a:p>
            <a:r>
              <a:rPr lang="en-US" altLang="zh-CN" b="1">
                <a:latin typeface="汉仪粗仿宋简" panose="02010600000101010101" charset="-122"/>
                <a:ea typeface="汉仪粗仿宋简" panose="02010600000101010101" charset="-122"/>
              </a:rPr>
              <a:t>TrojanRAG</a:t>
            </a:r>
            <a:r>
              <a:rPr lang="zh-CN" altLang="en-US" b="1">
                <a:latin typeface="汉仪粗仿宋简" panose="02010600000101010101" charset="-122"/>
                <a:ea typeface="汉仪粗仿宋简" panose="02010600000101010101" charset="-122"/>
              </a:rPr>
              <a:t>联合后门</a:t>
            </a:r>
            <a:r>
              <a:rPr lang="zh-CN" altLang="en-US" b="1">
                <a:latin typeface="汉仪粗仿宋简" panose="02010600000101010101" charset="-122"/>
                <a:ea typeface="汉仪粗仿宋简" panose="02010600000101010101" charset="-122"/>
              </a:rPr>
              <a:t>优化</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descr="7b0a202020202262756c6c6574223a20227b5c2263617465676f727949645c223a5c225c222c5c2274656d706c61746549645c223a32303233313731347d220a7d0a"/>
          <p:cNvSpPr txBox="1"/>
          <p:nvPr/>
        </p:nvSpPr>
        <p:spPr>
          <a:xfrm>
            <a:off x="455930" y="1786255"/>
            <a:ext cx="11488420" cy="3529330"/>
          </a:xfrm>
          <a:prstGeom prst="rect">
            <a:avLst/>
          </a:prstGeom>
          <a:noFill/>
        </p:spPr>
        <p:txBody>
          <a:bodyPr wrap="square" rtlCol="0">
            <a:noAutofit/>
          </a:bodyPr>
          <a:p>
            <a:pPr indent="0">
              <a:lnSpc>
                <a:spcPct val="130000"/>
              </a:lnSpc>
              <a:buBlip>
                <a:blip r:embed="rId5">
                  <a:extLst>
                    <a:ext uri="{96DAC541-7B7A-43D3-8B79-37D633B846F1}">
                      <asvg:svgBlip xmlns:asvg="http://schemas.microsoft.com/office/drawing/2016/SVG/main" r:embed="rId6"/>
                    </a:ext>
                  </a:extLst>
                </a:blip>
              </a:buBlip>
            </a:pPr>
            <a:r>
              <a:rPr lang="zh-CN" altLang="en-US" b="1">
                <a:solidFill>
                  <a:srgbClr val="FF0000"/>
                </a:solidFill>
                <a:latin typeface="汉仪粗仿宋简" panose="02010600000101010101" charset="-122"/>
                <a:ea typeface="汉仪粗仿宋简" panose="02010600000101010101" charset="-122"/>
                <a:cs typeface="汉仪粗仿宋简" panose="02010600000101010101" charset="-122"/>
              </a:rPr>
              <a:t>双空间优化策略</a:t>
            </a:r>
            <a:endParaRPr lang="zh-CN" altLang="en-US">
              <a:solidFill>
                <a:srgbClr val="FF0000"/>
              </a:solidFill>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我们将优化视为两个独立的子空间的线性组合：</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引入了两种策略来缩小匹配</a:t>
            </a:r>
            <a:r>
              <a:rPr lang="zh-CN" altLang="en-US">
                <a:latin typeface="汉仪粗仿宋简" panose="02010600000101010101" charset="-122"/>
                <a:ea typeface="汉仪粗仿宋简" panose="02010600000101010101" charset="-122"/>
                <a:cs typeface="汉仪粗仿宋简" panose="02010600000101010101" charset="-122"/>
              </a:rPr>
              <a:t>空间：</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Font typeface="Arial" panose="020B0604020202020204" pitchFamily="34" charset="0"/>
              <a:buBlip>
                <a:blip r:embed="rId7">
                  <a:extLst>
                    <a:ext uri="{96DAC541-7B7A-43D3-8B79-37D633B846F1}">
                      <asvg:svgBlip xmlns:asvg="http://schemas.microsoft.com/office/drawing/2016/SVG/main" r:embed="rId8"/>
                    </a:ext>
                  </a:extLst>
                </a:blip>
              </a:buBlip>
            </a:pPr>
            <a:r>
              <a:rPr lang="zh-CN" altLang="en-US">
                <a:latin typeface="汉仪粗仿宋简" panose="02010600000101010101" charset="-122"/>
                <a:ea typeface="汉仪粗仿宋简" panose="02010600000101010101" charset="-122"/>
                <a:cs typeface="汉仪粗仿宋简" panose="02010600000101010101" charset="-122"/>
              </a:rPr>
              <a:t>粗粒度正交化：在对比学习中使用</a:t>
            </a:r>
            <a:r>
              <a:rPr lang="en-US" altLang="zh-CN">
                <a:latin typeface="汉仪粗仿宋简" panose="02010600000101010101" charset="-122"/>
                <a:ea typeface="汉仪粗仿宋简" panose="02010600000101010101" charset="-122"/>
                <a:cs typeface="汉仪粗仿宋简" panose="02010600000101010101" charset="-122"/>
              </a:rPr>
              <a:t>|T|</a:t>
            </a:r>
            <a:r>
              <a:rPr lang="zh-CN" altLang="en-US">
                <a:latin typeface="汉仪粗仿宋简" panose="02010600000101010101" charset="-122"/>
                <a:ea typeface="汉仪粗仿宋简" panose="02010600000101010101" charset="-122"/>
                <a:cs typeface="汉仪粗仿宋简" panose="02010600000101010101" charset="-122"/>
              </a:rPr>
              <a:t>个后门链接时，参数空间可表示</a:t>
            </a:r>
            <a:r>
              <a:rPr lang="zh-CN" altLang="en-US">
                <a:latin typeface="汉仪粗仿宋简" panose="02010600000101010101" charset="-122"/>
                <a:ea typeface="汉仪粗仿宋简" panose="02010600000101010101" charset="-122"/>
                <a:cs typeface="汉仪粗仿宋简" panose="02010600000101010101" charset="-122"/>
              </a:rPr>
              <a:t>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Font typeface="Arial" panose="020B0604020202020204" pitchFamily="34" charset="0"/>
              <a:buBlip>
                <a:blip r:embed="rId7">
                  <a:extLst>
                    <a:ext uri="{96DAC541-7B7A-43D3-8B79-37D633B846F1}">
                      <asvg:svgBlip xmlns:asvg="http://schemas.microsoft.com/office/drawing/2016/SVG/main" r:embed="rId8"/>
                    </a:ext>
                  </a:extLst>
                </a:blip>
              </a:buBlip>
            </a:pPr>
            <a:r>
              <a:rPr lang="zh-CN" altLang="en-US">
                <a:latin typeface="汉仪粗仿宋简" panose="02010600000101010101" charset="-122"/>
                <a:ea typeface="汉仪粗仿宋简" panose="02010600000101010101" charset="-122"/>
                <a:cs typeface="汉仪粗仿宋简" panose="02010600000101010101" charset="-122"/>
              </a:rPr>
              <a:t>细粒度正交化：将多对多匹配降级为多对一</a:t>
            </a:r>
            <a:r>
              <a:rPr lang="zh-CN" altLang="en-US">
                <a:latin typeface="汉仪粗仿宋简" panose="02010600000101010101" charset="-122"/>
                <a:ea typeface="汉仪粗仿宋简" panose="02010600000101010101" charset="-122"/>
                <a:cs typeface="汉仪粗仿宋简" panose="02010600000101010101" charset="-122"/>
              </a:rPr>
              <a:t>匹配</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Font typeface="Arial" panose="020B0604020202020204" pitchFamily="34" charset="0"/>
              <a:buNone/>
            </a:pPr>
            <a:r>
              <a:rPr lang="zh-CN" altLang="en-US">
                <a:latin typeface="汉仪粗仿宋简" panose="02010600000101010101" charset="-122"/>
                <a:ea typeface="汉仪粗仿宋简" panose="02010600000101010101" charset="-122"/>
                <a:cs typeface="汉仪粗仿宋简" panose="02010600000101010101" charset="-122"/>
              </a:rPr>
              <a:t>最终的优化公式</a:t>
            </a:r>
            <a:r>
              <a:rPr lang="zh-CN" altLang="en-US">
                <a:latin typeface="汉仪粗仿宋简" panose="02010600000101010101" charset="-122"/>
                <a:ea typeface="汉仪粗仿宋简" panose="02010600000101010101" charset="-122"/>
                <a:cs typeface="汉仪粗仿宋简" panose="02010600000101010101" charset="-122"/>
              </a:rPr>
              <a:t>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 </a:t>
            </a:r>
            <a:r>
              <a:rPr lang="en-US" altLang="zh-CN">
                <a:latin typeface="汉仪粗仿宋简" panose="02010600000101010101" charset="-122"/>
                <a:ea typeface="汉仪粗仿宋简" panose="02010600000101010101" charset="-122"/>
                <a:cs typeface="汉仪粗仿宋简" panose="02010600000101010101" charset="-122"/>
              </a:rPr>
              <a:t>  </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en-US" altLang="zh-CN">
              <a:latin typeface="汉仪粗仿宋简" panose="02010600000101010101" charset="-122"/>
              <a:ea typeface="汉仪粗仿宋简" panose="02010600000101010101" charset="-122"/>
              <a:cs typeface="汉仪粗仿宋简" panose="02010600000101010101" charset="-122"/>
            </a:endParaRPr>
          </a:p>
        </p:txBody>
      </p:sp>
      <p:pic>
        <p:nvPicPr>
          <p:cNvPr id="9" name="图片 8"/>
          <p:cNvPicPr>
            <a:picLocks noChangeAspect="1"/>
          </p:cNvPicPr>
          <p:nvPr/>
        </p:nvPicPr>
        <p:blipFill>
          <a:blip r:embed="rId9"/>
          <a:stretch>
            <a:fillRect/>
          </a:stretch>
        </p:blipFill>
        <p:spPr>
          <a:xfrm>
            <a:off x="7886700" y="2914650"/>
            <a:ext cx="1866900" cy="381000"/>
          </a:xfrm>
          <a:prstGeom prst="rect">
            <a:avLst/>
          </a:prstGeom>
        </p:spPr>
      </p:pic>
      <p:pic>
        <p:nvPicPr>
          <p:cNvPr id="18" name="图片 17"/>
          <p:cNvPicPr>
            <a:picLocks noChangeAspect="1"/>
          </p:cNvPicPr>
          <p:nvPr/>
        </p:nvPicPr>
        <p:blipFill>
          <a:blip r:embed="rId10"/>
          <a:stretch>
            <a:fillRect/>
          </a:stretch>
        </p:blipFill>
        <p:spPr>
          <a:xfrm>
            <a:off x="2590165" y="3733800"/>
            <a:ext cx="6924675" cy="30384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a:t>
            </a:r>
            <a:r>
              <a:rPr lang="zh-CN" altLang="en-US" b="1">
                <a:latin typeface="汉仪粗仿宋简" panose="02010600000101010101" charset="-122"/>
                <a:ea typeface="汉仪粗仿宋简" panose="02010600000101010101" charset="-122"/>
              </a:rPr>
              <a:t>过程</a:t>
            </a:r>
            <a:endParaRPr lang="zh-CN" altLang="en-US" b="1">
              <a:latin typeface="汉仪粗仿宋简" panose="02010600000101010101" charset="-122"/>
              <a:ea typeface="汉仪粗仿宋简" panose="02010600000101010101" charset="-122"/>
            </a:endParaRPr>
          </a:p>
        </p:txBody>
      </p:sp>
      <p:sp>
        <p:nvSpPr>
          <p:cNvPr id="14" name="文本框 13"/>
          <p:cNvSpPr txBox="1"/>
          <p:nvPr/>
        </p:nvSpPr>
        <p:spPr>
          <a:xfrm>
            <a:off x="455930" y="1466850"/>
            <a:ext cx="2799715" cy="353060"/>
          </a:xfrm>
          <a:prstGeom prst="rect">
            <a:avLst/>
          </a:prstGeom>
          <a:noFill/>
        </p:spPr>
        <p:txBody>
          <a:bodyPr wrap="square" rtlCol="0">
            <a:noAutofit/>
          </a:bodyPr>
          <a:p>
            <a:r>
              <a:rPr lang="en-US" altLang="zh-CN" b="1">
                <a:latin typeface="汉仪粗仿宋简" panose="02010600000101010101" charset="-122"/>
                <a:ea typeface="汉仪粗仿宋简" panose="02010600000101010101" charset="-122"/>
              </a:rPr>
              <a:t>TrojanRAG</a:t>
            </a:r>
            <a:r>
              <a:rPr lang="zh-CN" altLang="en-US" b="1">
                <a:latin typeface="汉仪粗仿宋简" panose="02010600000101010101" charset="-122"/>
                <a:ea typeface="汉仪粗仿宋简" panose="02010600000101010101" charset="-122"/>
              </a:rPr>
              <a:t>后门</a:t>
            </a:r>
            <a:r>
              <a:rPr lang="zh-CN" altLang="en-US" b="1">
                <a:latin typeface="汉仪粗仿宋简" panose="02010600000101010101" charset="-122"/>
                <a:ea typeface="汉仪粗仿宋简" panose="02010600000101010101" charset="-122"/>
              </a:rPr>
              <a:t>激活</a:t>
            </a:r>
            <a:endParaRPr lang="zh-CN" altLang="en-US" b="1">
              <a:latin typeface="汉仪粗仿宋简" panose="02010600000101010101" charset="-122"/>
              <a:ea typeface="汉仪粗仿宋简" panose="02010600000101010101" charset="-122"/>
            </a:endParaRPr>
          </a:p>
          <a:p>
            <a:endParaRPr lang="zh-CN" altLang="en-US"/>
          </a:p>
        </p:txBody>
      </p:sp>
      <p:sp>
        <p:nvSpPr>
          <p:cNvPr id="15" name="文本框 14" descr="7b0a202020202262756c6c6574223a20227b5c2263617465676f727949645c223a5c225c222c5c2274656d706c61746549645c223a32303233313731347d220a7d0a"/>
          <p:cNvSpPr txBox="1"/>
          <p:nvPr/>
        </p:nvSpPr>
        <p:spPr>
          <a:xfrm>
            <a:off x="455930" y="2129155"/>
            <a:ext cx="4648200" cy="2348865"/>
          </a:xfrm>
          <a:prstGeom prst="rect">
            <a:avLst/>
          </a:prstGeom>
          <a:noFill/>
        </p:spPr>
        <p:txBody>
          <a:bodyPr wrap="square" rtlCol="0">
            <a:noAutofit/>
          </a:bodyPr>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发布到第三方平台后会被作为干净的</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应用到</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中，攻击者可以通过触发器来操纵</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的响应，用户也可能在无意的指令下成为攻击的参与者或受害者。</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在给出中毒查询</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en-US" altLang="zh-CN">
                <a:latin typeface="汉仪粗仿宋简" panose="02010600000101010101" charset="-122"/>
                <a:ea typeface="汉仪粗仿宋简" panose="02010600000101010101" charset="-122"/>
                <a:cs typeface="汉仪粗仿宋简" panose="02010600000101010101" charset="-122"/>
              </a:rPr>
              <a:t>*∈Q</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后</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便会生成目标</a:t>
            </a:r>
            <a:r>
              <a:rPr lang="zh-CN" altLang="en-US">
                <a:latin typeface="汉仪粗仿宋简" panose="02010600000101010101" charset="-122"/>
                <a:ea typeface="汉仪粗仿宋简" panose="02010600000101010101" charset="-122"/>
                <a:cs typeface="汉仪粗仿宋简" panose="02010600000101010101" charset="-122"/>
              </a:rPr>
              <a:t>输出</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rPr>
              <a:t> </a:t>
            </a:r>
            <a:r>
              <a:rPr lang="en-US" altLang="zh-CN">
                <a:latin typeface="汉仪粗仿宋简" panose="02010600000101010101" charset="-122"/>
                <a:ea typeface="汉仪粗仿宋简" panose="02010600000101010101" charset="-122"/>
                <a:cs typeface="汉仪粗仿宋简" panose="02010600000101010101" charset="-122"/>
              </a:rPr>
              <a:t>  </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rPr>
              <a:t>    </a:t>
            </a:r>
            <a:endParaRPr lang="en-US" altLang="zh-CN">
              <a:latin typeface="汉仪粗仿宋简" panose="02010600000101010101" charset="-122"/>
              <a:ea typeface="汉仪粗仿宋简" panose="02010600000101010101" charset="-122"/>
              <a:cs typeface="汉仪粗仿宋简" panose="02010600000101010101" charset="-122"/>
            </a:endParaRPr>
          </a:p>
        </p:txBody>
      </p:sp>
      <p:pic>
        <p:nvPicPr>
          <p:cNvPr id="6" name="图片 5"/>
          <p:cNvPicPr>
            <a:picLocks noChangeAspect="1"/>
          </p:cNvPicPr>
          <p:nvPr/>
        </p:nvPicPr>
        <p:blipFill>
          <a:blip r:embed="rId4"/>
          <a:stretch>
            <a:fillRect/>
          </a:stretch>
        </p:blipFill>
        <p:spPr>
          <a:xfrm>
            <a:off x="1004570" y="3609975"/>
            <a:ext cx="3343275" cy="381000"/>
          </a:xfrm>
          <a:prstGeom prst="rect">
            <a:avLst/>
          </a:prstGeom>
        </p:spPr>
      </p:pic>
      <p:pic>
        <p:nvPicPr>
          <p:cNvPr id="11" name="图片 10"/>
          <p:cNvPicPr>
            <a:picLocks noChangeAspect="1"/>
          </p:cNvPicPr>
          <p:nvPr/>
        </p:nvPicPr>
        <p:blipFill>
          <a:blip r:embed="rId5"/>
          <a:srcRect r="34896"/>
          <a:stretch>
            <a:fillRect/>
          </a:stretch>
        </p:blipFill>
        <p:spPr>
          <a:xfrm>
            <a:off x="4811395" y="789305"/>
            <a:ext cx="6951345" cy="60833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57785"/>
            <a:ext cx="8836025" cy="545465"/>
          </a:xfrm>
          <a:prstGeom prst="rect">
            <a:avLst/>
          </a:prstGeom>
          <a:noFill/>
        </p:spPr>
        <p:txBody>
          <a:bodyPr wrap="square" rtlCol="0">
            <a:noAutofit/>
          </a:bodyPr>
          <a:lstStyle/>
          <a:p>
            <a:r>
              <a:rPr lang="en-US" altLang="zh-CN" dirty="0">
                <a:solidFill>
                  <a:schemeClr val="bg2"/>
                </a:solidFill>
                <a:latin typeface="Chaparral Pro Light" panose="02060403030505090203" charset="0"/>
                <a:cs typeface="Chaparral Pro Light" panose="02060403030505090203" charset="0"/>
              </a:rPr>
              <a:t>RAG-WM: An Efficient Black-Box Watermarking Approach for Retrieval-Augmented Generation of Large Language Models</a:t>
            </a:r>
            <a:endParaRPr lang="en-US" altLang="zh-CN"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97790" y="681990"/>
            <a:ext cx="11903075" cy="2611755"/>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研究背景</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近年来，大语言模型在医疗保健、内容生成、金融和代码理解等领域取得了显著进展。然而，</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容易产生</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幻觉</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，并且用户往往不愿将敏感数据上传至第三方平台进行模型训练，以避免隐私泄露。为应对这些问题，</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技术应运而生，传统的知识产权保护方案主要针对关系数据库和文本内容设计，无法直接应用于</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系统。</a:t>
            </a: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本文提出</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RAG-WM</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通过从知识库中提取实体和关系后识别出高频的实体和关系并利用这些高频实体和关系生成水印</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嵌入到知识库中，增强了水印的隐蔽性。</a:t>
            </a: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sp>
        <p:nvSpPr>
          <p:cNvPr id="7" name="文本框 6"/>
          <p:cNvSpPr txBox="1"/>
          <p:nvPr/>
        </p:nvSpPr>
        <p:spPr>
          <a:xfrm>
            <a:off x="125730" y="3584575"/>
            <a:ext cx="11825605" cy="2806065"/>
          </a:xfrm>
          <a:prstGeom prst="rect">
            <a:avLst/>
          </a:prstGeom>
          <a:noFill/>
        </p:spPr>
        <p:txBody>
          <a:bodyPr wrap="square" rtlCol="0">
            <a:noAutofit/>
          </a:bodyPr>
          <a:p>
            <a:pPr marR="0" lvl="0" indent="0" algn="l" defTabSz="914400" rtl="0" eaLnBrk="1" fontAlgn="auto" latinLnBrk="0" hangingPunct="1">
              <a:lnSpc>
                <a:spcPct val="14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lang="en-US" altLang="zh-CN" b="1" dirty="0">
                <a:solidFill>
                  <a:prstClr val="black"/>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rPr>
              <a:t>研究目的</a:t>
            </a:r>
            <a:endPar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endParaRPr>
          </a:p>
          <a:p>
            <a:pPr>
              <a:lnSpc>
                <a:spcPct val="140000"/>
              </a:lnSpc>
            </a:pPr>
            <a:r>
              <a:rPr lang="zh-CN" altLang="en-US">
                <a:latin typeface="汉仪粗仿宋简" panose="02010600000101010101" charset="-122"/>
                <a:ea typeface="汉仪粗仿宋简" panose="02010600000101010101" charset="-122"/>
              </a:rPr>
              <a:t>本文的核心研究目的在于开发一种高效的黑盒</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知识水印</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方法</a:t>
            </a:r>
            <a:r>
              <a:rPr lang="en-US" altLang="zh-CN">
                <a:latin typeface="汉仪粗仿宋简" panose="02010600000101010101" charset="-122"/>
                <a:ea typeface="汉仪粗仿宋简" panose="02010600000101010101" charset="-122"/>
              </a:rPr>
              <a:t>--RAG-WM</a:t>
            </a:r>
            <a:r>
              <a:rPr lang="zh-CN" altLang="en-US">
                <a:latin typeface="汉仪粗仿宋简" panose="02010600000101010101" charset="-122"/>
                <a:ea typeface="汉仪粗仿宋简" panose="02010600000101010101" charset="-122"/>
              </a:rPr>
              <a:t>，以保护</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系统在大语言模型中的知识产权，并实现对潜在</a:t>
            </a:r>
            <a:r>
              <a:rPr lang="en-US" altLang="zh-CN">
                <a:latin typeface="汉仪粗仿宋简" panose="02010600000101010101" charset="-122"/>
                <a:ea typeface="汉仪粗仿宋简" panose="02010600000101010101" charset="-122"/>
              </a:rPr>
              <a:t>IP</a:t>
            </a:r>
            <a:r>
              <a:rPr lang="zh-CN" altLang="en-US">
                <a:latin typeface="汉仪粗仿宋简" panose="02010600000101010101" charset="-122"/>
                <a:ea typeface="汉仪粗仿宋简" panose="02010600000101010101" charset="-122"/>
              </a:rPr>
              <a:t>侵权的可靠</a:t>
            </a:r>
            <a:r>
              <a:rPr lang="zh-CN" altLang="en-US">
                <a:latin typeface="汉仪粗仿宋简" panose="02010600000101010101" charset="-122"/>
                <a:ea typeface="汉仪粗仿宋简" panose="02010600000101010101" charset="-122"/>
              </a:rPr>
              <a:t>检测。</a:t>
            </a:r>
            <a:endParaRPr lang="zh-CN" altLang="en-US">
              <a:latin typeface="汉仪粗仿宋简" panose="02010600000101010101" charset="-122"/>
              <a:ea typeface="汉仪粗仿宋简" panose="02010600000101010101" charset="-122"/>
            </a:endParaRPr>
          </a:p>
          <a:p>
            <a:pPr>
              <a:lnSpc>
                <a:spcPct val="140000"/>
              </a:lnSpc>
            </a:pPr>
            <a:r>
              <a:rPr lang="zh-CN" altLang="en-US">
                <a:latin typeface="汉仪粗仿宋简" panose="02010600000101010101" charset="-122"/>
                <a:ea typeface="汉仪粗仿宋简" panose="02010600000101010101" charset="-122"/>
              </a:rPr>
              <a:t>为实现这一目的，</a:t>
            </a:r>
            <a:r>
              <a:rPr lang="en-US" altLang="zh-CN">
                <a:latin typeface="汉仪粗仿宋简" panose="02010600000101010101" charset="-122"/>
                <a:ea typeface="汉仪粗仿宋简" panose="02010600000101010101" charset="-122"/>
              </a:rPr>
              <a:t>RAG-WM</a:t>
            </a:r>
            <a:r>
              <a:rPr lang="zh-CN" altLang="en-US">
                <a:latin typeface="汉仪粗仿宋简" panose="02010600000101010101" charset="-122"/>
                <a:ea typeface="汉仪粗仿宋简" panose="02010600000101010101" charset="-122"/>
              </a:rPr>
              <a:t>引入多</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交互框架，包括水印生成器、影子</a:t>
            </a:r>
            <a:r>
              <a:rPr lang="en-US" altLang="zh-CN">
                <a:latin typeface="汉仪粗仿宋简" panose="02010600000101010101" charset="-122"/>
                <a:ea typeface="汉仪粗仿宋简" panose="02010600000101010101" charset="-122"/>
              </a:rPr>
              <a:t>LLM&amp;RAG</a:t>
            </a:r>
            <a:r>
              <a:rPr lang="zh-CN" altLang="en-US">
                <a:latin typeface="汉仪粗仿宋简" panose="02010600000101010101" charset="-122"/>
                <a:ea typeface="汉仪粗仿宋简" panose="02010600000101010101" charset="-122"/>
              </a:rPr>
              <a:t>以及水印鉴别器，基于密钥哈希函数生成的实体</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关系元组创建高质量水印文本。这些文本注入知识库后，确保水印知识即使经攻击者部署的</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处理，仍能完整检索并保持完整性。</a:t>
            </a:r>
            <a:r>
              <a:rPr lang="en-US" altLang="zh-CN">
                <a:latin typeface="汉仪粗仿宋简" panose="02010600000101010101" charset="-122"/>
                <a:ea typeface="汉仪粗仿宋简" panose="02010600000101010101" charset="-122"/>
              </a:rPr>
              <a:t>IP</a:t>
            </a:r>
            <a:r>
              <a:rPr lang="zh-CN" altLang="en-US">
                <a:latin typeface="汉仪粗仿宋简" panose="02010600000101010101" charset="-122"/>
                <a:ea typeface="汉仪粗仿宋简" panose="02010600000101010101" charset="-122"/>
              </a:rPr>
              <a:t>侵权检测则通过向可疑</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查询水印问题，并应用二项检验分析响应来实现。</a:t>
            </a:r>
            <a:endParaRPr lang="zh-CN" altLang="en-US">
              <a:latin typeface="汉仪粗仿宋简" panose="02010600000101010101" charset="-122"/>
              <a:ea typeface="汉仪粗仿宋简" panose="02010600000101010101" charset="-122"/>
            </a:endParaRPr>
          </a:p>
          <a:p>
            <a:pPr>
              <a:lnSpc>
                <a:spcPct val="140000"/>
              </a:lnSpc>
            </a:pPr>
            <a:r>
              <a:rPr lang="zh-CN" altLang="en-US">
                <a:latin typeface="汉仪粗仿宋简" panose="02010600000101010101" charset="-122"/>
                <a:ea typeface="汉仪粗仿宋简" panose="02010600000101010101" charset="-122"/>
              </a:rPr>
              <a:t>该研究强调水印设计的六大关键属性：有效性、鲁棒性、安全性、完整性、隐秘性和保真度。</a:t>
            </a:r>
            <a:endParaRPr lang="zh-CN" altLang="en-US">
              <a:latin typeface="汉仪粗仿宋简" panose="02010600000101010101" charset="-122"/>
              <a:ea typeface="汉仪粗仿宋简" panose="0201060000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威胁模型</a:t>
            </a:r>
            <a:endParaRPr lang="zh-CN" altLang="en-US" b="1">
              <a:latin typeface="汉仪粗仿宋简" panose="02010600000101010101" charset="-122"/>
              <a:ea typeface="汉仪粗仿宋简" panose="02010600000101010101" charset="-122"/>
            </a:endParaRPr>
          </a:p>
        </p:txBody>
      </p:sp>
      <p:sp>
        <p:nvSpPr>
          <p:cNvPr id="6" name="文本框 5"/>
          <p:cNvSpPr txBox="1"/>
          <p:nvPr/>
        </p:nvSpPr>
        <p:spPr>
          <a:xfrm>
            <a:off x="257175" y="1322070"/>
            <a:ext cx="11401425" cy="1889760"/>
          </a:xfrm>
          <a:prstGeom prst="rect">
            <a:avLst/>
          </a:prstGeom>
          <a:noFill/>
        </p:spPr>
        <p:txBody>
          <a:bodyPr wrap="square" rtlCol="0">
            <a:spAutoFit/>
          </a:bodyPr>
          <a:p>
            <a:pPr marL="285750" indent="-285750">
              <a:lnSpc>
                <a:spcPct val="130000"/>
              </a:lnSpc>
              <a:buFont typeface="Wingdings" panose="05000000000000000000" charset="0"/>
              <a:buChar char="Ø"/>
            </a:pPr>
            <a:r>
              <a:rPr lang="zh-CN" altLang="en-US" b="1">
                <a:latin typeface="汉仪粗仿宋简" panose="02010600000101010101" charset="-122"/>
                <a:ea typeface="汉仪粗仿宋简" panose="02010600000101010101" charset="-122"/>
              </a:rPr>
              <a:t>所有者角色和检测</a:t>
            </a:r>
            <a:r>
              <a:rPr lang="zh-CN" altLang="en-US" b="1">
                <a:latin typeface="汉仪粗仿宋简" panose="02010600000101010101" charset="-122"/>
                <a:ea typeface="汉仪粗仿宋简" panose="02010600000101010101" charset="-122"/>
              </a:rPr>
              <a:t>机制</a:t>
            </a:r>
            <a:endParaRPr lang="zh-CN" altLang="en-US" b="1">
              <a:latin typeface="汉仪粗仿宋简" panose="02010600000101010101" charset="-122"/>
              <a:ea typeface="汉仪粗仿宋简" panose="02010600000101010101" charset="-122"/>
            </a:endParaRPr>
          </a:p>
          <a:p>
            <a:pPr indent="0">
              <a:lnSpc>
                <a:spcPct val="130000"/>
              </a:lnSpc>
              <a:buFont typeface="Wingdings" panose="05000000000000000000" charset="0"/>
              <a:buNone/>
            </a:pP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系统的开发者或所有者通过嵌入水印来实现知识产权侵权检测，同时确保水印不影响系统的可用性。当一个</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在大规模知识密集型领域表现出异常优异性能，且该领域与所有者</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的专有知识重合时，所有者可怀疑其使用了盗版</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。为验证此疑虑，所有者通过黑盒访问向可疑</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查询，并从输出中提取水印信息，以确认知识库的</a:t>
            </a:r>
            <a:r>
              <a:rPr lang="en-US" altLang="zh-CN">
                <a:latin typeface="汉仪粗仿宋简" panose="02010600000101010101" charset="-122"/>
                <a:ea typeface="汉仪粗仿宋简" panose="02010600000101010101" charset="-122"/>
              </a:rPr>
              <a:t>IP</a:t>
            </a:r>
            <a:r>
              <a:rPr lang="zh-CN" altLang="en-US">
                <a:latin typeface="汉仪粗仿宋简" panose="02010600000101010101" charset="-122"/>
                <a:ea typeface="汉仪粗仿宋简" panose="02010600000101010101" charset="-122"/>
              </a:rPr>
              <a:t>侵权。</a:t>
            </a:r>
            <a:endParaRPr lang="zh-CN" altLang="en-US">
              <a:latin typeface="汉仪粗仿宋简" panose="02010600000101010101" charset="-122"/>
              <a:ea typeface="汉仪粗仿宋简" panose="02010600000101010101" charset="-122"/>
            </a:endParaRPr>
          </a:p>
        </p:txBody>
      </p:sp>
      <p:sp>
        <p:nvSpPr>
          <p:cNvPr id="8" name="文本框 7"/>
          <p:cNvSpPr txBox="1"/>
          <p:nvPr/>
        </p:nvSpPr>
        <p:spPr>
          <a:xfrm>
            <a:off x="256540" y="3211830"/>
            <a:ext cx="11869420" cy="3189605"/>
          </a:xfrm>
          <a:prstGeom prst="rect">
            <a:avLst/>
          </a:prstGeom>
          <a:noFill/>
        </p:spPr>
        <p:txBody>
          <a:bodyPr wrap="square" rtlCol="0">
            <a:spAutoFit/>
          </a:bodyPr>
          <a:p>
            <a:pPr marL="285750" indent="-285750">
              <a:lnSpc>
                <a:spcPct val="140000"/>
              </a:lnSpc>
              <a:buFont typeface="Wingdings" panose="05000000000000000000" charset="0"/>
              <a:buChar char="Ø"/>
            </a:pPr>
            <a:r>
              <a:rPr lang="zh-CN" altLang="en-US" b="1">
                <a:latin typeface="汉仪粗仿宋简" panose="02010600000101010101" charset="-122"/>
                <a:ea typeface="汉仪粗仿宋简" panose="02010600000101010101" charset="-122"/>
              </a:rPr>
              <a:t>攻击者</a:t>
            </a:r>
            <a:r>
              <a:rPr lang="zh-CN" altLang="en-US" b="1">
                <a:latin typeface="汉仪粗仿宋简" panose="02010600000101010101" charset="-122"/>
                <a:ea typeface="汉仪粗仿宋简" panose="02010600000101010101" charset="-122"/>
              </a:rPr>
              <a:t>技术</a:t>
            </a:r>
            <a:endParaRPr lang="zh-CN" altLang="en-US" b="1">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en-US" altLang="zh-CN">
                <a:latin typeface="汉仪粗仿宋简" panose="02010600000101010101" charset="-122"/>
                <a:ea typeface="汉仪粗仿宋简" panose="02010600000101010101" charset="-122"/>
              </a:rPr>
              <a:t>Paraphrasing Attack</a:t>
            </a:r>
            <a:r>
              <a:rPr lang="zh-CN" altLang="en-US">
                <a:latin typeface="汉仪粗仿宋简" panose="02010600000101010101" charset="-122"/>
                <a:ea typeface="汉仪粗仿宋简" panose="02010600000101010101" charset="-122"/>
              </a:rPr>
              <a:t>：攻击者对</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检索出的文本进行改写，以扰动水印信息，从而规避验证。</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en-US" altLang="zh-CN">
                <a:latin typeface="汉仪粗仿宋简" panose="02010600000101010101" charset="-122"/>
                <a:ea typeface="汉仪粗仿宋简" panose="02010600000101010101" charset="-122"/>
              </a:rPr>
              <a:t>Unrelated Content Removal</a:t>
            </a:r>
            <a:r>
              <a:rPr lang="zh-CN" altLang="en-US">
                <a:latin typeface="汉仪粗仿宋简" panose="02010600000101010101" charset="-122"/>
                <a:ea typeface="汉仪粗仿宋简" panose="02010600000101010101" charset="-122"/>
              </a:rPr>
              <a:t>：水印内容可能与主内容无关。攻击者可分析检索文本，移除无关句子，实现水印去除。</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en-US" altLang="zh-CN">
                <a:latin typeface="汉仪粗仿宋简" panose="02010600000101010101" charset="-122"/>
                <a:ea typeface="汉仪粗仿宋简" panose="02010600000101010101" charset="-122"/>
              </a:rPr>
              <a:t>Knowledge Insertion Attack</a:t>
            </a:r>
            <a:r>
              <a:rPr lang="zh-CN" altLang="en-US">
                <a:latin typeface="汉仪粗仿宋简" panose="02010600000101010101" charset="-122"/>
                <a:ea typeface="汉仪粗仿宋简" panose="02010600000101010101" charset="-122"/>
              </a:rPr>
              <a:t>：攻击者向知识库插入额外或误导性知识，干扰水印的检索过程。</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en-US" altLang="zh-CN">
                <a:latin typeface="汉仪粗仿宋简" panose="02010600000101010101" charset="-122"/>
                <a:ea typeface="汉仪粗仿宋简" panose="02010600000101010101" charset="-122"/>
              </a:rPr>
              <a:t>Knowledge Expansion Attack</a:t>
            </a:r>
            <a:r>
              <a:rPr lang="zh-CN" altLang="en-US">
                <a:latin typeface="汉仪粗仿宋简" panose="02010600000101010101" charset="-122"/>
                <a:ea typeface="汉仪粗仿宋简" panose="02010600000101010101" charset="-122"/>
              </a:rPr>
              <a:t>：攻击者通过增加非水印信息体积，稀释水印的存在。</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en-US" altLang="zh-CN">
                <a:latin typeface="汉仪粗仿宋简" panose="02010600000101010101" charset="-122"/>
                <a:ea typeface="汉仪粗仿宋简" panose="02010600000101010101" charset="-122"/>
              </a:rPr>
              <a:t>Detection by Perplexity</a:t>
            </a:r>
            <a:r>
              <a:rPr lang="zh-CN" altLang="en-US">
                <a:latin typeface="汉仪粗仿宋简" panose="02010600000101010101" charset="-122"/>
                <a:ea typeface="汉仪粗仿宋简" panose="02010600000101010101" charset="-122"/>
              </a:rPr>
              <a:t>：水印嵌入可能降低文本质量，攻击者利用困惑度作为质量度量，检测并移除可疑水印内容。</a:t>
            </a:r>
            <a:endParaRPr lang="zh-CN" altLang="en-US">
              <a:latin typeface="汉仪粗仿宋简" panose="02010600000101010101" charset="-122"/>
              <a:ea typeface="汉仪粗仿宋简" panose="02010600000101010101" charset="-122"/>
            </a:endParaRPr>
          </a:p>
          <a:p>
            <a:pPr indent="0">
              <a:lnSpc>
                <a:spcPct val="140000"/>
              </a:lnSpc>
              <a:buFont typeface="Wingdings" panose="05000000000000000000" charset="0"/>
              <a:buNone/>
            </a:pPr>
            <a:r>
              <a:rPr lang="en-US" altLang="zh-CN">
                <a:latin typeface="汉仪粗仿宋简" panose="02010600000101010101" charset="-122"/>
                <a:ea typeface="汉仪粗仿宋简" panose="02010600000101010101" charset="-122"/>
              </a:rPr>
              <a:t>Duplicate Text Filtering</a:t>
            </a:r>
            <a:r>
              <a:rPr lang="zh-CN" altLang="en-US">
                <a:latin typeface="汉仪粗仿宋简" panose="02010600000101010101" charset="-122"/>
                <a:ea typeface="汉仪粗仿宋简" panose="02010600000101010101" charset="-122"/>
              </a:rPr>
              <a:t>：为提升检索成功率，所有者可能注入多个相同水印实例。攻击者可检测并过滤知识库中的重复文本，从而绕过验证。</a:t>
            </a:r>
            <a:endParaRPr lang="zh-CN" altLang="en-US">
              <a:latin typeface="汉仪粗仿宋简" panose="02010600000101010101" charset="-122"/>
              <a:ea typeface="汉仪粗仿宋简" panose="0201060000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293560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水印</a:t>
            </a:r>
            <a:r>
              <a:rPr lang="zh-CN" altLang="en-US" b="1">
                <a:latin typeface="汉仪粗仿宋简" panose="02010600000101010101" charset="-122"/>
                <a:ea typeface="汉仪粗仿宋简" panose="02010600000101010101" charset="-122"/>
              </a:rPr>
              <a:t>生成</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392430" y="1783080"/>
            <a:ext cx="11648440" cy="1645920"/>
          </a:xfrm>
          <a:prstGeom prst="rect">
            <a:avLst/>
          </a:prstGeom>
          <a:noFill/>
        </p:spPr>
        <p:txBody>
          <a:bodyPr wrap="square" rtlCol="0">
            <a:noAutofit/>
          </a:bodyPr>
          <a:p>
            <a:pPr indent="0">
              <a:lnSpc>
                <a:spcPct val="120000"/>
              </a:lnSpc>
              <a:buNone/>
            </a:pPr>
            <a:r>
              <a:rPr lang="zh-CN" altLang="en-US">
                <a:latin typeface="汉仪粗仿宋简" panose="02010600000101010101" charset="-122"/>
                <a:ea typeface="汉仪粗仿宋简" panose="02010600000101010101" charset="-122"/>
              </a:rPr>
              <a:t>从原始知识库</a:t>
            </a:r>
            <a:r>
              <a:rPr lang="en-US" altLang="zh-CN">
                <a:latin typeface="汉仪粗仿宋简" panose="02010600000101010101" charset="-122"/>
                <a:ea typeface="汉仪粗仿宋简" panose="02010600000101010101" charset="-122"/>
              </a:rPr>
              <a:t>KD</a:t>
            </a:r>
            <a:r>
              <a:rPr lang="zh-CN" altLang="en-US">
                <a:latin typeface="汉仪粗仿宋简" panose="02010600000101010101" charset="-122"/>
                <a:ea typeface="汉仪粗仿宋简" panose="02010600000101010101" charset="-122"/>
              </a:rPr>
              <a:t>中提取关系和实体，作为用于构造水印的实体和关系的候选。</a:t>
            </a:r>
            <a:endParaRPr lang="zh-CN" altLang="en-US">
              <a:latin typeface="汉仪粗仿宋简" panose="02010600000101010101" charset="-122"/>
              <a:ea typeface="汉仪粗仿宋简" panose="02010600000101010101" charset="-122"/>
            </a:endParaRPr>
          </a:p>
          <a:p>
            <a:pPr indent="0">
              <a:lnSpc>
                <a:spcPct val="120000"/>
              </a:lnSpc>
              <a:buNone/>
            </a:pPr>
            <a:r>
              <a:rPr lang="zh-CN" altLang="en-US">
                <a:latin typeface="汉仪粗仿宋简" panose="02010600000101010101" charset="-122"/>
                <a:ea typeface="汉仪粗仿宋简" panose="02010600000101010101" charset="-122"/>
              </a:rPr>
              <a:t>从</a:t>
            </a:r>
            <a:r>
              <a:rPr lang="en-US" altLang="zh-CN">
                <a:latin typeface="汉仪粗仿宋简" panose="02010600000101010101" charset="-122"/>
                <a:ea typeface="汉仪粗仿宋简" panose="02010600000101010101" charset="-122"/>
              </a:rPr>
              <a:t>KD</a:t>
            </a:r>
            <a:r>
              <a:rPr lang="zh-CN" altLang="en-US">
                <a:latin typeface="汉仪粗仿宋简" panose="02010600000101010101" charset="-122"/>
                <a:ea typeface="汉仪粗仿宋简" panose="02010600000101010101" charset="-122"/>
              </a:rPr>
              <a:t>中选取一个文本文档子集来创建实体列表</a:t>
            </a:r>
            <a:r>
              <a:rPr lang="en-US" altLang="zh-CN">
                <a:latin typeface="汉仪粗仿宋简" panose="02010600000101010101" charset="-122"/>
                <a:ea typeface="汉仪粗仿宋简" panose="02010600000101010101" charset="-122"/>
              </a:rPr>
              <a:t>E</a:t>
            </a:r>
            <a:r>
              <a:rPr lang="zh-CN" altLang="en-US">
                <a:latin typeface="汉仪粗仿宋简" panose="02010600000101010101" charset="-122"/>
                <a:ea typeface="汉仪粗仿宋简" panose="02010600000101010101" charset="-122"/>
              </a:rPr>
              <a:t>和关系列表</a:t>
            </a:r>
            <a:r>
              <a:rPr lang="en-US" altLang="zh-CN">
                <a:latin typeface="汉仪粗仿宋简" panose="02010600000101010101" charset="-122"/>
                <a:ea typeface="汉仪粗仿宋简" panose="02010600000101010101" charset="-122"/>
              </a:rPr>
              <a:t>R</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{E,R} = PraseER(Sample(KD,d))</a:t>
            </a:r>
            <a:endParaRPr lang="en-US" altLang="zh-CN">
              <a:latin typeface="汉仪粗仿宋简" panose="02010600000101010101" charset="-122"/>
              <a:ea typeface="汉仪粗仿宋简" panose="02010600000101010101" charset="-122"/>
            </a:endParaRPr>
          </a:p>
          <a:p>
            <a:pPr indent="0">
              <a:lnSpc>
                <a:spcPct val="120000"/>
              </a:lnSpc>
              <a:buNone/>
            </a:pPr>
            <a:r>
              <a:rPr lang="zh-CN" altLang="en-US">
                <a:latin typeface="汉仪粗仿宋简" panose="02010600000101010101" charset="-122"/>
                <a:ea typeface="汉仪粗仿宋简" panose="02010600000101010101" charset="-122"/>
              </a:rPr>
              <a:t>由于原始实体列表</a:t>
            </a:r>
            <a:r>
              <a:rPr lang="en-US" altLang="zh-CN">
                <a:latin typeface="汉仪粗仿宋简" panose="02010600000101010101" charset="-122"/>
                <a:ea typeface="汉仪粗仿宋简" panose="02010600000101010101" charset="-122"/>
              </a:rPr>
              <a:t>E</a:t>
            </a:r>
            <a:r>
              <a:rPr lang="zh-CN" altLang="en-US">
                <a:latin typeface="汉仪粗仿宋简" panose="02010600000101010101" charset="-122"/>
                <a:ea typeface="汉仪粗仿宋简" panose="02010600000101010101" charset="-122"/>
              </a:rPr>
              <a:t>和关系列表</a:t>
            </a:r>
            <a:r>
              <a:rPr lang="en-US" altLang="zh-CN">
                <a:latin typeface="汉仪粗仿宋简" panose="02010600000101010101" charset="-122"/>
                <a:ea typeface="汉仪粗仿宋简" panose="02010600000101010101" charset="-122"/>
              </a:rPr>
              <a:t>R</a:t>
            </a:r>
            <a:r>
              <a:rPr lang="zh-CN" altLang="en-US">
                <a:latin typeface="汉仪粗仿宋简" panose="02010600000101010101" charset="-122"/>
                <a:ea typeface="汉仪粗仿宋简" panose="02010600000101010101" charset="-122"/>
              </a:rPr>
              <a:t>可能包含稀有类型的实体和关系，因此我们通过关注高频实体和关系来减少列表以避免离群值，从而增强水印的隐蔽性。</a:t>
            </a:r>
            <a:endParaRPr lang="zh-CN" altLang="en-US">
              <a:latin typeface="汉仪粗仿宋简" panose="02010600000101010101" charset="-122"/>
              <a:ea typeface="汉仪粗仿宋简" panose="02010600000101010101" charset="-122"/>
            </a:endParaRPr>
          </a:p>
        </p:txBody>
      </p:sp>
      <p:sp>
        <p:nvSpPr>
          <p:cNvPr id="14" name="文本框 13"/>
          <p:cNvSpPr txBox="1"/>
          <p:nvPr/>
        </p:nvSpPr>
        <p:spPr>
          <a:xfrm>
            <a:off x="455930" y="3768725"/>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水印实体和关系的生成</a:t>
            </a:r>
            <a:endParaRPr lang="zh-CN" altLang="en-US" b="1" u="sng">
              <a:solidFill>
                <a:srgbClr val="004180"/>
              </a:solidFill>
              <a:latin typeface="汉仪粗仿宋简" panose="02010600000101010101" charset="-122"/>
              <a:ea typeface="汉仪粗仿宋简" panose="02010600000101010101" charset="-122"/>
            </a:endParaRPr>
          </a:p>
          <a:p>
            <a:endParaRPr lang="zh-CN" altLang="en-US" b="1" u="sng">
              <a:solidFill>
                <a:srgbClr val="004180"/>
              </a:solidFill>
              <a:latin typeface="汉仪粗仿宋简" panose="02010600000101010101" charset="-122"/>
              <a:ea typeface="汉仪粗仿宋简" panose="02010600000101010101" charset="-122"/>
            </a:endParaRPr>
          </a:p>
        </p:txBody>
      </p:sp>
      <p:sp>
        <p:nvSpPr>
          <p:cNvPr id="15" name="文本框 14"/>
          <p:cNvSpPr txBox="1"/>
          <p:nvPr/>
        </p:nvSpPr>
        <p:spPr>
          <a:xfrm>
            <a:off x="455930" y="4148455"/>
            <a:ext cx="11584940" cy="1889760"/>
          </a:xfrm>
          <a:prstGeom prst="rect">
            <a:avLst/>
          </a:prstGeom>
          <a:noFill/>
        </p:spPr>
        <p:txBody>
          <a:bodyPr wrap="square" rtlCol="0">
            <a:spAutoFit/>
          </a:bodyPr>
          <a:p>
            <a:pPr>
              <a:lnSpc>
                <a:spcPct val="130000"/>
              </a:lnSpc>
            </a:pPr>
            <a:r>
              <a:rPr lang="zh-CN" altLang="en-US">
                <a:latin typeface="汉仪粗仿宋简" panose="02010600000101010101" charset="-122"/>
                <a:ea typeface="汉仪粗仿宋简" panose="02010600000101010101" charset="-122"/>
                <a:cs typeface="汉仪粗仿宋简" panose="02010600000101010101" charset="-122"/>
              </a:rPr>
              <a:t>为了构造水印文本，我们基于实体列表</a:t>
            </a:r>
            <a:r>
              <a:rPr lang="en-US" altLang="zh-CN">
                <a:latin typeface="汉仪粗仿宋简" panose="02010600000101010101" charset="-122"/>
                <a:ea typeface="汉仪粗仿宋简" panose="02010600000101010101" charset="-122"/>
                <a:cs typeface="汉仪粗仿宋简" panose="02010600000101010101" charset="-122"/>
              </a:rPr>
              <a:t>E</a:t>
            </a:r>
            <a:r>
              <a:rPr lang="zh-CN" altLang="en-US">
                <a:latin typeface="汉仪粗仿宋简" panose="02010600000101010101" charset="-122"/>
                <a:ea typeface="汉仪粗仿宋简" panose="02010600000101010101" charset="-122"/>
                <a:cs typeface="汉仪粗仿宋简" panose="02010600000101010101" charset="-122"/>
              </a:rPr>
              <a:t>和关系列表</a:t>
            </a:r>
            <a:r>
              <a:rPr lang="en-US" altLang="zh-CN">
                <a:latin typeface="汉仪粗仿宋简" panose="02010600000101010101" charset="-122"/>
                <a:ea typeface="汉仪粗仿宋简" panose="02010600000101010101" charset="-122"/>
                <a:cs typeface="汉仪粗仿宋简" panose="02010600000101010101" charset="-122"/>
              </a:rPr>
              <a:t>R</a:t>
            </a:r>
            <a:r>
              <a:rPr lang="zh-CN" altLang="en-US">
                <a:latin typeface="汉仪粗仿宋简" panose="02010600000101010101" charset="-122"/>
                <a:ea typeface="汉仪粗仿宋简" panose="02010600000101010101" charset="-122"/>
                <a:cs typeface="汉仪粗仿宋简" panose="02010600000101010101" charset="-122"/>
              </a:rPr>
              <a:t>生成一组格式为</a:t>
            </a:r>
            <a:r>
              <a:rPr lang="en-US" altLang="zh-CN">
                <a:latin typeface="Times New Roman" panose="02020603050405020304" pitchFamily="18" charset="0"/>
                <a:ea typeface="汉仪粗仿宋简" panose="02010600000101010101" charset="-122"/>
                <a:cs typeface="Times New Roman" panose="02020603050405020304" pitchFamily="18" charset="0"/>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rPr>
              <a:t>i</a:t>
            </a:r>
            <a:r>
              <a:rPr lang="en-US" altLang="zh-CN" baseline="-25000">
                <a:latin typeface="Times New Roman" panose="02020603050405020304" pitchFamily="18" charset="0"/>
                <a:ea typeface="汉仪粗仿宋简" panose="02010600000101010101" charset="-122"/>
                <a:cs typeface="Times New Roman" panose="02020603050405020304" pitchFamily="18" charset="0"/>
              </a:rPr>
              <a:t>wm</a:t>
            </a:r>
            <a:r>
              <a:rPr lang="en-US" altLang="zh-CN">
                <a:latin typeface="Times New Roman" panose="02020603050405020304" pitchFamily="18" charset="0"/>
                <a:ea typeface="汉仪粗仿宋简" panose="02010600000101010101" charset="-122"/>
                <a:cs typeface="Times New Roman" panose="02020603050405020304" pitchFamily="18" charset="0"/>
              </a:rPr>
              <a:t>,r</a:t>
            </a:r>
            <a:r>
              <a:rPr lang="en-US" altLang="zh-CN" baseline="30000">
                <a:latin typeface="Times New Roman" panose="02020603050405020304" pitchFamily="18" charset="0"/>
                <a:ea typeface="汉仪粗仿宋简" panose="02010600000101010101" charset="-122"/>
                <a:cs typeface="Times New Roman" panose="02020603050405020304" pitchFamily="18" charset="0"/>
              </a:rPr>
              <a:t>i,j</a:t>
            </a:r>
            <a:r>
              <a:rPr lang="en-US" altLang="zh-CN" baseline="-25000">
                <a:latin typeface="Times New Roman" panose="02020603050405020304" pitchFamily="18" charset="0"/>
                <a:ea typeface="汉仪粗仿宋简" panose="02010600000101010101" charset="-122"/>
                <a:cs typeface="Times New Roman" panose="02020603050405020304" pitchFamily="18" charset="0"/>
              </a:rPr>
              <a:t>wm</a:t>
            </a:r>
            <a:r>
              <a:rPr lang="en-US" altLang="zh-CN">
                <a:latin typeface="Times New Roman" panose="02020603050405020304" pitchFamily="18" charset="0"/>
                <a:ea typeface="汉仪粗仿宋简" panose="02010600000101010101" charset="-122"/>
                <a:cs typeface="Times New Roman" panose="02020603050405020304" pitchFamily="18" charset="0"/>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rPr>
              <a:t>j</a:t>
            </a:r>
            <a:r>
              <a:rPr lang="en-US" altLang="zh-CN" baseline="-25000">
                <a:latin typeface="Times New Roman" panose="02020603050405020304" pitchFamily="18" charset="0"/>
                <a:ea typeface="汉仪粗仿宋简" panose="02010600000101010101" charset="-122"/>
                <a:cs typeface="Times New Roman" panose="02020603050405020304" pitchFamily="18" charset="0"/>
              </a:rPr>
              <a:t>wm</a:t>
            </a:r>
            <a:r>
              <a:rPr lang="en-US" altLang="zh-CN">
                <a:latin typeface="Times New Roman" panose="02020603050405020304" pitchFamily="18" charset="0"/>
                <a:ea typeface="汉仪粗仿宋简" panose="02010600000101010101" charset="-122"/>
                <a:cs typeface="Times New Roman" panose="02020603050405020304" pitchFamily="18" charset="0"/>
              </a:rPr>
              <a:t>)</a:t>
            </a:r>
            <a:r>
              <a:rPr lang="zh-CN" altLang="en-US">
                <a:latin typeface="汉仪粗仿宋简" panose="02010600000101010101" charset="-122"/>
                <a:ea typeface="汉仪粗仿宋简" panose="02010600000101010101" charset="-122"/>
                <a:cs typeface="汉仪粗仿宋简" panose="02010600000101010101" charset="-122"/>
              </a:rPr>
              <a:t>的元组，需要将所有者的签名或标识符嵌入到这些水印元组中，但直接的嵌入会破坏水印的质量，解决办法是使用签名作为</a:t>
            </a:r>
            <a:r>
              <a:rPr lang="en-US" altLang="zh-CN">
                <a:latin typeface="汉仪粗仿宋简" panose="02010600000101010101" charset="-122"/>
                <a:ea typeface="汉仪粗仿宋简" panose="02010600000101010101" charset="-122"/>
                <a:cs typeface="汉仪粗仿宋简" panose="02010600000101010101" charset="-122"/>
              </a:rPr>
              <a:t>HMC</a:t>
            </a:r>
            <a:r>
              <a:rPr lang="zh-CN" altLang="en-US">
                <a:latin typeface="汉仪粗仿宋简" panose="02010600000101010101" charset="-122"/>
                <a:ea typeface="汉仪粗仿宋简" panose="02010600000101010101" charset="-122"/>
                <a:cs typeface="汉仪粗仿宋简" panose="02010600000101010101" charset="-122"/>
              </a:rPr>
              <a:t>的密钥来生成水印元组</a:t>
            </a:r>
            <a:r>
              <a:rPr lang="en-US" altLang="zh-CN">
                <a:latin typeface="汉仪粗仿宋简" panose="02010600000101010101" charset="-122"/>
                <a:ea typeface="汉仪粗仿宋简" panose="02010600000101010101" charset="-122"/>
                <a:cs typeface="汉仪粗仿宋简" panose="02010600000101010101" charset="-122"/>
                <a:sym typeface="+mn-ea"/>
              </a:rPr>
              <a:t>(e</a:t>
            </a:r>
            <a:r>
              <a:rPr lang="en-US" altLang="zh-CN" baseline="30000">
                <a:latin typeface="汉仪粗仿宋简" panose="02010600000101010101" charset="-122"/>
                <a:ea typeface="汉仪粗仿宋简" panose="02010600000101010101" charset="-122"/>
                <a:cs typeface="汉仪粗仿宋简" panose="02010600000101010101" charset="-122"/>
                <a:sym typeface="+mn-ea"/>
              </a:rPr>
              <a:t>i</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wm</a:t>
            </a:r>
            <a:r>
              <a:rPr lang="en-US" altLang="zh-CN">
                <a:latin typeface="汉仪粗仿宋简" panose="02010600000101010101" charset="-122"/>
                <a:ea typeface="汉仪粗仿宋简" panose="02010600000101010101" charset="-122"/>
                <a:cs typeface="汉仪粗仿宋简" panose="02010600000101010101" charset="-122"/>
                <a:sym typeface="+mn-ea"/>
              </a:rPr>
              <a:t>,r</a:t>
            </a:r>
            <a:r>
              <a:rPr lang="en-US" altLang="zh-CN" baseline="30000">
                <a:latin typeface="汉仪粗仿宋简" panose="02010600000101010101" charset="-122"/>
                <a:ea typeface="汉仪粗仿宋简" panose="02010600000101010101" charset="-122"/>
                <a:cs typeface="汉仪粗仿宋简" panose="02010600000101010101" charset="-122"/>
                <a:sym typeface="+mn-ea"/>
              </a:rPr>
              <a:t>i,j</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wm</a:t>
            </a:r>
            <a:r>
              <a:rPr lang="en-US" altLang="zh-CN">
                <a:latin typeface="汉仪粗仿宋简" panose="02010600000101010101" charset="-122"/>
                <a:ea typeface="汉仪粗仿宋简" panose="02010600000101010101" charset="-122"/>
                <a:cs typeface="汉仪粗仿宋简" panose="02010600000101010101" charset="-122"/>
                <a:sym typeface="+mn-ea"/>
              </a:rPr>
              <a:t>,e</a:t>
            </a:r>
            <a:r>
              <a:rPr lang="en-US" altLang="zh-CN" baseline="30000">
                <a:latin typeface="汉仪粗仿宋简" panose="02010600000101010101" charset="-122"/>
                <a:ea typeface="汉仪粗仿宋简" panose="02010600000101010101" charset="-122"/>
                <a:cs typeface="汉仪粗仿宋简" panose="02010600000101010101" charset="-122"/>
                <a:sym typeface="+mn-ea"/>
              </a:rPr>
              <a:t>j</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wm</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，第一个实体初始化为</a:t>
            </a:r>
            <a:r>
              <a:rPr lang="en-US" altLang="zh-CN">
                <a:latin typeface="汉仪粗仿宋简" panose="02010600000101010101" charset="-122"/>
                <a:ea typeface="汉仪粗仿宋简" panose="02010600000101010101" charset="-122"/>
                <a:cs typeface="汉仪粗仿宋简" panose="02010600000101010101" charset="-122"/>
                <a:sym typeface="+mn-ea"/>
              </a:rPr>
              <a:t>E</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wm</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后续实体生成公式</a:t>
            </a:r>
            <a:r>
              <a:rPr lang="zh-CN" altLang="en-US">
                <a:latin typeface="汉仪粗仿宋简" panose="02010600000101010101" charset="-122"/>
                <a:ea typeface="汉仪粗仿宋简" panose="02010600000101010101" charset="-122"/>
                <a:cs typeface="汉仪粗仿宋简" panose="02010600000101010101" charset="-122"/>
                <a:sym typeface="+mn-ea"/>
              </a:rPr>
              <a:t>为：</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a:lnSpc>
                <a:spcPct val="130000"/>
              </a:lnSpc>
            </a:pPr>
            <a:r>
              <a:rPr lang="zh-CN" altLang="en-US">
                <a:latin typeface="汉仪粗仿宋简" panose="02010600000101010101" charset="-122"/>
                <a:ea typeface="汉仪粗仿宋简" panose="02010600000101010101" charset="-122"/>
                <a:cs typeface="汉仪粗仿宋简" panose="02010600000101010101" charset="-122"/>
                <a:sym typeface="+mn-ea"/>
              </a:rPr>
              <a:t>最终生成实体列表</a:t>
            </a:r>
            <a:r>
              <a:rPr lang="en-US" altLang="zh-CN">
                <a:latin typeface="汉仪粗仿宋简" panose="02010600000101010101" charset="-122"/>
                <a:ea typeface="汉仪粗仿宋简" panose="02010600000101010101" charset="-122"/>
                <a:cs typeface="汉仪粗仿宋简" panose="02010600000101010101" charset="-122"/>
                <a:sym typeface="+mn-ea"/>
              </a:rPr>
              <a:t>E</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wm</a:t>
            </a:r>
            <a:r>
              <a:rPr lang="zh-CN" altLang="en-US">
                <a:latin typeface="汉仪粗仿宋简" panose="02010600000101010101" charset="-122"/>
                <a:ea typeface="汉仪粗仿宋简" panose="02010600000101010101" charset="-122"/>
                <a:cs typeface="汉仪粗仿宋简" panose="02010600000101010101" charset="-122"/>
                <a:sym typeface="+mn-ea"/>
              </a:rPr>
              <a:t>，</a:t>
            </a:r>
            <a:r>
              <a:rPr lang="en-US" altLang="zh-CN">
                <a:latin typeface="汉仪粗仿宋简" panose="02010600000101010101" charset="-122"/>
                <a:ea typeface="汉仪粗仿宋简" panose="02010600000101010101" charset="-122"/>
                <a:cs typeface="汉仪粗仿宋简" panose="02010600000101010101" charset="-122"/>
                <a:sym typeface="+mn-ea"/>
              </a:rPr>
              <a:t> </a:t>
            </a:r>
            <a:r>
              <a:rPr lang="zh-CN" altLang="en-US">
                <a:latin typeface="汉仪粗仿宋简" panose="02010600000101010101" charset="-122"/>
                <a:ea typeface="汉仪粗仿宋简" panose="02010600000101010101" charset="-122"/>
                <a:cs typeface="汉仪粗仿宋简" panose="02010600000101010101" charset="-122"/>
                <a:sym typeface="+mn-ea"/>
              </a:rPr>
              <a:t>而我们还需要建立实体之间的关系，实体可被视为图中的节点，关系即为图中的边。两个实体之间的关系存在时，关系生成公式</a:t>
            </a:r>
            <a:r>
              <a:rPr lang="zh-CN" altLang="en-US">
                <a:latin typeface="汉仪粗仿宋简" panose="02010600000101010101" charset="-122"/>
                <a:ea typeface="汉仪粗仿宋简" panose="02010600000101010101" charset="-122"/>
                <a:cs typeface="汉仪粗仿宋简" panose="02010600000101010101" charset="-122"/>
                <a:sym typeface="+mn-ea"/>
              </a:rPr>
              <a:t>为：</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p:txBody>
      </p:sp>
      <p:pic>
        <p:nvPicPr>
          <p:cNvPr id="11" name="图片 10"/>
          <p:cNvPicPr>
            <a:picLocks noChangeAspect="1"/>
          </p:cNvPicPr>
          <p:nvPr/>
        </p:nvPicPr>
        <p:blipFill>
          <a:blip r:embed="rId4"/>
          <a:stretch>
            <a:fillRect/>
          </a:stretch>
        </p:blipFill>
        <p:spPr>
          <a:xfrm>
            <a:off x="8154670" y="4972050"/>
            <a:ext cx="3484245" cy="352425"/>
          </a:xfrm>
          <a:prstGeom prst="rect">
            <a:avLst/>
          </a:prstGeom>
        </p:spPr>
      </p:pic>
      <p:pic>
        <p:nvPicPr>
          <p:cNvPr id="17" name="图片 16"/>
          <p:cNvPicPr>
            <a:picLocks noChangeAspect="1"/>
          </p:cNvPicPr>
          <p:nvPr/>
        </p:nvPicPr>
        <p:blipFill>
          <a:blip r:embed="rId5"/>
          <a:stretch>
            <a:fillRect/>
          </a:stretch>
        </p:blipFill>
        <p:spPr>
          <a:xfrm>
            <a:off x="5007610" y="5615940"/>
            <a:ext cx="4149090" cy="358775"/>
          </a:xfrm>
          <a:prstGeom prst="rect">
            <a:avLst/>
          </a:prstGeom>
        </p:spPr>
      </p:pic>
      <p:sp>
        <p:nvSpPr>
          <p:cNvPr id="18" name="文本框 17"/>
          <p:cNvSpPr txBox="1"/>
          <p:nvPr/>
        </p:nvSpPr>
        <p:spPr>
          <a:xfrm>
            <a:off x="455930" y="1348105"/>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实体和关系提取</a:t>
            </a:r>
            <a:endParaRPr lang="zh-CN" altLang="en-US" b="1" u="sng">
              <a:solidFill>
                <a:srgbClr val="004180"/>
              </a:solidFill>
              <a:latin typeface="汉仪粗仿宋简" panose="02010600000101010101" charset="-122"/>
              <a:ea typeface="汉仪粗仿宋简" panose="0201060000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框架</a:t>
            </a:r>
            <a:r>
              <a:rPr lang="zh-CN" altLang="en-US" b="1">
                <a:latin typeface="汉仪粗仿宋简" panose="02010600000101010101" charset="-122"/>
                <a:ea typeface="汉仪粗仿宋简" panose="02010600000101010101" charset="-122"/>
              </a:rPr>
              <a:t>流程</a:t>
            </a:r>
            <a:endParaRPr lang="zh-CN" altLang="en-US" b="1">
              <a:latin typeface="汉仪粗仿宋简" panose="02010600000101010101" charset="-122"/>
              <a:ea typeface="汉仪粗仿宋简" panose="02010600000101010101" charset="-122"/>
            </a:endParaRPr>
          </a:p>
        </p:txBody>
      </p:sp>
      <p:sp>
        <p:nvSpPr>
          <p:cNvPr id="11" name="文本框 10"/>
          <p:cNvSpPr txBox="1"/>
          <p:nvPr/>
        </p:nvSpPr>
        <p:spPr>
          <a:xfrm>
            <a:off x="328295" y="1297305"/>
            <a:ext cx="11365865" cy="368300"/>
          </a:xfrm>
          <a:prstGeom prst="rect">
            <a:avLst/>
          </a:prstGeom>
          <a:noFill/>
        </p:spPr>
        <p:txBody>
          <a:bodyPr wrap="square" rtlCol="0">
            <a:spAutoFit/>
          </a:bodyPr>
          <a:p>
            <a:r>
              <a:rPr lang="en-US" altLang="zh-CN">
                <a:latin typeface="汉仪粗仿宋简" panose="02010600000101010101" charset="-122"/>
                <a:ea typeface="汉仪粗仿宋简" panose="02010600000101010101" charset="-122"/>
                <a:cs typeface="汉仪粗仿宋简" panose="02010600000101010101" charset="-122"/>
              </a:rPr>
              <a:t>RAG-WM</a:t>
            </a:r>
            <a:r>
              <a:rPr lang="zh-CN" altLang="en-US">
                <a:latin typeface="汉仪粗仿宋简" panose="02010600000101010101" charset="-122"/>
                <a:ea typeface="汉仪粗仿宋简" panose="02010600000101010101" charset="-122"/>
                <a:cs typeface="汉仪粗仿宋简" panose="02010600000101010101" charset="-122"/>
              </a:rPr>
              <a:t>交互框架主要由三部分组成：水印生成器</a:t>
            </a:r>
            <a:r>
              <a:rPr lang="en-US" altLang="zh-CN">
                <a:latin typeface="汉仪粗仿宋简" panose="02010600000101010101" charset="-122"/>
                <a:ea typeface="汉仪粗仿宋简" panose="02010600000101010101" charset="-122"/>
                <a:cs typeface="汉仪粗仿宋简" panose="02010600000101010101" charset="-122"/>
              </a:rPr>
              <a:t>(WM-Gen)</a:t>
            </a:r>
            <a:r>
              <a:rPr lang="zh-CN" altLang="en-US">
                <a:latin typeface="汉仪粗仿宋简" panose="02010600000101010101" charset="-122"/>
                <a:ea typeface="汉仪粗仿宋简" panose="02010600000101010101" charset="-122"/>
                <a:cs typeface="汉仪粗仿宋简" panose="02010600000101010101" charset="-122"/>
              </a:rPr>
              <a:t>、水印辨别器</a:t>
            </a:r>
            <a:r>
              <a:rPr lang="en-US" altLang="zh-CN">
                <a:latin typeface="汉仪粗仿宋简" panose="02010600000101010101" charset="-122"/>
                <a:ea typeface="汉仪粗仿宋简" panose="02010600000101010101" charset="-122"/>
                <a:cs typeface="汉仪粗仿宋简" panose="02010600000101010101" charset="-122"/>
              </a:rPr>
              <a:t>(WM-Disc)</a:t>
            </a:r>
            <a:r>
              <a:rPr lang="zh-CN" altLang="en-US">
                <a:latin typeface="汉仪粗仿宋简" panose="02010600000101010101" charset="-122"/>
                <a:ea typeface="汉仪粗仿宋简" panose="02010600000101010101" charset="-122"/>
                <a:cs typeface="汉仪粗仿宋简" panose="02010600000101010101" charset="-122"/>
              </a:rPr>
              <a:t>、和阴影</a:t>
            </a:r>
            <a:r>
              <a:rPr lang="en-US" altLang="zh-CN">
                <a:latin typeface="汉仪粗仿宋简" panose="02010600000101010101" charset="-122"/>
                <a:ea typeface="汉仪粗仿宋简" panose="02010600000101010101" charset="-122"/>
                <a:cs typeface="汉仪粗仿宋简" panose="02010600000101010101" charset="-122"/>
              </a:rPr>
              <a:t>LLM&amp;RAG</a:t>
            </a:r>
            <a:endParaRPr lang="en-US" altLang="zh-CN">
              <a:latin typeface="汉仪粗仿宋简" panose="02010600000101010101" charset="-122"/>
              <a:ea typeface="汉仪粗仿宋简" panose="02010600000101010101" charset="-122"/>
              <a:cs typeface="汉仪粗仿宋简" panose="02010600000101010101" charset="-122"/>
            </a:endParaRPr>
          </a:p>
        </p:txBody>
      </p:sp>
      <p:pic>
        <p:nvPicPr>
          <p:cNvPr id="6" name="图片 5"/>
          <p:cNvPicPr>
            <a:picLocks noChangeAspect="1"/>
          </p:cNvPicPr>
          <p:nvPr/>
        </p:nvPicPr>
        <p:blipFill>
          <a:blip r:embed="rId4"/>
          <a:stretch>
            <a:fillRect/>
          </a:stretch>
        </p:blipFill>
        <p:spPr>
          <a:xfrm>
            <a:off x="2794000" y="1962150"/>
            <a:ext cx="6934200" cy="41052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293560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水印</a:t>
            </a:r>
            <a:r>
              <a:rPr lang="zh-CN" altLang="en-US" b="1">
                <a:latin typeface="汉仪粗仿宋简" panose="02010600000101010101" charset="-122"/>
                <a:ea typeface="汉仪粗仿宋简" panose="02010600000101010101" charset="-122"/>
              </a:rPr>
              <a:t>注入</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392430" y="1783080"/>
            <a:ext cx="11292205" cy="1554480"/>
          </a:xfrm>
          <a:prstGeom prst="rect">
            <a:avLst/>
          </a:prstGeom>
          <a:noFill/>
        </p:spPr>
        <p:txBody>
          <a:bodyPr wrap="square" rtlCol="0">
            <a:noAutofit/>
          </a:bodyPr>
          <a:p>
            <a:pPr indent="0">
              <a:lnSpc>
                <a:spcPct val="120000"/>
              </a:lnSpc>
              <a:buNone/>
            </a:pPr>
            <a:r>
              <a:rPr lang="zh-CN" altLang="en-US">
                <a:latin typeface="汉仪粗仿宋简" panose="02010600000101010101" charset="-122"/>
                <a:ea typeface="汉仪粗仿宋简" panose="02010600000101010101" charset="-122"/>
              </a:rPr>
              <a:t>交互框架由三部分组成：水印生成器、水印辨别器和阴影</a:t>
            </a:r>
            <a:r>
              <a:rPr lang="en-US" altLang="zh-CN">
                <a:latin typeface="汉仪粗仿宋简" panose="02010600000101010101" charset="-122"/>
                <a:ea typeface="汉仪粗仿宋简" panose="02010600000101010101" charset="-122"/>
              </a:rPr>
              <a:t>LLM&amp;RAG</a:t>
            </a:r>
            <a:r>
              <a:rPr lang="zh-CN" altLang="en-US">
                <a:latin typeface="汉仪粗仿宋简" panose="02010600000101010101" charset="-122"/>
                <a:ea typeface="汉仪粗仿宋简" panose="02010600000101010101" charset="-122"/>
              </a:rPr>
              <a:t>，首先生成器生成多个水印文本，接着水印辨别器</a:t>
            </a:r>
            <a:r>
              <a:rPr lang="en-US" altLang="zh-CN">
                <a:latin typeface="汉仪粗仿宋简" panose="02010600000101010101" charset="-122"/>
                <a:ea typeface="汉仪粗仿宋简" panose="02010600000101010101" charset="-122"/>
              </a:rPr>
              <a:t>WM-Disc</a:t>
            </a:r>
            <a:r>
              <a:rPr lang="zh-CN" altLang="en-US">
                <a:latin typeface="汉仪粗仿宋简" panose="02010600000101010101" charset="-122"/>
                <a:ea typeface="汉仪粗仿宋简" panose="02010600000101010101" charset="-122"/>
              </a:rPr>
              <a:t>利用水印验证问题</a:t>
            </a:r>
            <a:r>
              <a:rPr lang="en-US" altLang="zh-CN">
                <a:latin typeface="汉仪粗仿宋简" panose="02010600000101010101" charset="-122"/>
                <a:ea typeface="汉仪粗仿宋简" panose="02010600000101010101" charset="-122"/>
              </a:rPr>
              <a:t>WQ</a:t>
            </a:r>
            <a:r>
              <a:rPr lang="zh-CN" altLang="en-US">
                <a:latin typeface="汉仪粗仿宋简" panose="02010600000101010101" charset="-122"/>
                <a:ea typeface="汉仪粗仿宋简" panose="02010600000101010101" charset="-122"/>
              </a:rPr>
              <a:t>来查询阴影</a:t>
            </a:r>
            <a:r>
              <a:rPr lang="en-US" altLang="zh-CN">
                <a:latin typeface="汉仪粗仿宋简" panose="02010600000101010101" charset="-122"/>
                <a:ea typeface="汉仪粗仿宋简" panose="02010600000101010101" charset="-122"/>
              </a:rPr>
              <a:t>LLM&amp;RAG</a:t>
            </a:r>
            <a:r>
              <a:rPr lang="zh-CN" altLang="en-US">
                <a:latin typeface="汉仪粗仿宋简" panose="02010600000101010101" charset="-122"/>
                <a:ea typeface="汉仪粗仿宋简" panose="02010600000101010101" charset="-122"/>
              </a:rPr>
              <a:t>系统，获得</a:t>
            </a:r>
            <a:r>
              <a:rPr lang="en-US" altLang="zh-CN">
                <a:latin typeface="汉仪粗仿宋简" panose="02010600000101010101" charset="-122"/>
                <a:ea typeface="汉仪粗仿宋简" panose="02010600000101010101" charset="-122"/>
              </a:rPr>
              <a:t>Answer Ans</a:t>
            </a:r>
            <a:r>
              <a:rPr lang="zh-CN" altLang="en-US">
                <a:latin typeface="汉仪粗仿宋简" panose="02010600000101010101" charset="-122"/>
                <a:ea typeface="汉仪粗仿宋简" panose="02010600000101010101" charset="-122"/>
              </a:rPr>
              <a:t>，检查</a:t>
            </a:r>
            <a:r>
              <a:rPr lang="en-US" altLang="zh-CN">
                <a:latin typeface="汉仪粗仿宋简" panose="02010600000101010101" charset="-122"/>
                <a:ea typeface="汉仪粗仿宋简" panose="02010600000101010101" charset="-122"/>
              </a:rPr>
              <a:t>WQ⊕Ans(⊕</a:t>
            </a:r>
            <a:r>
              <a:rPr lang="zh-CN" altLang="en-US">
                <a:latin typeface="汉仪粗仿宋简" panose="02010600000101010101" charset="-122"/>
                <a:ea typeface="汉仪粗仿宋简" panose="02010600000101010101" charset="-122"/>
              </a:rPr>
              <a:t>表示文本连接</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是否包含水印信息，如果被检测到说明成功嵌入了水印信息。否则</a:t>
            </a:r>
            <a:r>
              <a:rPr lang="en-US" altLang="zh-CN">
                <a:latin typeface="汉仪粗仿宋简" panose="02010600000101010101" charset="-122"/>
                <a:ea typeface="汉仪粗仿宋简" panose="02010600000101010101" charset="-122"/>
              </a:rPr>
              <a:t>WM-Disc</a:t>
            </a:r>
            <a:r>
              <a:rPr lang="zh-CN" altLang="en-US">
                <a:latin typeface="汉仪粗仿宋简" panose="02010600000101010101" charset="-122"/>
                <a:ea typeface="汉仪粗仿宋简" panose="02010600000101010101" charset="-122"/>
              </a:rPr>
              <a:t>给</a:t>
            </a:r>
            <a:r>
              <a:rPr lang="en-US" altLang="zh-CN">
                <a:latin typeface="汉仪粗仿宋简" panose="02010600000101010101" charset="-122"/>
                <a:ea typeface="汉仪粗仿宋简" panose="02010600000101010101" charset="-122"/>
              </a:rPr>
              <a:t>WM-Gen</a:t>
            </a:r>
            <a:r>
              <a:rPr lang="zh-CN" altLang="en-US">
                <a:latin typeface="汉仪粗仿宋简" panose="02010600000101010101" charset="-122"/>
                <a:ea typeface="汉仪粗仿宋简" panose="02010600000101010101" charset="-122"/>
              </a:rPr>
              <a:t>发送反馈信息重新尝试水印的生成直到嵌入成功。</a:t>
            </a:r>
            <a:endParaRPr lang="zh-CN" altLang="en-US">
              <a:latin typeface="汉仪粗仿宋简" panose="02010600000101010101" charset="-122"/>
              <a:ea typeface="汉仪粗仿宋简" panose="02010600000101010101" charset="-122"/>
            </a:endParaRPr>
          </a:p>
        </p:txBody>
      </p:sp>
      <p:sp>
        <p:nvSpPr>
          <p:cNvPr id="14" name="文本框 13"/>
          <p:cNvSpPr txBox="1"/>
          <p:nvPr/>
        </p:nvSpPr>
        <p:spPr>
          <a:xfrm>
            <a:off x="455930" y="3750945"/>
            <a:ext cx="2900680" cy="353060"/>
          </a:xfrm>
          <a:prstGeom prst="rect">
            <a:avLst/>
          </a:prstGeom>
          <a:noFill/>
        </p:spPr>
        <p:txBody>
          <a:bodyPr wrap="square" rtlCol="0">
            <a:noAutofit/>
          </a:bodyPr>
          <a:p>
            <a:r>
              <a:rPr lang="en-US" altLang="zh-CN" b="1" u="sng">
                <a:solidFill>
                  <a:srgbClr val="004180"/>
                </a:solidFill>
                <a:latin typeface="汉仪粗仿宋简" panose="02010600000101010101" charset="-122"/>
                <a:ea typeface="汉仪粗仿宋简" panose="02010600000101010101" charset="-122"/>
              </a:rPr>
              <a:t>Shadow LLM&amp;RAG</a:t>
            </a:r>
            <a:endParaRPr lang="en-US" altLang="zh-CN" b="1" u="sng">
              <a:solidFill>
                <a:srgbClr val="004180"/>
              </a:solidFill>
              <a:latin typeface="汉仪粗仿宋简" panose="02010600000101010101" charset="-122"/>
              <a:ea typeface="汉仪粗仿宋简" panose="02010600000101010101" charset="-122"/>
            </a:endParaRPr>
          </a:p>
        </p:txBody>
      </p:sp>
      <p:sp>
        <p:nvSpPr>
          <p:cNvPr id="15" name="文本框 14"/>
          <p:cNvSpPr txBox="1"/>
          <p:nvPr/>
        </p:nvSpPr>
        <p:spPr>
          <a:xfrm>
            <a:off x="392430" y="4324985"/>
            <a:ext cx="11292840" cy="1170305"/>
          </a:xfrm>
          <a:prstGeom prst="rect">
            <a:avLst/>
          </a:prstGeom>
          <a:noFill/>
        </p:spPr>
        <p:txBody>
          <a:bodyPr wrap="square" rtlCol="0">
            <a:spAutoFit/>
          </a:bodyPr>
          <a:p>
            <a:pPr>
              <a:lnSpc>
                <a:spcPct val="130000"/>
              </a:lnSpc>
            </a:pPr>
            <a:r>
              <a:rPr lang="en-US" altLang="zh-CN">
                <a:latin typeface="汉仪粗仿宋简" panose="02010600000101010101" charset="-122"/>
                <a:ea typeface="汉仪粗仿宋简" panose="02010600000101010101" charset="-122"/>
                <a:cs typeface="汉仪粗仿宋简" panose="02010600000101010101" charset="-122"/>
                <a:sym typeface="+mn-ea"/>
              </a:rPr>
              <a:t>Shadow-LLM&amp;RAG </a:t>
            </a:r>
            <a:r>
              <a:rPr lang="zh-CN" altLang="en-US">
                <a:latin typeface="汉仪粗仿宋简" panose="02010600000101010101" charset="-122"/>
                <a:ea typeface="汉仪粗仿宋简" panose="02010600000101010101" charset="-122"/>
                <a:cs typeface="汉仪粗仿宋简" panose="02010600000101010101" charset="-122"/>
                <a:sym typeface="+mn-ea"/>
              </a:rPr>
              <a:t>是一种模拟机制，由</a:t>
            </a:r>
            <a:r>
              <a:rPr lang="en-US" altLang="zh-CN">
                <a:latin typeface="汉仪粗仿宋简" panose="02010600000101010101" charset="-122"/>
                <a:ea typeface="汉仪粗仿宋简" panose="02010600000101010101" charset="-122"/>
                <a:cs typeface="汉仪粗仿宋简" panose="02010600000101010101" charset="-122"/>
                <a:sym typeface="+mn-ea"/>
              </a:rPr>
              <a:t>RAG</a:t>
            </a:r>
            <a:r>
              <a:rPr lang="zh-CN" altLang="en-US">
                <a:latin typeface="汉仪粗仿宋简" panose="02010600000101010101" charset="-122"/>
                <a:ea typeface="汉仪粗仿宋简" panose="02010600000101010101" charset="-122"/>
                <a:cs typeface="汉仪粗仿宋简" panose="02010600000101010101" charset="-122"/>
                <a:sym typeface="+mn-ea"/>
              </a:rPr>
              <a:t>的所有者构建，用于重现潜在对手窃取并部署</a:t>
            </a:r>
            <a:r>
              <a:rPr lang="en-US" altLang="zh-CN">
                <a:latin typeface="汉仪粗仿宋简" panose="02010600000101010101" charset="-122"/>
                <a:ea typeface="汉仪粗仿宋简" panose="02010600000101010101" charset="-122"/>
                <a:cs typeface="汉仪粗仿宋简" panose="02010600000101010101" charset="-122"/>
                <a:sym typeface="+mn-ea"/>
              </a:rPr>
              <a:t>RAG</a:t>
            </a:r>
            <a:r>
              <a:rPr lang="zh-CN" altLang="en-US">
                <a:latin typeface="汉仪粗仿宋简" panose="02010600000101010101" charset="-122"/>
                <a:ea typeface="汉仪粗仿宋简" panose="02010600000101010101" charset="-122"/>
                <a:cs typeface="汉仪粗仿宋简" panose="02010600000101010101" charset="-122"/>
                <a:sym typeface="+mn-ea"/>
              </a:rPr>
              <a:t>系统的场景。由一个本地化的影子</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以及一个嵌入水印的</a:t>
            </a:r>
            <a:r>
              <a:rPr lang="en-US" altLang="zh-CN">
                <a:latin typeface="汉仪粗仿宋简" panose="02010600000101010101" charset="-122"/>
                <a:ea typeface="汉仪粗仿宋简" panose="02010600000101010101" charset="-122"/>
                <a:cs typeface="汉仪粗仿宋简" panose="02010600000101010101" charset="-122"/>
                <a:sym typeface="+mn-ea"/>
              </a:rPr>
              <a:t>RAG</a:t>
            </a:r>
            <a:r>
              <a:rPr lang="zh-CN" altLang="en-US">
                <a:latin typeface="汉仪粗仿宋简" panose="02010600000101010101" charset="-122"/>
                <a:ea typeface="汉仪粗仿宋简" panose="02010600000101010101" charset="-122"/>
                <a:cs typeface="汉仪粗仿宋简" panose="02010600000101010101" charset="-122"/>
                <a:sym typeface="+mn-ea"/>
              </a:rPr>
              <a:t>组成，目的是模拟对手的部署环境测试水印知识的鲁棒性和可检索性。</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p:txBody>
      </p:sp>
      <p:sp>
        <p:nvSpPr>
          <p:cNvPr id="18" name="文本框 17"/>
          <p:cNvSpPr txBox="1"/>
          <p:nvPr/>
        </p:nvSpPr>
        <p:spPr>
          <a:xfrm>
            <a:off x="455295" y="1314450"/>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多</a:t>
            </a:r>
            <a:r>
              <a:rPr lang="en-US" altLang="zh-CN" b="1" u="sng">
                <a:solidFill>
                  <a:srgbClr val="004180"/>
                </a:solidFill>
                <a:latin typeface="汉仪粗仿宋简" panose="02010600000101010101" charset="-122"/>
                <a:ea typeface="汉仪粗仿宋简" panose="02010600000101010101" charset="-122"/>
              </a:rPr>
              <a:t>LLM</a:t>
            </a:r>
            <a:r>
              <a:rPr lang="zh-CN" altLang="en-US" b="1" u="sng">
                <a:solidFill>
                  <a:srgbClr val="004180"/>
                </a:solidFill>
                <a:latin typeface="汉仪粗仿宋简" panose="02010600000101010101" charset="-122"/>
                <a:ea typeface="汉仪粗仿宋简" panose="02010600000101010101" charset="-122"/>
              </a:rPr>
              <a:t>交互水印</a:t>
            </a:r>
            <a:r>
              <a:rPr lang="zh-CN" altLang="en-US" b="1" u="sng">
                <a:solidFill>
                  <a:srgbClr val="004180"/>
                </a:solidFill>
                <a:latin typeface="汉仪粗仿宋简" panose="02010600000101010101" charset="-122"/>
                <a:ea typeface="汉仪粗仿宋简" panose="02010600000101010101" charset="-122"/>
              </a:rPr>
              <a:t>技术</a:t>
            </a:r>
            <a:endParaRPr lang="zh-CN" altLang="en-US" b="1" u="sng">
              <a:solidFill>
                <a:srgbClr val="004180"/>
              </a:solidFill>
              <a:latin typeface="汉仪粗仿宋简" panose="02010600000101010101" charset="-122"/>
              <a:ea typeface="汉仪粗仿宋简" panose="0201060000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293560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水印</a:t>
            </a:r>
            <a:r>
              <a:rPr lang="zh-CN" altLang="en-US" b="1">
                <a:latin typeface="汉仪粗仿宋简" panose="02010600000101010101" charset="-122"/>
                <a:ea typeface="汉仪粗仿宋简" panose="02010600000101010101" charset="-122"/>
              </a:rPr>
              <a:t>注入</a:t>
            </a:r>
            <a:endParaRPr lang="zh-CN" altLang="en-US" b="1">
              <a:latin typeface="汉仪粗仿宋简" panose="02010600000101010101" charset="-122"/>
              <a:ea typeface="汉仪粗仿宋简" panose="02010600000101010101" charset="-122"/>
            </a:endParaRPr>
          </a:p>
        </p:txBody>
      </p:sp>
      <p:sp>
        <p:nvSpPr>
          <p:cNvPr id="18" name="文本框 17"/>
          <p:cNvSpPr txBox="1"/>
          <p:nvPr/>
        </p:nvSpPr>
        <p:spPr>
          <a:xfrm>
            <a:off x="455295" y="1314450"/>
            <a:ext cx="2900680" cy="353060"/>
          </a:xfrm>
          <a:prstGeom prst="rect">
            <a:avLst/>
          </a:prstGeom>
          <a:noFill/>
        </p:spPr>
        <p:txBody>
          <a:bodyPr wrap="square" rtlCol="0">
            <a:noAutofit/>
          </a:bodyPr>
          <a:p>
            <a:r>
              <a:rPr lang="en-US" altLang="zh-CN" b="1" u="sng">
                <a:solidFill>
                  <a:srgbClr val="004180"/>
                </a:solidFill>
                <a:latin typeface="汉仪粗仿宋简" panose="02010600000101010101" charset="-122"/>
                <a:ea typeface="汉仪粗仿宋简" panose="02010600000101010101" charset="-122"/>
              </a:rPr>
              <a:t>WM-Disc</a:t>
            </a:r>
            <a:endParaRPr lang="en-US" altLang="zh-CN" b="1" u="sng">
              <a:solidFill>
                <a:srgbClr val="004180"/>
              </a:solidFill>
              <a:latin typeface="汉仪粗仿宋简" panose="02010600000101010101" charset="-122"/>
              <a:ea typeface="汉仪粗仿宋简" panose="02010600000101010101" charset="-122"/>
            </a:endParaRPr>
          </a:p>
        </p:txBody>
      </p:sp>
      <p:pic>
        <p:nvPicPr>
          <p:cNvPr id="16" name="图片 15"/>
          <p:cNvPicPr>
            <a:picLocks noChangeAspect="1"/>
          </p:cNvPicPr>
          <p:nvPr/>
        </p:nvPicPr>
        <p:blipFill>
          <a:blip r:embed="rId4"/>
          <a:stretch>
            <a:fillRect/>
          </a:stretch>
        </p:blipFill>
        <p:spPr>
          <a:xfrm>
            <a:off x="8121015" y="5355590"/>
            <a:ext cx="3726815" cy="320040"/>
          </a:xfrm>
          <a:prstGeom prst="rect">
            <a:avLst/>
          </a:prstGeom>
        </p:spPr>
      </p:pic>
      <p:sp>
        <p:nvSpPr>
          <p:cNvPr id="17" name="圆角矩形 16"/>
          <p:cNvSpPr/>
          <p:nvPr/>
        </p:nvSpPr>
        <p:spPr>
          <a:xfrm>
            <a:off x="393700" y="2805430"/>
            <a:ext cx="11374755" cy="1795145"/>
          </a:xfrm>
          <a:prstGeom prst="roundRect">
            <a:avLst/>
          </a:prstGeom>
          <a:solidFill>
            <a:srgbClr val="BFBFBF"/>
          </a:solidFill>
          <a:ln w="28575">
            <a:solidFill>
              <a:srgbClr val="BFBFBF"/>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文本框 7" descr="7b0a202020202262756c6c6574223a20227b5c2263617465676f727949645c223a5c225c222c5c2274656d706c61746549645c223a32303233313731347d220a7d0a"/>
          <p:cNvSpPr txBox="1"/>
          <p:nvPr/>
        </p:nvSpPr>
        <p:spPr>
          <a:xfrm>
            <a:off x="393065" y="1686560"/>
            <a:ext cx="11292205" cy="4905375"/>
          </a:xfrm>
          <a:prstGeom prst="rect">
            <a:avLst/>
          </a:prstGeom>
          <a:noFill/>
        </p:spPr>
        <p:txBody>
          <a:bodyPr wrap="square" rtlCol="0">
            <a:noAutofit/>
          </a:bodyPr>
          <a:p>
            <a:pPr indent="0">
              <a:lnSpc>
                <a:spcPct val="130000"/>
              </a:lnSpc>
              <a:buNone/>
            </a:pPr>
            <a:r>
              <a:rPr lang="en-US" altLang="zh-CN">
                <a:latin typeface="汉仪粗仿宋简" panose="02010600000101010101" charset="-122"/>
                <a:ea typeface="汉仪粗仿宋简" panose="02010600000101010101" charset="-122"/>
              </a:rPr>
              <a:t>WM-Disc</a:t>
            </a:r>
            <a:r>
              <a:rPr lang="zh-CN" altLang="en-US">
                <a:latin typeface="汉仪粗仿宋简" panose="02010600000101010101" charset="-122"/>
                <a:ea typeface="汉仪粗仿宋简" panose="02010600000101010101" charset="-122"/>
              </a:rPr>
              <a:t>是</a:t>
            </a:r>
            <a:r>
              <a:rPr lang="en-US" altLang="zh-CN">
                <a:latin typeface="汉仪粗仿宋简" panose="02010600000101010101" charset="-122"/>
                <a:ea typeface="汉仪粗仿宋简" panose="02010600000101010101" charset="-122"/>
              </a:rPr>
              <a:t>RAG-WM</a:t>
            </a:r>
            <a:r>
              <a:rPr lang="zh-CN" altLang="en-US">
                <a:latin typeface="汉仪粗仿宋简" panose="02010600000101010101" charset="-122"/>
                <a:ea typeface="汉仪粗仿宋简" panose="02010600000101010101" charset="-122"/>
              </a:rPr>
              <a:t>框架中的一个关键判别组件，用于提升水印文本的质量并验证水印知识的嵌入有效性。它通过查询影子系统，基于水印生成器派生的水印实体</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关系元组，生成一组水印验证问题（</a:t>
            </a:r>
            <a:r>
              <a:rPr lang="en-US" altLang="zh-CN">
                <a:latin typeface="汉仪粗仿宋简" panose="02010600000101010101" charset="-122"/>
                <a:ea typeface="汉仪粗仿宋简" panose="02010600000101010101" charset="-122"/>
              </a:rPr>
              <a:t>WQ</a:t>
            </a:r>
            <a:r>
              <a:rPr lang="zh-CN" altLang="en-US">
                <a:latin typeface="汉仪粗仿宋简" panose="02010600000101010101" charset="-122"/>
                <a:ea typeface="汉仪粗仿宋简" panose="02010600000101010101" charset="-122"/>
              </a:rPr>
              <a:t>），这些</a:t>
            </a:r>
            <a:r>
              <a:rPr lang="en-US" altLang="zh-CN">
                <a:latin typeface="汉仪粗仿宋简" panose="02010600000101010101" charset="-122"/>
                <a:ea typeface="汉仪粗仿宋简" panose="02010600000101010101" charset="-122"/>
              </a:rPr>
              <a:t>WQ</a:t>
            </a:r>
            <a:r>
              <a:rPr lang="zh-CN" altLang="en-US">
                <a:latin typeface="汉仪粗仿宋简" panose="02010600000101010101" charset="-122"/>
                <a:ea typeface="汉仪粗仿宋简" panose="02010600000101010101" charset="-122"/>
              </a:rPr>
              <a:t>旨在促进水印文本（</a:t>
            </a:r>
            <a:r>
              <a:rPr lang="en-US" altLang="zh-CN">
                <a:latin typeface="汉仪粗仿宋简" panose="02010600000101010101" charset="-122"/>
                <a:ea typeface="汉仪粗仿宋简" panose="02010600000101010101" charset="-122"/>
              </a:rPr>
              <a:t>WT</a:t>
            </a:r>
            <a:r>
              <a:rPr lang="zh-CN" altLang="en-US">
                <a:latin typeface="汉仪粗仿宋简" panose="02010600000101010101" charset="-122"/>
                <a:ea typeface="汉仪粗仿宋简" panose="02010600000101010101" charset="-122"/>
              </a:rPr>
              <a:t>）从</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中的检索，且可自定义为显式还是隐式。</a:t>
            </a:r>
            <a:endParaRPr lang="zh-CN" altLang="en-US">
              <a:latin typeface="汉仪粗仿宋简" panose="02010600000101010101" charset="-122"/>
              <a:ea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rPr>
              <a:t>例子：对于水印文本</a:t>
            </a:r>
            <a:r>
              <a:rPr lang="en-US" altLang="zh-CN">
                <a:latin typeface="汉仪粗仿宋简" panose="02010600000101010101" charset="-122"/>
                <a:ea typeface="汉仪粗仿宋简" panose="02010600000101010101" charset="-122"/>
              </a:rPr>
              <a:t>“</a:t>
            </a:r>
            <a:r>
              <a:rPr lang="en-US" altLang="zh-CN">
                <a:latin typeface="Times New Roman" panose="02020603050405020304" pitchFamily="18" charset="0"/>
                <a:ea typeface="汉仪粗仿宋简" panose="02010600000101010101" charset="-122"/>
                <a:cs typeface="Times New Roman" panose="02020603050405020304" pitchFamily="18" charset="0"/>
              </a:rPr>
              <a:t>Tom is a student and studies at Harvard University</a:t>
            </a:r>
            <a:r>
              <a:rPr lang="en-US" altLang="zh-CN">
                <a:latin typeface="汉仪粗仿宋简" panose="02010600000101010101" charset="-122"/>
                <a:ea typeface="汉仪粗仿宋简" panose="02010600000101010101" charset="-122"/>
              </a:rPr>
              <a:t>”</a:t>
            </a:r>
            <a:endParaRPr lang="en-US" altLang="zh-CN">
              <a:latin typeface="汉仪粗仿宋简" panose="02010600000101010101" charset="-122"/>
              <a:ea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rPr>
              <a:t>实体关系元组：</a:t>
            </a:r>
            <a:r>
              <a:rPr lang="en-US" altLang="zh-CN">
                <a:latin typeface="汉仪粗仿宋简" panose="02010600000101010101" charset="-122"/>
                <a:ea typeface="汉仪粗仿宋简" panose="02010600000101010101" charset="-122"/>
              </a:rPr>
              <a:t>(</a:t>
            </a:r>
            <a:r>
              <a:rPr lang="en-US" altLang="zh-CN">
                <a:latin typeface="Times New Roman" panose="02020603050405020304" pitchFamily="18" charset="0"/>
                <a:ea typeface="汉仪粗仿宋简" panose="02010600000101010101" charset="-122"/>
                <a:cs typeface="Times New Roman" panose="02020603050405020304" pitchFamily="18" charset="0"/>
              </a:rPr>
              <a:t>Tom, studies at, Harvard University</a:t>
            </a:r>
            <a:r>
              <a:rPr lang="en-US" altLang="zh-CN">
                <a:latin typeface="汉仪粗仿宋简" panose="02010600000101010101" charset="-122"/>
                <a:ea typeface="汉仪粗仿宋简" panose="02010600000101010101" charset="-122"/>
              </a:rPr>
              <a:t>)</a:t>
            </a:r>
            <a:endParaRPr lang="zh-CN" altLang="en-US">
              <a:latin typeface="汉仪粗仿宋简" panose="02010600000101010101" charset="-122"/>
              <a:ea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rPr>
              <a:t>显式查询：</a:t>
            </a:r>
            <a:r>
              <a:rPr lang="en-US" altLang="zh-CN">
                <a:latin typeface="汉仪粗仿宋简" panose="02010600000101010101" charset="-122"/>
                <a:ea typeface="汉仪粗仿宋简" panose="02010600000101010101" charset="-122"/>
              </a:rPr>
              <a:t>“</a:t>
            </a:r>
            <a:r>
              <a:rPr lang="en-US" altLang="zh-CN">
                <a:latin typeface="Times New Roman" panose="02020603050405020304" pitchFamily="18" charset="0"/>
                <a:ea typeface="汉仪粗仿宋简" panose="02010600000101010101" charset="-122"/>
                <a:cs typeface="Times New Roman" panose="02020603050405020304" pitchFamily="18" charset="0"/>
              </a:rPr>
              <a:t>Where does Tom study at?</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或</a:t>
            </a:r>
            <a:r>
              <a:rPr lang="en-US" altLang="zh-CN">
                <a:latin typeface="汉仪粗仿宋简" panose="02010600000101010101" charset="-122"/>
                <a:ea typeface="汉仪粗仿宋简" panose="02010600000101010101" charset="-122"/>
              </a:rPr>
              <a:t>“</a:t>
            </a:r>
            <a:r>
              <a:rPr lang="en-US" altLang="zh-CN">
                <a:latin typeface="Times New Roman" panose="02020603050405020304" pitchFamily="18" charset="0"/>
                <a:ea typeface="汉仪粗仿宋简" panose="02010600000101010101" charset="-122"/>
                <a:cs typeface="Times New Roman" panose="02020603050405020304" pitchFamily="18" charset="0"/>
              </a:rPr>
              <a:t>Which university is Tom affiliated with?</a:t>
            </a:r>
            <a:r>
              <a:rPr lang="en-US" altLang="zh-CN">
                <a:latin typeface="汉仪粗仿宋简" panose="02010600000101010101" charset="-122"/>
                <a:ea typeface="汉仪粗仿宋简" panose="02010600000101010101" charset="-122"/>
              </a:rPr>
              <a:t>”</a:t>
            </a:r>
            <a:endParaRPr lang="en-US" altLang="zh-CN">
              <a:latin typeface="汉仪粗仿宋简" panose="02010600000101010101" charset="-122"/>
              <a:ea typeface="汉仪粗仿宋简" panose="02010600000101010101" charset="-122"/>
            </a:endParaRPr>
          </a:p>
          <a:p>
            <a:pPr indent="0">
              <a:lnSpc>
                <a:spcPct val="130000"/>
              </a:lnSpc>
              <a:buNone/>
            </a:pPr>
            <a:r>
              <a:rPr lang="zh-CN" altLang="en-US">
                <a:latin typeface="汉仪粗仿宋简" panose="02010600000101010101" charset="-122"/>
                <a:ea typeface="汉仪粗仿宋简" panose="02010600000101010101" charset="-122"/>
              </a:rPr>
              <a:t>隐式查询：</a:t>
            </a:r>
            <a:r>
              <a:rPr lang="en-US" altLang="zh-CN">
                <a:latin typeface="汉仪粗仿宋简" panose="02010600000101010101" charset="-122"/>
                <a:ea typeface="汉仪粗仿宋简" panose="02010600000101010101" charset="-122"/>
              </a:rPr>
              <a:t>“</a:t>
            </a:r>
            <a:r>
              <a:rPr lang="en-US" altLang="zh-CN">
                <a:latin typeface="Times New Roman" panose="02020603050405020304" pitchFamily="18" charset="0"/>
                <a:ea typeface="汉仪粗仿宋简" panose="02010600000101010101" charset="-122"/>
                <a:cs typeface="Times New Roman" panose="02020603050405020304" pitchFamily="18" charset="0"/>
              </a:rPr>
              <a:t>Can you provide information about Tom's academic background?</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或</a:t>
            </a:r>
            <a:r>
              <a:rPr lang="en-US" altLang="zh-CN">
                <a:latin typeface="汉仪粗仿宋简" panose="02010600000101010101" charset="-122"/>
                <a:ea typeface="汉仪粗仿宋简" panose="02010600000101010101" charset="-122"/>
              </a:rPr>
              <a:t>“</a:t>
            </a:r>
            <a:r>
              <a:rPr lang="en-US" altLang="zh-CN">
                <a:latin typeface="Times New Roman" panose="02020603050405020304" pitchFamily="18" charset="0"/>
                <a:ea typeface="汉仪粗仿宋简" panose="02010600000101010101" charset="-122"/>
                <a:cs typeface="Times New Roman" panose="02020603050405020304" pitchFamily="18" charset="0"/>
              </a:rPr>
              <a:t>Which institution is mentioned in relation to Tom's studies?</a:t>
            </a:r>
            <a:r>
              <a:rPr lang="en-US" altLang="zh-CN">
                <a:latin typeface="汉仪粗仿宋简" panose="02010600000101010101" charset="-122"/>
                <a:ea typeface="汉仪粗仿宋简" panose="02010600000101010101" charset="-122"/>
              </a:rPr>
              <a:t>”</a:t>
            </a:r>
            <a:endParaRPr lang="zh-CN" altLang="en-US">
              <a:latin typeface="汉仪粗仿宋简" panose="02010600000101010101" charset="-122"/>
              <a:ea typeface="汉仪粗仿宋简" panose="02010600000101010101" charset="-122"/>
            </a:endParaRPr>
          </a:p>
          <a:p>
            <a:pPr indent="0">
              <a:lnSpc>
                <a:spcPct val="130000"/>
              </a:lnSpc>
              <a:buBlip>
                <a:blip r:embed="rId5">
                  <a:extLst>
                    <a:ext uri="{96DAC541-7B7A-43D3-8B79-37D633B846F1}">
                      <asvg:svgBlip xmlns:asvg="http://schemas.microsoft.com/office/drawing/2016/SVG/main" r:embed="rId6"/>
                    </a:ext>
                  </a:extLst>
                </a:blip>
              </a:buBlip>
            </a:pPr>
            <a:r>
              <a:rPr lang="zh-CN" altLang="en-US">
                <a:latin typeface="汉仪粗仿宋简" panose="02010600000101010101" charset="-122"/>
                <a:ea typeface="汉仪粗仿宋简" panose="02010600000101010101" charset="-122"/>
              </a:rPr>
              <a:t>首先使用公式</a:t>
            </a:r>
            <a:r>
              <a:rPr lang="en-US" altLang="zh-CN">
                <a:latin typeface="Times New Roman" panose="02020603050405020304" pitchFamily="18" charset="0"/>
                <a:ea typeface="汉仪粗仿宋简" panose="02010600000101010101" charset="-122"/>
                <a:cs typeface="Times New Roman" panose="02020603050405020304" pitchFamily="18" charset="0"/>
              </a:rPr>
              <a:t>Ans = Shadow-LLM(WQ, RAG(WQ))</a:t>
            </a:r>
            <a:r>
              <a:rPr lang="zh-CN" altLang="en-US">
                <a:latin typeface="汉仪粗仿宋简" panose="02010600000101010101" charset="-122"/>
                <a:ea typeface="汉仪粗仿宋简" panose="02010600000101010101" charset="-122"/>
              </a:rPr>
              <a:t>来定义针对查询</a:t>
            </a:r>
            <a:r>
              <a:rPr lang="en-US" altLang="zh-CN">
                <a:latin typeface="汉仪粗仿宋简" panose="02010600000101010101" charset="-122"/>
                <a:ea typeface="汉仪粗仿宋简" panose="02010600000101010101" charset="-122"/>
              </a:rPr>
              <a:t>WQ</a:t>
            </a:r>
            <a:r>
              <a:rPr lang="zh-CN" altLang="en-US">
                <a:latin typeface="汉仪粗仿宋简" panose="02010600000101010101" charset="-122"/>
                <a:ea typeface="汉仪粗仿宋简" panose="02010600000101010101" charset="-122"/>
              </a:rPr>
              <a:t>基于实体</a:t>
            </a:r>
            <a:r>
              <a:rPr lang="zh-CN" altLang="en-US">
                <a:latin typeface="汉仪粗仿宋简" panose="02010600000101010101" charset="-122"/>
                <a:ea typeface="汉仪粗仿宋简" panose="02010600000101010101" charset="-122"/>
              </a:rPr>
              <a:t>关系元组</a:t>
            </a:r>
            <a:r>
              <a:rPr lang="zh-CN" altLang="en-US">
                <a:latin typeface="汉仪粗仿宋简" panose="02010600000101010101" charset="-122"/>
                <a:ea typeface="汉仪粗仿宋简" panose="02010600000101010101" charset="-122"/>
              </a:rPr>
              <a:t>的阴影</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检索和生成答案的</a:t>
            </a:r>
            <a:r>
              <a:rPr lang="zh-CN" altLang="en-US">
                <a:latin typeface="汉仪粗仿宋简" panose="02010600000101010101" charset="-122"/>
                <a:ea typeface="汉仪粗仿宋简" panose="02010600000101010101" charset="-122"/>
              </a:rPr>
              <a:t>过程。</a:t>
            </a:r>
            <a:endParaRPr lang="zh-CN" altLang="en-US">
              <a:latin typeface="汉仪粗仿宋简" panose="02010600000101010101" charset="-122"/>
              <a:ea typeface="汉仪粗仿宋简" panose="02010600000101010101" charset="-122"/>
            </a:endParaRPr>
          </a:p>
          <a:p>
            <a:pPr indent="0">
              <a:lnSpc>
                <a:spcPct val="130000"/>
              </a:lnSpc>
              <a:buBlip>
                <a:blip r:embed="rId5">
                  <a:extLst>
                    <a:ext uri="{96DAC541-7B7A-43D3-8B79-37D633B846F1}">
                      <asvg:svgBlip xmlns:asvg="http://schemas.microsoft.com/office/drawing/2016/SVG/main" r:embed="rId6"/>
                    </a:ext>
                  </a:extLst>
                </a:blip>
              </a:buBlip>
            </a:pPr>
            <a:r>
              <a:rPr lang="zh-CN" altLang="en-US">
                <a:latin typeface="汉仪粗仿宋简" panose="02010600000101010101" charset="-122"/>
                <a:ea typeface="汉仪粗仿宋简" panose="02010600000101010101" charset="-122"/>
              </a:rPr>
              <a:t>使用</a:t>
            </a:r>
            <a:r>
              <a:rPr lang="en-US" altLang="zh-CN">
                <a:latin typeface="Times New Roman" panose="02020603050405020304" pitchFamily="18" charset="0"/>
                <a:ea typeface="汉仪粗仿宋简" panose="02010600000101010101" charset="-122"/>
                <a:cs typeface="Times New Roman" panose="02020603050405020304" pitchFamily="18" charset="0"/>
              </a:rPr>
              <a:t>WM-Disc</a:t>
            </a:r>
            <a:r>
              <a:rPr lang="zh-CN" altLang="en-US">
                <a:latin typeface="汉仪粗仿宋简" panose="02010600000101010101" charset="-122"/>
                <a:ea typeface="汉仪粗仿宋简" panose="02010600000101010101" charset="-122"/>
              </a:rPr>
              <a:t>检验</a:t>
            </a:r>
            <a:r>
              <a:rPr lang="en-US" altLang="zh-CN">
                <a:latin typeface="Times New Roman" panose="02020603050405020304" pitchFamily="18" charset="0"/>
                <a:ea typeface="微软雅黑" panose="020B0503020204020204" charset="-122"/>
                <a:cs typeface="Times New Roman" panose="02020603050405020304" pitchFamily="18" charset="0"/>
              </a:rPr>
              <a:t>WQ</a:t>
            </a:r>
            <a:r>
              <a:rPr lang="en-US" altLang="zh-CN">
                <a:latin typeface="微软雅黑" panose="020B0503020204020204" charset="-122"/>
                <a:ea typeface="微软雅黑" panose="020B0503020204020204" charset="-122"/>
                <a:cs typeface="Times New Roman" panose="02020603050405020304" pitchFamily="18" charset="0"/>
              </a:rPr>
              <a:t>⊕</a:t>
            </a:r>
            <a:r>
              <a:rPr lang="en-US" altLang="zh-CN">
                <a:latin typeface="Times New Roman" panose="02020603050405020304" pitchFamily="18" charset="0"/>
                <a:ea typeface="微软雅黑" panose="020B0503020204020204" charset="-122"/>
                <a:cs typeface="Times New Roman" panose="02020603050405020304" pitchFamily="18" charset="0"/>
              </a:rPr>
              <a:t>Ans</a:t>
            </a:r>
            <a:r>
              <a:rPr lang="zh-CN" altLang="en-US">
                <a:latin typeface="汉仪粗仿宋简" panose="02010600000101010101" charset="-122"/>
                <a:ea typeface="汉仪粗仿宋简" panose="02010600000101010101" charset="-122"/>
              </a:rPr>
              <a:t>是否包含水印信息</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，检验公式</a:t>
            </a:r>
            <a:r>
              <a:rPr lang="zh-CN" altLang="en-US">
                <a:latin typeface="汉仪粗仿宋简" panose="02010600000101010101" charset="-122"/>
                <a:ea typeface="汉仪粗仿宋简" panose="02010600000101010101" charset="-122"/>
                <a:cs typeface="汉仪粗仿宋简" panose="02010600000101010101" charset="-122"/>
                <a:sym typeface="+mn-ea"/>
              </a:rPr>
              <a:t>为：</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indent="0">
              <a:lnSpc>
                <a:spcPct val="130000"/>
              </a:lnSpc>
              <a:buNone/>
            </a:pPr>
            <a:r>
              <a:rPr lang="en-US" altLang="zh-CN">
                <a:latin typeface="汉仪粗仿宋简" panose="02010600000101010101" charset="-122"/>
                <a:ea typeface="汉仪粗仿宋简" panose="02010600000101010101" charset="-122"/>
                <a:cs typeface="汉仪粗仿宋简" panose="02010600000101010101" charset="-122"/>
                <a:sym typeface="+mn-ea"/>
              </a:rPr>
              <a:t>WM-Disc</a:t>
            </a:r>
            <a:r>
              <a:rPr lang="zh-CN" altLang="en-US">
                <a:latin typeface="汉仪粗仿宋简" panose="02010600000101010101" charset="-122"/>
                <a:ea typeface="汉仪粗仿宋简" panose="02010600000101010101" charset="-122"/>
                <a:cs typeface="汉仪粗仿宋简" panose="02010600000101010101" charset="-122"/>
                <a:sym typeface="+mn-ea"/>
              </a:rPr>
              <a:t>确保水印信息被正确地嵌入，并且可以从</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的响应中成功地检索。</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293560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水印</a:t>
            </a:r>
            <a:r>
              <a:rPr lang="zh-CN" altLang="en-US" b="1">
                <a:latin typeface="汉仪粗仿宋简" panose="02010600000101010101" charset="-122"/>
                <a:ea typeface="汉仪粗仿宋简" panose="02010600000101010101" charset="-122"/>
              </a:rPr>
              <a:t>注入</a:t>
            </a:r>
            <a:endParaRPr lang="zh-CN" altLang="en-US" b="1">
              <a:latin typeface="汉仪粗仿宋简" panose="02010600000101010101" charset="-122"/>
              <a:ea typeface="汉仪粗仿宋简" panose="02010600000101010101" charset="-122"/>
            </a:endParaRPr>
          </a:p>
        </p:txBody>
      </p:sp>
      <p:sp>
        <p:nvSpPr>
          <p:cNvPr id="18" name="文本框 17"/>
          <p:cNvSpPr txBox="1"/>
          <p:nvPr/>
        </p:nvSpPr>
        <p:spPr>
          <a:xfrm>
            <a:off x="455295" y="1314450"/>
            <a:ext cx="2900680" cy="353060"/>
          </a:xfrm>
          <a:prstGeom prst="rect">
            <a:avLst/>
          </a:prstGeom>
          <a:noFill/>
        </p:spPr>
        <p:txBody>
          <a:bodyPr wrap="square" rtlCol="0">
            <a:noAutofit/>
          </a:bodyPr>
          <a:p>
            <a:r>
              <a:rPr lang="en-US" altLang="zh-CN" b="1" u="sng">
                <a:solidFill>
                  <a:srgbClr val="004180"/>
                </a:solidFill>
                <a:latin typeface="汉仪粗仿宋简" panose="02010600000101010101" charset="-122"/>
                <a:ea typeface="汉仪粗仿宋简" panose="02010600000101010101" charset="-122"/>
              </a:rPr>
              <a:t>WM-G</a:t>
            </a:r>
            <a:r>
              <a:rPr lang="en-US" altLang="zh-CN" b="1" u="sng">
                <a:solidFill>
                  <a:srgbClr val="004180"/>
                </a:solidFill>
                <a:latin typeface="汉仪粗仿宋简" panose="02010600000101010101" charset="-122"/>
                <a:ea typeface="汉仪粗仿宋简" panose="02010600000101010101" charset="-122"/>
              </a:rPr>
              <a:t>en</a:t>
            </a:r>
            <a:endParaRPr lang="en-US" altLang="zh-CN" b="1" u="sng">
              <a:solidFill>
                <a:srgbClr val="004180"/>
              </a:solidFill>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4347d220a7d0a"/>
          <p:cNvSpPr txBox="1"/>
          <p:nvPr/>
        </p:nvSpPr>
        <p:spPr>
          <a:xfrm>
            <a:off x="393065" y="1686560"/>
            <a:ext cx="11301095" cy="4905375"/>
          </a:xfrm>
          <a:prstGeom prst="rect">
            <a:avLst/>
          </a:prstGeom>
          <a:noFill/>
        </p:spPr>
        <p:txBody>
          <a:bodyPr wrap="square" rtlCol="0">
            <a:noAutofit/>
          </a:bodyPr>
          <a:p>
            <a:pPr indent="0">
              <a:lnSpc>
                <a:spcPct val="140000"/>
              </a:lnSpc>
              <a:buBlip>
                <a:blip r:embed="rId4">
                  <a:extLst>
                    <a:ext uri="{96DAC541-7B7A-43D3-8B79-37D633B846F1}">
                      <asvg:svgBlip xmlns:asvg="http://schemas.microsoft.com/office/drawing/2016/SVG/main" r:embed="rId5"/>
                    </a:ext>
                  </a:extLst>
                </a:blip>
              </a:buBlip>
            </a:pP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WM-Gen</a:t>
            </a:r>
            <a:r>
              <a:rPr lang="zh-CN" altLang="en-US">
                <a:latin typeface="汉仪粗仿宋简" panose="02010600000101010101" charset="-122"/>
                <a:ea typeface="汉仪粗仿宋简" panose="02010600000101010101" charset="-122"/>
                <a:cs typeface="汉仪粗仿宋简" panose="02010600000101010101" charset="-122"/>
                <a:sym typeface="+mn-ea"/>
              </a:rPr>
              <a:t>首先使用</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生成水印文本</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汉仪粗仿宋简" panose="02010600000101010101" charset="-122"/>
                <a:ea typeface="汉仪粗仿宋简" panose="02010600000101010101" charset="-122"/>
                <a:cs typeface="汉仪粗仿宋简" panose="02010600000101010101" charset="-122"/>
                <a:sym typeface="+mn-ea"/>
              </a:rPr>
              <a:t>，要保证</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汉仪粗仿宋简" panose="02010600000101010101" charset="-122"/>
                <a:ea typeface="汉仪粗仿宋简" panose="02010600000101010101" charset="-122"/>
                <a:cs typeface="汉仪粗仿宋简" panose="02010600000101010101" charset="-122"/>
                <a:sym typeface="+mn-ea"/>
              </a:rPr>
              <a:t>包含实体</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汉仪粗仿宋简" panose="02010600000101010101" charset="-122"/>
                <a:ea typeface="汉仪粗仿宋简" panose="02010600000101010101" charset="-122"/>
                <a:cs typeface="汉仪粗仿宋简" panose="02010600000101010101" charset="-122"/>
                <a:sym typeface="+mn-ea"/>
              </a:rPr>
              <a:t>和</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汉仪粗仿宋简" panose="02010600000101010101" charset="-122"/>
                <a:ea typeface="汉仪粗仿宋简" panose="02010600000101010101" charset="-122"/>
                <a:cs typeface="汉仪粗仿宋简" panose="02010600000101010101" charset="-122"/>
                <a:sym typeface="+mn-ea"/>
              </a:rPr>
              <a:t>以及实体之间的关系</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确保元组</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都包含在</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中，过程为：</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，然后将</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嵌入到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中生成水印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Blip>
                <a:blip r:embed="rId4">
                  <a:extLst>
                    <a:ext uri="{96DAC541-7B7A-43D3-8B79-37D633B846F1}">
                      <asvg:svgBlip xmlns:asvg="http://schemas.microsoft.com/office/drawing/2016/SVG/main" r:embed="rId5"/>
                    </a:ext>
                  </a:extLst>
                </a:blip>
              </a:buBlip>
            </a:pP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LLM</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是使用水印生成提示配置的</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LLM,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用于指导实体关系元组构造</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，并且由于</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可以从知识库中检索到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Top-k</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文本，可以通过相同的实体关系元组，不同的提示来生成多个不同的</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来提高水印文本的检索成功率。</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Blip>
                <a:blip r:embed="rId4">
                  <a:extLst>
                    <a:ext uri="{96DAC541-7B7A-43D3-8B79-37D633B846F1}">
                      <asvg:svgBlip xmlns:asvg="http://schemas.microsoft.com/office/drawing/2016/SVG/main" r:embed="rId5"/>
                    </a:ext>
                  </a:extLst>
                </a:blip>
              </a:buBlip>
            </a:pP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水印注入为了方便后续的验证采用基于相关文本拼接的水印注入方法。具体来说。为了嵌入由</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生成的水印文本</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，首先使用与</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相关的查询</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WQ</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来从原始</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中检索出最相关的文档，检索出的文档可能不包含与</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和</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j</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直接链接在一起的内容，但总能找到最相似的内容用于嵌入。</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None/>
            </a:pP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检索过程为：</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Blip>
                <a:blip r:embed="rId4">
                  <a:extLst>
                    <a:ext uri="{96DAC541-7B7A-43D3-8B79-37D633B846F1}">
                      <asvg:svgBlip xmlns:asvg="http://schemas.microsoft.com/office/drawing/2016/SVG/main" r:embed="rId5"/>
                    </a:ext>
                  </a:extLst>
                </a:blip>
              </a:buBlip>
            </a:pP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一旦检索到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TEXT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，就将水印文本</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与</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TEXT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连接到一起，</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Blip>
                <a:blip r:embed="rId4">
                  <a:extLst>
                    <a:ext uri="{96DAC541-7B7A-43D3-8B79-37D633B846F1}">
                      <asvg:svgBlip xmlns:asvg="http://schemas.microsoft.com/office/drawing/2016/SVG/main" r:embed="rId5"/>
                    </a:ext>
                  </a:extLst>
                </a:blip>
              </a:buBlip>
            </a:pP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最后将生成的水印文本</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WT</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嵌入到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中得到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gn="ctr">
              <a:lnSpc>
                <a:spcPct val="140000"/>
              </a:lnSpc>
              <a:buNone/>
            </a:pPr>
            <a:r>
              <a:rPr lang="zh-CN" altLang="en-US" b="1">
                <a:latin typeface="Times New Roman" panose="02020603050405020304" pitchFamily="18" charset="0"/>
                <a:ea typeface="汉仪粗仿宋简" panose="02010600000101010101" charset="-122"/>
                <a:cs typeface="Times New Roman" panose="02020603050405020304" pitchFamily="18" charset="0"/>
                <a:sym typeface="+mn-ea"/>
              </a:rPr>
              <a:t>提高了水印检索性能，并使对手更难在不破坏</a:t>
            </a:r>
            <a:r>
              <a:rPr lang="en-US" altLang="zh-CN" b="1">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b="1">
                <a:latin typeface="Times New Roman" panose="02020603050405020304" pitchFamily="18" charset="0"/>
                <a:ea typeface="汉仪粗仿宋简" panose="02010600000101010101" charset="-122"/>
                <a:cs typeface="Times New Roman" panose="02020603050405020304" pitchFamily="18" charset="0"/>
                <a:sym typeface="+mn-ea"/>
              </a:rPr>
              <a:t>中的原始知识</a:t>
            </a:r>
            <a:r>
              <a:rPr lang="zh-CN" altLang="en-US" b="1">
                <a:latin typeface="Times New Roman" panose="02020603050405020304" pitchFamily="18" charset="0"/>
                <a:ea typeface="汉仪粗仿宋简" panose="02010600000101010101" charset="-122"/>
                <a:cs typeface="Times New Roman" panose="02020603050405020304" pitchFamily="18" charset="0"/>
                <a:sym typeface="+mn-ea"/>
              </a:rPr>
              <a:t>库的情况下删除水印。</a:t>
            </a:r>
            <a:r>
              <a:rPr lang="en-US" altLang="zh-CN" b="1">
                <a:latin typeface="Times New Roman" panose="02020603050405020304" pitchFamily="18" charset="0"/>
                <a:ea typeface="汉仪粗仿宋简" panose="02010600000101010101" charset="-122"/>
                <a:cs typeface="Times New Roman" panose="02020603050405020304" pitchFamily="18" charset="0"/>
                <a:sym typeface="+mn-ea"/>
              </a:rPr>
              <a:t>                                    </a:t>
            </a:r>
            <a:endParaRPr lang="zh-CN" altLang="en-US" b="1">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gn="ctr">
              <a:lnSpc>
                <a:spcPct val="130000"/>
              </a:lnSpc>
              <a:buNone/>
            </a:pPr>
            <a:endParaRPr lang="zh-CN" altLang="en-US" b="1">
              <a:latin typeface="Times New Roman" panose="02020603050405020304" pitchFamily="18" charset="0"/>
              <a:ea typeface="汉仪粗仿宋简" panose="02010600000101010101" charset="-122"/>
              <a:cs typeface="Times New Roman" panose="02020603050405020304" pitchFamily="18" charset="0"/>
              <a:sym typeface="+mn-ea"/>
            </a:endParaRPr>
          </a:p>
        </p:txBody>
      </p:sp>
      <p:pic>
        <p:nvPicPr>
          <p:cNvPr id="19" name="图片 18"/>
          <p:cNvPicPr>
            <a:picLocks noChangeAspect="1"/>
          </p:cNvPicPr>
          <p:nvPr/>
        </p:nvPicPr>
        <p:blipFill>
          <a:blip r:embed="rId6"/>
          <a:srcRect l="-305" r="3249"/>
          <a:stretch>
            <a:fillRect/>
          </a:stretch>
        </p:blipFill>
        <p:spPr>
          <a:xfrm>
            <a:off x="4996815" y="2194560"/>
            <a:ext cx="3035300" cy="381000"/>
          </a:xfrm>
          <a:prstGeom prst="rect">
            <a:avLst/>
          </a:prstGeom>
        </p:spPr>
      </p:pic>
      <p:pic>
        <p:nvPicPr>
          <p:cNvPr id="20" name="图片 19"/>
          <p:cNvPicPr>
            <a:picLocks noChangeAspect="1"/>
          </p:cNvPicPr>
          <p:nvPr/>
        </p:nvPicPr>
        <p:blipFill>
          <a:blip r:embed="rId7"/>
          <a:stretch>
            <a:fillRect/>
          </a:stretch>
        </p:blipFill>
        <p:spPr>
          <a:xfrm>
            <a:off x="1718945" y="4888865"/>
            <a:ext cx="3971925" cy="306705"/>
          </a:xfrm>
          <a:prstGeom prst="rect">
            <a:avLst/>
          </a:prstGeom>
        </p:spPr>
      </p:pic>
      <p:pic>
        <p:nvPicPr>
          <p:cNvPr id="21" name="图片 20"/>
          <p:cNvPicPr>
            <a:picLocks noChangeAspect="1"/>
          </p:cNvPicPr>
          <p:nvPr/>
        </p:nvPicPr>
        <p:blipFill>
          <a:blip r:embed="rId8"/>
          <a:stretch>
            <a:fillRect/>
          </a:stretch>
        </p:blipFill>
        <p:spPr>
          <a:xfrm>
            <a:off x="6525260" y="5323840"/>
            <a:ext cx="3867150" cy="257175"/>
          </a:xfrm>
          <a:prstGeom prst="rect">
            <a:avLst/>
          </a:prstGeom>
        </p:spPr>
      </p:pic>
      <p:pic>
        <p:nvPicPr>
          <p:cNvPr id="22" name="图片 21"/>
          <p:cNvPicPr>
            <a:picLocks noChangeAspect="1"/>
          </p:cNvPicPr>
          <p:nvPr/>
        </p:nvPicPr>
        <p:blipFill>
          <a:blip r:embed="rId9"/>
          <a:stretch>
            <a:fillRect/>
          </a:stretch>
        </p:blipFill>
        <p:spPr>
          <a:xfrm>
            <a:off x="5970270" y="5702300"/>
            <a:ext cx="2181225" cy="3333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356743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知识产权侵权</a:t>
            </a:r>
            <a:r>
              <a:rPr lang="zh-CN" altLang="en-US" b="1">
                <a:latin typeface="汉仪粗仿宋简" panose="02010600000101010101" charset="-122"/>
                <a:ea typeface="汉仪粗仿宋简" panose="02010600000101010101" charset="-122"/>
              </a:rPr>
              <a:t>检测</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4347d220a7d0a"/>
          <p:cNvSpPr txBox="1"/>
          <p:nvPr/>
        </p:nvSpPr>
        <p:spPr>
          <a:xfrm>
            <a:off x="393065" y="1314450"/>
            <a:ext cx="11301095" cy="4905375"/>
          </a:xfrm>
          <a:prstGeom prst="rect">
            <a:avLst/>
          </a:prstGeom>
          <a:noFill/>
        </p:spPr>
        <p:txBody>
          <a:bodyPr wrap="square" rtlCol="0">
            <a:noAutofit/>
          </a:bodyPr>
          <a:p>
            <a:pPr indent="0">
              <a:lnSpc>
                <a:spcPct val="140000"/>
              </a:lnSpc>
              <a:buNone/>
            </a:pP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如果一个可疑的</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LLM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在所有者拥有的且包含专业知识领域的</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中表现出卓越的性能，那么拥有者会怀疑</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LLM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使用的是</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 </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的盗版，那么可以使用</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WM-Disc</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组件进行检测，随机选择</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n</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个实体关系元组后使用查询模板生成对应的查询</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WQ</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，然后通过</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Ans</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生成公式和</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Disc</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公式来进行鉴别操作，</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然后对查询检索到的关系</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en-US" altLang="zh-CN" baseline="30000">
                <a:latin typeface="Times New Roman" panose="02020603050405020304" pitchFamily="18" charset="0"/>
                <a:ea typeface="汉仪粗仿宋简" panose="02010600000101010101" charset="-122"/>
                <a:cs typeface="Times New Roman" panose="02020603050405020304" pitchFamily="18" charset="0"/>
                <a:sym typeface="+mn-ea"/>
              </a:rPr>
              <a:t>i,j</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进行计数，最终计数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c</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用于检测</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IP</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侵权。</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None/>
            </a:pP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零假设</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H</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0</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：可疑</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LLM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没有配备水印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。输出水印关系</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的概率为</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p</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0</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p</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0</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=1/n</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r</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n</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r</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为知识库中关系总数</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None/>
            </a:pP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备择假设</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H</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1</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：可疑</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LLM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配备了水印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，且输出</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的概率明显大于</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p</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0</a:t>
            </a:r>
            <a:endPar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None/>
            </a:pPr>
            <a:endParaRPr lang="en-US" altLang="zh-CN">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None/>
            </a:pP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p</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值的计算</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None/>
            </a:pP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40000"/>
              </a:lnSpc>
              <a:buNone/>
            </a:pP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如果</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p</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值</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&lt; α= 0.05</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，则拒绝零假设</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H</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0</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，接受备择假设</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H</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1</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。这表明输出</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 r</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wm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的概率显著大于</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p</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0</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，从而推断</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LLM</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使用了水印</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RAG</a:t>
            </a:r>
            <a:r>
              <a:rPr lang="zh-CN" altLang="en-US">
                <a:latin typeface="Times New Roman" panose="02020603050405020304" pitchFamily="18" charset="0"/>
                <a:ea typeface="汉仪粗仿宋简" panose="02010600000101010101" charset="-122"/>
                <a:cs typeface="Times New Roman" panose="02020603050405020304" pitchFamily="18" charset="0"/>
                <a:sym typeface="+mn-ea"/>
              </a:rPr>
              <a:t>。</a:t>
            </a: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gn="ctr">
              <a:lnSpc>
                <a:spcPct val="130000"/>
              </a:lnSpc>
              <a:buNone/>
            </a:pPr>
            <a:endParaRPr lang="zh-CN" altLang="en-US">
              <a:latin typeface="Times New Roman" panose="02020603050405020304" pitchFamily="18" charset="0"/>
              <a:ea typeface="汉仪粗仿宋简" panose="02010600000101010101" charset="-122"/>
              <a:cs typeface="Times New Roman" panose="02020603050405020304" pitchFamily="18" charset="0"/>
              <a:sym typeface="+mn-ea"/>
            </a:endParaRPr>
          </a:p>
        </p:txBody>
      </p:sp>
      <p:pic>
        <p:nvPicPr>
          <p:cNvPr id="6" name="图片 5"/>
          <p:cNvPicPr>
            <a:picLocks noChangeAspect="1"/>
          </p:cNvPicPr>
          <p:nvPr/>
        </p:nvPicPr>
        <p:blipFill>
          <a:blip r:embed="rId4"/>
          <a:stretch>
            <a:fillRect/>
          </a:stretch>
        </p:blipFill>
        <p:spPr>
          <a:xfrm>
            <a:off x="1597660" y="3811270"/>
            <a:ext cx="5840095" cy="8985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356743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与</a:t>
            </a:r>
            <a:r>
              <a:rPr lang="en-US" altLang="zh-CN" b="1">
                <a:latin typeface="汉仪粗仿宋简" panose="02010600000101010101" charset="-122"/>
                <a:ea typeface="汉仪粗仿宋简" panose="02010600000101010101" charset="-122"/>
              </a:rPr>
              <a:t>TrojanRAG</a:t>
            </a:r>
            <a:r>
              <a:rPr lang="zh-CN" altLang="en-US" b="1">
                <a:latin typeface="汉仪粗仿宋简" panose="02010600000101010101" charset="-122"/>
                <a:ea typeface="汉仪粗仿宋简" panose="02010600000101010101" charset="-122"/>
              </a:rPr>
              <a:t>对比</a:t>
            </a:r>
            <a:r>
              <a:rPr lang="en-US" altLang="zh-CN" b="1">
                <a:latin typeface="汉仪粗仿宋简" panose="02010600000101010101" charset="-122"/>
                <a:ea typeface="汉仪粗仿宋简" panose="02010600000101010101" charset="-122"/>
              </a:rPr>
              <a:t>&amp;</a:t>
            </a:r>
            <a:r>
              <a:rPr lang="zh-CN" altLang="en-US" b="1">
                <a:latin typeface="汉仪粗仿宋简" panose="02010600000101010101" charset="-122"/>
                <a:ea typeface="汉仪粗仿宋简" panose="02010600000101010101" charset="-122"/>
              </a:rPr>
              <a:t>创新点</a:t>
            </a:r>
            <a:endParaRPr lang="zh-CN" altLang="en-US" b="1">
              <a:latin typeface="汉仪粗仿宋简" panose="02010600000101010101" charset="-122"/>
              <a:ea typeface="汉仪粗仿宋简" panose="02010600000101010101" charset="-122"/>
            </a:endParaRPr>
          </a:p>
        </p:txBody>
      </p:sp>
      <p:sp>
        <p:nvSpPr>
          <p:cNvPr id="9" name="文本框 8"/>
          <p:cNvSpPr txBox="1"/>
          <p:nvPr/>
        </p:nvSpPr>
        <p:spPr>
          <a:xfrm>
            <a:off x="375285" y="1276350"/>
            <a:ext cx="11327130" cy="1425575"/>
          </a:xfrm>
          <a:prstGeom prst="rect">
            <a:avLst/>
          </a:prstGeom>
          <a:noFill/>
        </p:spPr>
        <p:txBody>
          <a:bodyPr wrap="square" rtlCol="0">
            <a:noAutofit/>
          </a:bodyPr>
          <a:p>
            <a:pPr>
              <a:lnSpc>
                <a:spcPct val="110000"/>
              </a:lnSpc>
            </a:pPr>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的创新之处在于融合了知识图谱丰富查询的语义信息，以及最后在对后门进行优化时采用了联合正交优化，引入了粗粒度正交和细粒度子空间增强双空间优化策略。但</a:t>
            </a:r>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主要聚焦于攻击层面，核心目标是通过精心设计的触发器与目标上下文之间的匹配来劫持</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检索路径，从而在黑盒条件下低成本、高隐蔽性地操纵</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输出。</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11" name="文本框 10"/>
          <p:cNvSpPr txBox="1"/>
          <p:nvPr/>
        </p:nvSpPr>
        <p:spPr>
          <a:xfrm>
            <a:off x="375285" y="2701925"/>
            <a:ext cx="11447145" cy="1819275"/>
          </a:xfrm>
          <a:prstGeom prst="rect">
            <a:avLst/>
          </a:prstGeom>
          <a:noFill/>
        </p:spPr>
        <p:txBody>
          <a:bodyPr wrap="square" rtlCol="0">
            <a:noAutofit/>
          </a:bodyPr>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知识图谱生成</a:t>
            </a:r>
            <a:r>
              <a:rPr lang="zh-CN" altLang="en-US" b="1">
                <a:latin typeface="汉仪粗仿宋简" panose="02010600000101010101" charset="-122"/>
                <a:ea typeface="汉仪粗仿宋简" panose="02010600000101010101" charset="-122"/>
                <a:cs typeface="汉仪粗仿宋简" panose="02010600000101010101" charset="-122"/>
              </a:rPr>
              <a:t>结构化水印元数据</a:t>
            </a:r>
            <a:endParaRPr lang="zh-CN" altLang="en-US" b="1">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使用知识图谱为每个后门触发器构建结构化元数据（实体</a:t>
            </a:r>
            <a:r>
              <a:rPr lang="en-US" altLang="zh-CN">
                <a:latin typeface="汉仪粗仿宋简" panose="02010600000101010101" charset="-122"/>
                <a:ea typeface="汉仪粗仿宋简" panose="02010600000101010101" charset="-122"/>
                <a:cs typeface="汉仪粗仿宋简" panose="02010600000101010101" charset="-122"/>
              </a:rPr>
              <a:t>-</a:t>
            </a:r>
            <a:r>
              <a:rPr lang="zh-CN" altLang="en-US">
                <a:latin typeface="汉仪粗仿宋简" panose="02010600000101010101" charset="-122"/>
                <a:ea typeface="汉仪粗仿宋简" panose="02010600000101010101" charset="-122"/>
                <a:cs typeface="汉仪粗仿宋简" panose="02010600000101010101" charset="-122"/>
              </a:rPr>
              <a:t>关系</a:t>
            </a:r>
            <a:r>
              <a:rPr lang="en-US" altLang="zh-CN">
                <a:latin typeface="汉仪粗仿宋简" panose="02010600000101010101" charset="-122"/>
                <a:ea typeface="汉仪粗仿宋简" panose="02010600000101010101" charset="-122"/>
                <a:cs typeface="汉仪粗仿宋简" panose="02010600000101010101" charset="-122"/>
              </a:rPr>
              <a:t>-</a:t>
            </a:r>
            <a:r>
              <a:rPr lang="zh-CN" altLang="en-US">
                <a:latin typeface="汉仪粗仿宋简" panose="02010600000101010101" charset="-122"/>
                <a:ea typeface="汉仪粗仿宋简" panose="02010600000101010101" charset="-122"/>
                <a:cs typeface="汉仪粗仿宋简" panose="02010600000101010101" charset="-122"/>
              </a:rPr>
              <a:t>实体三元组及其属性），极大的提高目标上下文的召回率，即使在查询被轻微改写的情况下也能精准命中。</a:t>
            </a:r>
            <a:r>
              <a:rPr lang="en-US" altLang="zh-CN">
                <a:latin typeface="汉仪粗仿宋简" panose="02010600000101010101" charset="-122"/>
                <a:ea typeface="汉仪粗仿宋简" panose="02010600000101010101" charset="-122"/>
                <a:cs typeface="汉仪粗仿宋简" panose="02010600000101010101" charset="-122"/>
              </a:rPr>
              <a:t>RAG-WM</a:t>
            </a:r>
            <a:r>
              <a:rPr lang="zh-CN" altLang="en-US">
                <a:latin typeface="汉仪粗仿宋简" panose="02010600000101010101" charset="-122"/>
                <a:ea typeface="汉仪粗仿宋简" panose="02010600000101010101" charset="-122"/>
                <a:cs typeface="汉仪粗仿宋简" panose="02010600000101010101" charset="-122"/>
              </a:rPr>
              <a:t>中从原始知识库中提取高频实体与关系后，不再仅生成普通的实体</a:t>
            </a:r>
            <a:r>
              <a:rPr lang="en-US" altLang="zh-CN">
                <a:latin typeface="汉仪粗仿宋简" panose="02010600000101010101" charset="-122"/>
                <a:ea typeface="汉仪粗仿宋简" panose="02010600000101010101" charset="-122"/>
                <a:cs typeface="汉仪粗仿宋简" panose="02010600000101010101" charset="-122"/>
              </a:rPr>
              <a:t>-</a:t>
            </a:r>
            <a:r>
              <a:rPr lang="zh-CN" altLang="en-US">
                <a:latin typeface="汉仪粗仿宋简" panose="02010600000101010101" charset="-122"/>
                <a:ea typeface="汉仪粗仿宋简" panose="02010600000101010101" charset="-122"/>
                <a:cs typeface="汉仪粗仿宋简" panose="02010600000101010101" charset="-122"/>
              </a:rPr>
              <a:t>关系元组，而是进一步通过知识图谱构建结构化元数据。基于这些结构化元数据生成水印文本时，便不再是单一的实体关系语句，而是生成包含完整图谱路径的</a:t>
            </a:r>
            <a:r>
              <a:rPr lang="zh-CN" altLang="en-US" b="1">
                <a:latin typeface="汉仪粗仿宋简" panose="02010600000101010101" charset="-122"/>
                <a:ea typeface="汉仪粗仿宋简" panose="02010600000101010101" charset="-122"/>
                <a:cs typeface="汉仪粗仿宋简" panose="02010600000101010101" charset="-122"/>
              </a:rPr>
              <a:t>水印文本集群</a:t>
            </a:r>
            <a:r>
              <a:rPr lang="zh-CN" altLang="en-US">
                <a:latin typeface="汉仪粗仿宋简" panose="02010600000101010101" charset="-122"/>
                <a:ea typeface="汉仪粗仿宋简" panose="02010600000101010101" charset="-122"/>
                <a:cs typeface="汉仪粗仿宋简" panose="02010600000101010101" charset="-122"/>
              </a:rPr>
              <a:t>，并结合原本的技术水印插入到知识库中高度相关的真实文档附近。所以在查询时命中应该会更容易且对改写</a:t>
            </a:r>
            <a:r>
              <a:rPr lang="zh-CN" altLang="en-US">
                <a:latin typeface="汉仪粗仿宋简" panose="02010600000101010101" charset="-122"/>
                <a:ea typeface="汉仪粗仿宋简" panose="02010600000101010101" charset="-122"/>
                <a:cs typeface="汉仪粗仿宋简" panose="02010600000101010101" charset="-122"/>
              </a:rPr>
              <a:t>不敏感。</a:t>
            </a:r>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15" name="文本框 14"/>
          <p:cNvSpPr txBox="1"/>
          <p:nvPr/>
        </p:nvSpPr>
        <p:spPr>
          <a:xfrm>
            <a:off x="328295" y="4582795"/>
            <a:ext cx="11736070" cy="1956435"/>
          </a:xfrm>
          <a:prstGeom prst="rect">
            <a:avLst/>
          </a:prstGeom>
          <a:noFill/>
        </p:spPr>
        <p:txBody>
          <a:bodyPr wrap="square" rtlCol="0">
            <a:noAutofit/>
          </a:bodyPr>
          <a:p>
            <a:pPr>
              <a:lnSpc>
                <a:spcPct val="110000"/>
              </a:lnSpc>
            </a:pPr>
            <a:r>
              <a:rPr lang="zh-CN" altLang="en-US" b="1">
                <a:latin typeface="汉仪粗仿宋简" panose="02010600000101010101" charset="-122"/>
                <a:ea typeface="汉仪粗仿宋简" panose="02010600000101010101" charset="-122"/>
                <a:cs typeface="汉仪粗仿宋简" panose="02010600000101010101" charset="-122"/>
              </a:rPr>
              <a:t>粗细粒度策略</a:t>
            </a:r>
            <a:r>
              <a:rPr lang="zh-CN" altLang="en-US" b="1">
                <a:latin typeface="汉仪粗仿宋简" panose="02010600000101010101" charset="-122"/>
                <a:ea typeface="汉仪粗仿宋简" panose="02010600000101010101" charset="-122"/>
                <a:cs typeface="汉仪粗仿宋简" panose="02010600000101010101" charset="-122"/>
              </a:rPr>
              <a:t>创新</a:t>
            </a:r>
            <a:endParaRPr lang="zh-CN" altLang="en-US" b="1">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的粗粒度正交优化通过对比学习使不同后门的触发器嵌入向量在语义空间中相互正交，避免多个后门相互污染检索结果。</a:t>
            </a:r>
            <a:r>
              <a:rPr lang="en-US" altLang="zh-CN">
                <a:latin typeface="汉仪粗仿宋简" panose="02010600000101010101" charset="-122"/>
                <a:ea typeface="汉仪粗仿宋简" panose="02010600000101010101" charset="-122"/>
                <a:cs typeface="汉仪粗仿宋简" panose="02010600000101010101" charset="-122"/>
              </a:rPr>
              <a:t>RAG-WM</a:t>
            </a:r>
            <a:r>
              <a:rPr lang="zh-CN" altLang="en-US">
                <a:latin typeface="汉仪粗仿宋简" panose="02010600000101010101" charset="-122"/>
                <a:ea typeface="汉仪粗仿宋简" panose="02010600000101010101" charset="-122"/>
                <a:cs typeface="汉仪粗仿宋简" panose="02010600000101010101" charset="-122"/>
              </a:rPr>
              <a:t>中可以适用于如果</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中存在多方水印的话，可以各自验证自己的水印，而不造成</a:t>
            </a:r>
            <a:r>
              <a:rPr lang="zh-CN" altLang="en-US">
                <a:latin typeface="汉仪粗仿宋简" panose="02010600000101010101" charset="-122"/>
                <a:ea typeface="汉仪粗仿宋简" panose="02010600000101010101" charset="-122"/>
                <a:cs typeface="汉仪粗仿宋简" panose="02010600000101010101" charset="-122"/>
              </a:rPr>
              <a:t>干扰。</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en-US" altLang="zh-CN">
                <a:latin typeface="汉仪粗仿宋简" panose="02010600000101010101" charset="-122"/>
                <a:ea typeface="汉仪粗仿宋简" panose="02010600000101010101" charset="-122"/>
                <a:cs typeface="汉仪粗仿宋简" panose="02010600000101010101" charset="-122"/>
              </a:rPr>
              <a:t>TrojanRAG</a:t>
            </a:r>
            <a:r>
              <a:rPr lang="zh-CN" altLang="en-US">
                <a:latin typeface="汉仪粗仿宋简" panose="02010600000101010101" charset="-122"/>
                <a:ea typeface="汉仪粗仿宋简" panose="02010600000101010101" charset="-122"/>
                <a:cs typeface="汉仪粗仿宋简" panose="02010600000101010101" charset="-122"/>
              </a:rPr>
              <a:t>的细粒度优化将多个触发</a:t>
            </a:r>
            <a:r>
              <a:rPr lang="en-US" altLang="zh-CN">
                <a:latin typeface="汉仪粗仿宋简" panose="02010600000101010101" charset="-122"/>
                <a:ea typeface="汉仪粗仿宋简" panose="02010600000101010101" charset="-122"/>
                <a:cs typeface="汉仪粗仿宋简" panose="02010600000101010101" charset="-122"/>
              </a:rPr>
              <a:t>-</a:t>
            </a:r>
            <a:r>
              <a:rPr lang="zh-CN" altLang="en-US">
                <a:latin typeface="汉仪粗仿宋简" panose="02010600000101010101" charset="-122"/>
                <a:ea typeface="汉仪粗仿宋简" panose="02010600000101010101" charset="-122"/>
                <a:cs typeface="汉仪粗仿宋简" panose="02010600000101010101" charset="-122"/>
              </a:rPr>
              <a:t>目标对映射到同一后门的参数子空间内，使后门在子空间内极度敏感，而其他空间极难触发。</a:t>
            </a:r>
            <a:r>
              <a:rPr lang="en-US" altLang="zh-CN">
                <a:latin typeface="汉仪粗仿宋简" panose="02010600000101010101" charset="-122"/>
                <a:ea typeface="汉仪粗仿宋简" panose="02010600000101010101" charset="-122"/>
                <a:cs typeface="汉仪粗仿宋简" panose="02010600000101010101" charset="-122"/>
              </a:rPr>
              <a:t>RAG-WM</a:t>
            </a:r>
            <a:r>
              <a:rPr lang="zh-CN" altLang="en-US">
                <a:latin typeface="汉仪粗仿宋简" panose="02010600000101010101" charset="-122"/>
                <a:ea typeface="汉仪粗仿宋简" panose="02010600000101010101" charset="-122"/>
                <a:cs typeface="汉仪粗仿宋简" panose="02010600000101010101" charset="-122"/>
              </a:rPr>
              <a:t>中可以应用到水印的嵌入，将水印嵌入到一个密钥决定的子空间中，想要破坏水印需要先对子空间进行扰动，难度较大。可以抵抗改写攻击以及大量新知识插入时对水印的</a:t>
            </a:r>
            <a:r>
              <a:rPr lang="zh-CN" altLang="en-US">
                <a:latin typeface="汉仪粗仿宋简" panose="02010600000101010101" charset="-122"/>
                <a:ea typeface="汉仪粗仿宋简" panose="02010600000101010101" charset="-122"/>
                <a:cs typeface="汉仪粗仿宋简" panose="02010600000101010101" charset="-122"/>
              </a:rPr>
              <a:t>破坏。</a:t>
            </a:r>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r>
              <a:rPr lang="en-US" altLang="zh-CN" sz="2000" dirty="0">
                <a:solidFill>
                  <a:schemeClr val="bg2"/>
                </a:solidFill>
                <a:latin typeface="Chaparral Pro Light" panose="02060403030505090203" charset="0"/>
                <a:cs typeface="Chaparral Pro Light" panose="02060403030505090203" charset="0"/>
              </a:rPr>
              <a:t>Give LLMs a Security Course: Securing Retrieval-Augmented Code Generation via Knowledge Injection</a:t>
            </a:r>
            <a:endParaRPr lang="en-US" altLang="zh-CN" sz="2000"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97790" y="843280"/>
            <a:ext cx="11903075" cy="2945765"/>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研究背景</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在代码生成领域的应用日益广泛，特别是通过</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技术形成的</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RACG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系统，能够利用外部知识库显著提升生成代码的功能正确性。这类系统已成为现代软件开发中的重要辅助工具。然而，现有的</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RACG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系统主要关注功能实现，而忽略了安全性问题，导致潜在风险突出。具体而言，知识库中可能被注入恶意或易受攻击的代码样本，这些样本会误导</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LLMs</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生成包含漏洞的代码。根据相关研究，即使知识库中仅有一个中毒样本，也可能导致约</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48%</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的生成代码存在漏洞；在实际场景中，攻击者可注入多个恶意样本，进一步放大软件安全威胁。此外，</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LLMs</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自身在生成安全代码方面存在局限性，先前研究显示，约</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40%</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的</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生成代码包含</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MITRE Top-25</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漏洞类型，如缓冲区溢出、空指针等。</a:t>
            </a: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sp>
        <p:nvSpPr>
          <p:cNvPr id="7" name="文本框 6"/>
          <p:cNvSpPr txBox="1"/>
          <p:nvPr/>
        </p:nvSpPr>
        <p:spPr>
          <a:xfrm>
            <a:off x="125730" y="4057650"/>
            <a:ext cx="11825605" cy="2471420"/>
          </a:xfrm>
          <a:prstGeom prst="rect">
            <a:avLst/>
          </a:prstGeom>
          <a:noFill/>
        </p:spPr>
        <p:txBody>
          <a:bodyPr wrap="square" rtlCol="0">
            <a:noAutofit/>
          </a:bodyPr>
          <a:p>
            <a:pPr marR="0" lvl="0" indent="0" algn="l" defTabSz="914400" rtl="0" eaLnBrk="1" fontAlgn="auto" latinLnBrk="0" hangingPunct="1">
              <a:lnSpc>
                <a:spcPct val="14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lang="en-US" altLang="zh-CN" b="1" dirty="0">
                <a:solidFill>
                  <a:prstClr val="black"/>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rPr>
              <a:t>研究目的</a:t>
            </a:r>
            <a:endPar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endParaRPr>
          </a:p>
          <a:p>
            <a:pPr>
              <a:lnSpc>
                <a:spcPct val="140000"/>
              </a:lnSpc>
            </a:pPr>
            <a:r>
              <a:rPr lang="zh-CN" altLang="en-US">
                <a:latin typeface="汉仪粗仿宋简" panose="02010600000101010101" charset="-122"/>
                <a:ea typeface="汉仪粗仿宋简" panose="02010600000101010101" charset="-122"/>
              </a:rPr>
              <a:t>本研究旨在提出一个名为</a:t>
            </a:r>
            <a:r>
              <a:rPr lang="en-US" altLang="zh-CN">
                <a:latin typeface="汉仪粗仿宋简" panose="02010600000101010101" charset="-122"/>
                <a:ea typeface="汉仪粗仿宋简" panose="02010600000101010101" charset="-122"/>
              </a:rPr>
              <a:t>CodeGuarder</a:t>
            </a:r>
            <a:r>
              <a:rPr lang="zh-CN" altLang="en-US">
                <a:latin typeface="汉仪粗仿宋简" panose="02010600000101010101" charset="-122"/>
                <a:ea typeface="汉仪粗仿宋简" panose="02010600000101010101" charset="-122"/>
              </a:rPr>
              <a:t>的安全增强框架，通过知识注入机制，将</a:t>
            </a:r>
            <a:r>
              <a:rPr lang="en-US" altLang="zh-CN">
                <a:latin typeface="汉仪粗仿宋简" panose="02010600000101010101" charset="-122"/>
                <a:ea typeface="汉仪粗仿宋简" panose="02010600000101010101" charset="-122"/>
              </a:rPr>
              <a:t>RACG</a:t>
            </a:r>
            <a:r>
              <a:rPr lang="zh-CN" altLang="en-US">
                <a:latin typeface="汉仪粗仿宋简" panose="02010600000101010101" charset="-122"/>
                <a:ea typeface="汉仪粗仿宋简" panose="02010600000101010101" charset="-122"/>
              </a:rPr>
              <a:t>系统的检索范式从仅获取功能代码示例扩展到同时注入功能代码和安全知识，从而在不牺牲功能正确性的前提下显著提升生成代码的安全性。具体目标包括：（</a:t>
            </a:r>
            <a:r>
              <a:rPr lang="en-US" altLang="zh-CN">
                <a:latin typeface="汉仪粗仿宋简" panose="02010600000101010101" charset="-122"/>
                <a:ea typeface="汉仪粗仿宋简" panose="02010600000101010101" charset="-122"/>
              </a:rPr>
              <a:t>1</a:t>
            </a:r>
            <a:r>
              <a:rPr lang="zh-CN" altLang="en-US">
                <a:latin typeface="汉仪粗仿宋简" panose="02010600000101010101" charset="-122"/>
                <a:ea typeface="汉仪粗仿宋简" panose="02010600000101010101" charset="-122"/>
              </a:rPr>
              <a:t>）构建一个基于真实漏洞数据集的安全知识库，提取漏洞的功能描述、根因分析和修复模式；（</a:t>
            </a:r>
            <a:r>
              <a:rPr lang="en-US" altLang="zh-CN">
                <a:latin typeface="汉仪粗仿宋简" panose="02010600000101010101" charset="-122"/>
                <a:ea typeface="汉仪粗仿宋简" panose="02010600000101010101" charset="-122"/>
              </a:rPr>
              <a:t>2</a:t>
            </a:r>
            <a:r>
              <a:rPr lang="zh-CN" altLang="en-US">
                <a:latin typeface="汉仪粗仿宋简" panose="02010600000101010101" charset="-122"/>
                <a:ea typeface="汉仪粗仿宋简" panose="02010600000101010101" charset="-122"/>
              </a:rPr>
              <a:t>）设计在线检索机制，以优先注入高风险安全知识；（</a:t>
            </a:r>
            <a:r>
              <a:rPr lang="en-US" altLang="zh-CN">
                <a:latin typeface="汉仪粗仿宋简" panose="02010600000101010101" charset="-122"/>
                <a:ea typeface="汉仪粗仿宋简" panose="02010600000101010101" charset="-122"/>
              </a:rPr>
              <a:t>3</a:t>
            </a:r>
            <a:r>
              <a:rPr lang="zh-CN" altLang="en-US">
                <a:latin typeface="汉仪粗仿宋简" panose="02010600000101010101" charset="-122"/>
                <a:ea typeface="汉仪粗仿宋简" panose="02010600000101010101" charset="-122"/>
              </a:rPr>
              <a:t>）将检索到的安全知识无缝注入生成提示中，指导</a:t>
            </a:r>
            <a:r>
              <a:rPr lang="en-US" altLang="zh-CN">
                <a:latin typeface="汉仪粗仿宋简" panose="02010600000101010101" charset="-122"/>
                <a:ea typeface="汉仪粗仿宋简" panose="02010600000101010101" charset="-122"/>
              </a:rPr>
              <a:t>LLMs</a:t>
            </a:r>
            <a:r>
              <a:rPr lang="zh-CN" altLang="en-US">
                <a:latin typeface="汉仪粗仿宋简" panose="02010600000101010101" charset="-122"/>
                <a:ea typeface="汉仪粗仿宋简" panose="02010600000101010101" charset="-122"/>
              </a:rPr>
              <a:t>避免常见漏洞；（</a:t>
            </a:r>
            <a:r>
              <a:rPr lang="en-US" altLang="zh-CN">
                <a:latin typeface="汉仪粗仿宋简" panose="02010600000101010101" charset="-122"/>
                <a:ea typeface="汉仪粗仿宋简" panose="02010600000101010101" charset="-122"/>
              </a:rPr>
              <a:t>4</a:t>
            </a:r>
            <a:r>
              <a:rPr lang="zh-CN" altLang="en-US">
                <a:latin typeface="汉仪粗仿宋简" panose="02010600000101010101" charset="-122"/>
                <a:ea typeface="汉仪粗仿宋简" panose="02010600000101010101" charset="-122"/>
              </a:rPr>
              <a:t>）在多种场景下评估框架的有效性，验证其在不同</a:t>
            </a:r>
            <a:r>
              <a:rPr lang="en-US" altLang="zh-CN">
                <a:latin typeface="汉仪粗仿宋简" panose="02010600000101010101" charset="-122"/>
                <a:ea typeface="汉仪粗仿宋简" panose="02010600000101010101" charset="-122"/>
              </a:rPr>
              <a:t>LLMs</a:t>
            </a:r>
            <a:r>
              <a:rPr lang="zh-CN" altLang="en-US">
                <a:latin typeface="汉仪粗仿宋简" panose="02010600000101010101" charset="-122"/>
                <a:ea typeface="汉仪粗仿宋简" panose="02010600000101010101" charset="-122"/>
              </a:rPr>
              <a:t>和编程语言上的泛化能力，并与现有方法比较。</a:t>
            </a:r>
            <a:endParaRPr lang="zh-CN" altLang="en-US">
              <a:latin typeface="汉仪粗仿宋简" panose="02010600000101010101" charset="-122"/>
              <a:ea typeface="汉仪粗仿宋简" panose="0201060000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流程</a:t>
            </a:r>
            <a:r>
              <a:rPr lang="zh-CN" altLang="en-US" b="1">
                <a:latin typeface="汉仪粗仿宋简" panose="02010600000101010101" charset="-122"/>
                <a:ea typeface="汉仪粗仿宋简" panose="02010600000101010101" charset="-122"/>
              </a:rPr>
              <a:t>概览</a:t>
            </a:r>
            <a:endParaRPr lang="zh-CN" altLang="en-US" b="1">
              <a:latin typeface="汉仪粗仿宋简" panose="02010600000101010101" charset="-122"/>
              <a:ea typeface="汉仪粗仿宋简" panose="02010600000101010101" charset="-122"/>
            </a:endParaRPr>
          </a:p>
        </p:txBody>
      </p:sp>
      <p:pic>
        <p:nvPicPr>
          <p:cNvPr id="8" name="图片 7"/>
          <p:cNvPicPr>
            <a:picLocks noChangeAspect="1"/>
          </p:cNvPicPr>
          <p:nvPr/>
        </p:nvPicPr>
        <p:blipFill>
          <a:blip r:embed="rId4"/>
          <a:stretch>
            <a:fillRect/>
          </a:stretch>
        </p:blipFill>
        <p:spPr>
          <a:xfrm>
            <a:off x="1762760" y="944880"/>
            <a:ext cx="4663440" cy="5334000"/>
          </a:xfrm>
          <a:prstGeom prst="rect">
            <a:avLst/>
          </a:prstGeom>
        </p:spPr>
      </p:pic>
      <p:sp>
        <p:nvSpPr>
          <p:cNvPr id="9" name="文本框 8"/>
          <p:cNvSpPr txBox="1"/>
          <p:nvPr/>
        </p:nvSpPr>
        <p:spPr>
          <a:xfrm>
            <a:off x="6765290" y="2303780"/>
            <a:ext cx="5344160" cy="3020695"/>
          </a:xfrm>
          <a:prstGeom prst="rect">
            <a:avLst/>
          </a:prstGeom>
          <a:noFill/>
        </p:spPr>
        <p:txBody>
          <a:bodyPr wrap="square" rtlCol="0">
            <a:noAutofit/>
          </a:bodyPr>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主要包含两部分流程：线下构建安全知识库以及在线集成这些知识以加强由</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系统生成的代码的安全性</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离线阶段：</a:t>
            </a:r>
            <a:r>
              <a:rPr lang="en-US" altLang="zh-CN">
                <a:latin typeface="Times New Roman" panose="02020603050405020304" pitchFamily="18" charset="0"/>
                <a:ea typeface="汉仪粗仿宋简" panose="02010600000101010101" charset="-122"/>
                <a:cs typeface="Times New Roman" panose="02020603050405020304" pitchFamily="18" charset="0"/>
              </a:rPr>
              <a:t>CodeGuarder</a:t>
            </a:r>
            <a:r>
              <a:rPr lang="zh-CN" altLang="en-US">
                <a:latin typeface="汉仪粗仿宋简" panose="02010600000101010101" charset="-122"/>
                <a:ea typeface="汉仪粗仿宋简" panose="02010600000101010101" charset="-122"/>
                <a:cs typeface="汉仪粗仿宋简" panose="02010600000101010101" charset="-122"/>
              </a:rPr>
              <a:t>分析历史漏洞以自动构建安全知识库</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联机阶段：此知识库用于强化用户查询的代码生成过程。联机强化包括两个主要阶段：首先基于查询检索相关的安全知识，其次将这些知识集成到提示中以指导</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生成安全代码。</a:t>
            </a:r>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359537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离线知识库</a:t>
            </a:r>
            <a:r>
              <a:rPr lang="zh-CN" altLang="en-US" b="1">
                <a:latin typeface="汉仪粗仿宋简" panose="02010600000101010101" charset="-122"/>
                <a:ea typeface="汉仪粗仿宋简" panose="02010600000101010101" charset="-122"/>
              </a:rPr>
              <a:t>构建</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392430" y="1891665"/>
            <a:ext cx="11648440" cy="2448560"/>
          </a:xfrm>
          <a:prstGeom prst="rect">
            <a:avLst/>
          </a:prstGeom>
          <a:noFill/>
        </p:spPr>
        <p:txBody>
          <a:bodyPr wrap="square" rtlCol="0">
            <a:noAutofit/>
          </a:bodyPr>
          <a:p>
            <a:pPr indent="0">
              <a:lnSpc>
                <a:spcPct val="130000"/>
              </a:lnSpc>
              <a:buNone/>
            </a:pPr>
            <a:r>
              <a:rPr lang="zh-CN" altLang="en-US">
                <a:latin typeface="汉仪粗仿宋简" panose="02010600000101010101" charset="-122"/>
                <a:ea typeface="汉仪粗仿宋简" panose="02010600000101010101" charset="-122"/>
              </a:rPr>
              <a:t>数据源是</a:t>
            </a:r>
            <a:r>
              <a:rPr lang="en-US" altLang="zh-CN">
                <a:latin typeface="汉仪粗仿宋简" panose="02010600000101010101" charset="-122"/>
                <a:ea typeface="汉仪粗仿宋简" panose="02010600000101010101" charset="-122"/>
              </a:rPr>
              <a:t>ReposVUL(</a:t>
            </a:r>
            <a:r>
              <a:rPr lang="zh-CN" altLang="en-US">
                <a:latin typeface="汉仪粗仿宋简" panose="02010600000101010101" charset="-122"/>
                <a:ea typeface="汉仪粗仿宋简" panose="02010600000101010101" charset="-122"/>
              </a:rPr>
              <a:t>首个仓库级的高质量漏洞数据集</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CodeGuarder</a:t>
            </a:r>
            <a:r>
              <a:rPr lang="zh-CN" altLang="en-US">
                <a:latin typeface="汉仪粗仿宋简" panose="02010600000101010101" charset="-122"/>
                <a:ea typeface="汉仪粗仿宋简" panose="02010600000101010101" charset="-122"/>
              </a:rPr>
              <a:t>提取出三个维度：</a:t>
            </a:r>
            <a:endParaRPr lang="zh-CN" altLang="en-US">
              <a:latin typeface="汉仪粗仿宋简" panose="02010600000101010101" charset="-122"/>
              <a:ea typeface="汉仪粗仿宋简" panose="02010600000101010101" charset="-122"/>
            </a:endParaRPr>
          </a:p>
          <a:p>
            <a:pPr marL="285750" indent="-285750">
              <a:lnSpc>
                <a:spcPct val="130000"/>
              </a:lnSpc>
              <a:buFont typeface="Arial" panose="020B0604020202020204" pitchFamily="34" charset="0"/>
              <a:buChar char="•"/>
            </a:pPr>
            <a:r>
              <a:rPr lang="zh-CN" altLang="en-US">
                <a:latin typeface="汉仪粗仿宋简" panose="02010600000101010101" charset="-122"/>
                <a:ea typeface="汉仪粗仿宋简" panose="02010600000101010101" charset="-122"/>
              </a:rPr>
              <a:t>功能性：在</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中注入安全知识，以检索相关安全信息。具体来说，现有的</a:t>
            </a:r>
            <a:r>
              <a:rPr lang="en-US" altLang="zh-CN">
                <a:latin typeface="汉仪粗仿宋简" panose="02010600000101010101" charset="-122"/>
                <a:ea typeface="汉仪粗仿宋简" panose="02010600000101010101" charset="-122"/>
              </a:rPr>
              <a:t>CVE</a:t>
            </a:r>
            <a:r>
              <a:rPr lang="zh-CN" altLang="en-US">
                <a:latin typeface="汉仪粗仿宋简" panose="02010600000101010101" charset="-122"/>
                <a:ea typeface="汉仪粗仿宋简" panose="02010600000101010101" charset="-122"/>
              </a:rPr>
              <a:t>描述聚焦漏洞根因与影响，而</a:t>
            </a:r>
            <a:r>
              <a:rPr lang="en-US" altLang="zh-CN">
                <a:latin typeface="汉仪粗仿宋简" panose="02010600000101010101" charset="-122"/>
                <a:ea typeface="汉仪粗仿宋简" panose="02010600000101010101" charset="-122"/>
              </a:rPr>
              <a:t>RACG</a:t>
            </a:r>
            <a:r>
              <a:rPr lang="zh-CN" altLang="en-US">
                <a:latin typeface="汉仪粗仿宋简" panose="02010600000101010101" charset="-122"/>
                <a:ea typeface="汉仪粗仿宋简" panose="02010600000101010101" charset="-122"/>
              </a:rPr>
              <a:t>的输入指定代码的预期功能，从而会导致显著的语义差距。通过描述使用</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后台提取的易受攻击代码的功能来定义与安全知识相关的功能，利用功能来表示相应的安全知识，使</a:t>
            </a:r>
            <a:r>
              <a:rPr lang="en-US" altLang="zh-CN">
                <a:latin typeface="汉仪粗仿宋简" panose="02010600000101010101" charset="-122"/>
                <a:ea typeface="汉仪粗仿宋简" panose="02010600000101010101" charset="-122"/>
              </a:rPr>
              <a:t>RACG</a:t>
            </a:r>
            <a:r>
              <a:rPr lang="zh-CN" altLang="en-US">
                <a:latin typeface="汉仪粗仿宋简" panose="02010600000101010101" charset="-122"/>
                <a:ea typeface="汉仪粗仿宋简" panose="02010600000101010101" charset="-122"/>
              </a:rPr>
              <a:t>系统可以有效的检索相关知识。</a:t>
            </a:r>
            <a:endParaRPr lang="zh-CN" altLang="en-US">
              <a:latin typeface="汉仪粗仿宋简" panose="02010600000101010101" charset="-122"/>
              <a:ea typeface="汉仪粗仿宋简" panose="02010600000101010101" charset="-122"/>
            </a:endParaRPr>
          </a:p>
          <a:p>
            <a:pPr marL="285750" indent="-285750">
              <a:lnSpc>
                <a:spcPct val="130000"/>
              </a:lnSpc>
              <a:buFont typeface="Arial" panose="020B0604020202020204" pitchFamily="34" charset="0"/>
              <a:buChar char="•"/>
            </a:pPr>
            <a:r>
              <a:rPr lang="zh-CN" altLang="en-US">
                <a:latin typeface="汉仪粗仿宋简" panose="02010600000101010101" charset="-122"/>
                <a:ea typeface="汉仪粗仿宋简" panose="02010600000101010101" charset="-122"/>
              </a:rPr>
              <a:t>根本原因：解释了漏洞发生的原因，由两个部分组成：</a:t>
            </a:r>
            <a:r>
              <a:rPr lang="en-US" altLang="zh-CN">
                <a:latin typeface="汉仪粗仿宋简" panose="02010600000101010101" charset="-122"/>
                <a:ea typeface="汉仪粗仿宋简" panose="02010600000101010101" charset="-122"/>
              </a:rPr>
              <a:t>1)</a:t>
            </a:r>
            <a:r>
              <a:rPr lang="zh-CN" altLang="en-US">
                <a:latin typeface="汉仪粗仿宋简" panose="02010600000101010101" charset="-122"/>
                <a:ea typeface="汉仪粗仿宋简" panose="02010600000101010101" charset="-122"/>
              </a:rPr>
              <a:t>对漏洞根本原因的自然语言描述</a:t>
            </a:r>
            <a:r>
              <a:rPr lang="en-US" altLang="zh-CN">
                <a:latin typeface="汉仪粗仿宋简" panose="02010600000101010101" charset="-122"/>
                <a:ea typeface="汉仪粗仿宋简" panose="02010600000101010101" charset="-122"/>
              </a:rPr>
              <a:t>2)</a:t>
            </a:r>
            <a:r>
              <a:rPr lang="zh-CN" altLang="en-US">
                <a:latin typeface="汉仪粗仿宋简" panose="02010600000101010101" charset="-122"/>
                <a:ea typeface="汉仪粗仿宋简" panose="02010600000101010101" charset="-122"/>
              </a:rPr>
              <a:t>说明漏洞的代码示例。</a:t>
            </a:r>
            <a:endParaRPr lang="zh-CN" altLang="en-US">
              <a:latin typeface="汉仪粗仿宋简" panose="02010600000101010101" charset="-122"/>
              <a:ea typeface="汉仪粗仿宋简" panose="02010600000101010101" charset="-122"/>
            </a:endParaRPr>
          </a:p>
          <a:p>
            <a:pPr marL="285750" indent="-285750">
              <a:lnSpc>
                <a:spcPct val="130000"/>
              </a:lnSpc>
              <a:buFont typeface="Arial" panose="020B0604020202020204" pitchFamily="34" charset="0"/>
              <a:buChar char="•"/>
            </a:pPr>
            <a:r>
              <a:rPr lang="zh-CN" altLang="en-US">
                <a:latin typeface="汉仪粗仿宋简" panose="02010600000101010101" charset="-122"/>
                <a:ea typeface="汉仪粗仿宋简" panose="02010600000101010101" charset="-122"/>
              </a:rPr>
              <a:t>修复模式：根本原因有助于</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识别易受攻击的代码，修复模式指导</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生成安全代码。修复模式由两部分组成，一个自然语言描述的修复以及修复成功的例子。</a:t>
            </a:r>
            <a:endParaRPr lang="zh-CN" altLang="en-US">
              <a:latin typeface="汉仪粗仿宋简" panose="02010600000101010101" charset="-122"/>
              <a:ea typeface="汉仪粗仿宋简" panose="02010600000101010101" charset="-122"/>
            </a:endParaRPr>
          </a:p>
        </p:txBody>
      </p:sp>
      <p:sp>
        <p:nvSpPr>
          <p:cNvPr id="14" name="文本框 13"/>
          <p:cNvSpPr txBox="1"/>
          <p:nvPr/>
        </p:nvSpPr>
        <p:spPr>
          <a:xfrm>
            <a:off x="455930" y="4608830"/>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安全知识库的</a:t>
            </a:r>
            <a:r>
              <a:rPr lang="zh-CN" altLang="en-US" b="1" u="sng">
                <a:solidFill>
                  <a:srgbClr val="004180"/>
                </a:solidFill>
                <a:latin typeface="汉仪粗仿宋简" panose="02010600000101010101" charset="-122"/>
                <a:ea typeface="汉仪粗仿宋简" panose="02010600000101010101" charset="-122"/>
              </a:rPr>
              <a:t>构建</a:t>
            </a:r>
            <a:endParaRPr lang="zh-CN" altLang="en-US" b="1" u="sng">
              <a:solidFill>
                <a:srgbClr val="004180"/>
              </a:solidFill>
              <a:latin typeface="汉仪粗仿宋简" panose="02010600000101010101" charset="-122"/>
              <a:ea typeface="汉仪粗仿宋简" panose="02010600000101010101" charset="-122"/>
            </a:endParaRPr>
          </a:p>
          <a:p>
            <a:endParaRPr lang="zh-CN" altLang="en-US" b="1" u="sng">
              <a:solidFill>
                <a:srgbClr val="004180"/>
              </a:solidFill>
              <a:latin typeface="汉仪粗仿宋简" panose="02010600000101010101" charset="-122"/>
              <a:ea typeface="汉仪粗仿宋简" panose="02010600000101010101" charset="-122"/>
            </a:endParaRPr>
          </a:p>
        </p:txBody>
      </p:sp>
      <p:sp>
        <p:nvSpPr>
          <p:cNvPr id="15" name="文本框 14"/>
          <p:cNvSpPr txBox="1"/>
          <p:nvPr/>
        </p:nvSpPr>
        <p:spPr>
          <a:xfrm>
            <a:off x="455930" y="5110480"/>
            <a:ext cx="11584940" cy="865505"/>
          </a:xfrm>
          <a:prstGeom prst="rect">
            <a:avLst/>
          </a:prstGeom>
          <a:noFill/>
        </p:spPr>
        <p:txBody>
          <a:bodyPr wrap="square" rtlCol="0">
            <a:spAutoFit/>
          </a:bodyPr>
          <a:p>
            <a:pPr>
              <a:lnSpc>
                <a:spcPct val="140000"/>
              </a:lnSpc>
            </a:pPr>
            <a:r>
              <a:rPr lang="zh-CN" altLang="en-US">
                <a:latin typeface="汉仪粗仿宋简" panose="02010600000101010101" charset="-122"/>
                <a:ea typeface="汉仪粗仿宋简" panose="02010600000101010101" charset="-122"/>
                <a:cs typeface="汉仪粗仿宋简" panose="02010600000101010101" charset="-122"/>
                <a:sym typeface="+mn-ea"/>
              </a:rPr>
              <a:t>对每个漏洞，我们提示</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提取安全知识，每个漏洞的输出是由功能描述、根本原因和修复模式组成的元组，对所有实例重复此过程来构建最终的安全知识库。</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p:txBody>
      </p:sp>
      <p:sp>
        <p:nvSpPr>
          <p:cNvPr id="18" name="文本框 17"/>
          <p:cNvSpPr txBox="1"/>
          <p:nvPr/>
        </p:nvSpPr>
        <p:spPr>
          <a:xfrm>
            <a:off x="455930" y="1348105"/>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数据源和知识</a:t>
            </a:r>
            <a:r>
              <a:rPr lang="zh-CN" altLang="en-US" b="1" u="sng">
                <a:solidFill>
                  <a:srgbClr val="004180"/>
                </a:solidFill>
                <a:latin typeface="汉仪粗仿宋简" panose="02010600000101010101" charset="-122"/>
                <a:ea typeface="汉仪粗仿宋简" panose="02010600000101010101" charset="-122"/>
              </a:rPr>
              <a:t>模式</a:t>
            </a:r>
            <a:endParaRPr lang="zh-CN" altLang="en-US" b="1" u="sng">
              <a:solidFill>
                <a:srgbClr val="004180"/>
              </a:solidFill>
              <a:latin typeface="汉仪粗仿宋简" panose="02010600000101010101" charset="-122"/>
              <a:ea typeface="汉仪粗仿宋简" panose="0201060000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513905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上下文感知的细粒度知识在线检索</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455295" y="4886325"/>
            <a:ext cx="11292205" cy="1838960"/>
          </a:xfrm>
          <a:prstGeom prst="rect">
            <a:avLst/>
          </a:prstGeom>
          <a:noFill/>
        </p:spPr>
        <p:txBody>
          <a:bodyPr wrap="square" rtlCol="0">
            <a:noAutofit/>
          </a:bodyPr>
          <a:p>
            <a:pPr indent="0">
              <a:lnSpc>
                <a:spcPct val="120000"/>
              </a:lnSpc>
              <a:buNone/>
            </a:pPr>
            <a:r>
              <a:rPr lang="zh-CN" altLang="en-US">
                <a:latin typeface="汉仪粗仿宋简" panose="02010600000101010101" charset="-122"/>
                <a:ea typeface="汉仪粗仿宋简" panose="02010600000101010101" charset="-122"/>
              </a:rPr>
              <a:t>单个查询可能包含跨不同位置的多个漏洞，即由单个查询生成的代码可能面临多个安全问题</a:t>
            </a:r>
            <a:endParaRPr lang="zh-CN" altLang="en-US">
              <a:latin typeface="汉仪粗仿宋简" panose="02010600000101010101" charset="-122"/>
              <a:ea typeface="汉仪粗仿宋简" panose="02010600000101010101" charset="-122"/>
            </a:endParaRPr>
          </a:p>
          <a:p>
            <a:pPr indent="0">
              <a:lnSpc>
                <a:spcPct val="120000"/>
              </a:lnSpc>
              <a:buNone/>
            </a:pPr>
            <a:r>
              <a:rPr lang="zh-CN" altLang="en-US">
                <a:latin typeface="汉仪粗仿宋简" panose="02010600000101010101" charset="-122"/>
                <a:ea typeface="汉仪粗仿宋简" panose="02010600000101010101" charset="-122"/>
              </a:rPr>
              <a:t>例如上图中给出的例子一样，左半部分是直接给出的答案，有很多安全问题；但右半部分将查询分解为多个子任务，检索到的知识明确指示再分配内存之前检查分配长度以防止溢出。</a:t>
            </a:r>
            <a:endParaRPr lang="zh-CN" altLang="en-US">
              <a:latin typeface="汉仪粗仿宋简" panose="02010600000101010101" charset="-122"/>
              <a:ea typeface="汉仪粗仿宋简" panose="02010600000101010101" charset="-122"/>
            </a:endParaRPr>
          </a:p>
          <a:p>
            <a:pPr indent="0">
              <a:lnSpc>
                <a:spcPct val="120000"/>
              </a:lnSpc>
              <a:buNone/>
            </a:pP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在理解复杂任务有非凡的能力，所以可以将查询分为多个子查询，最终分解的查询</a:t>
            </a:r>
            <a:r>
              <a:rPr lang="en-US" altLang="zh-CN">
                <a:latin typeface="汉仪粗仿宋简" panose="02010600000101010101" charset="-122"/>
                <a:ea typeface="汉仪粗仿宋简" panose="02010600000101010101" charset="-122"/>
              </a:rPr>
              <a:t>Q</a:t>
            </a:r>
            <a:r>
              <a:rPr lang="en-US" altLang="zh-CN" baseline="-25000">
                <a:latin typeface="汉仪粗仿宋简" panose="02010600000101010101" charset="-122"/>
                <a:ea typeface="汉仪粗仿宋简" panose="02010600000101010101" charset="-122"/>
              </a:rPr>
              <a:t>d</a:t>
            </a:r>
            <a:r>
              <a:rPr lang="zh-CN" altLang="en-US">
                <a:latin typeface="汉仪粗仿宋简" panose="02010600000101010101" charset="-122"/>
                <a:ea typeface="汉仪粗仿宋简" panose="02010600000101010101" charset="-122"/>
              </a:rPr>
              <a:t>由子任务列表</a:t>
            </a:r>
            <a:r>
              <a:rPr lang="en-US" altLang="zh-CN">
                <a:latin typeface="汉仪粗仿宋简" panose="02010600000101010101" charset="-122"/>
                <a:ea typeface="汉仪粗仿宋简" panose="02010600000101010101" charset="-122"/>
              </a:rPr>
              <a:t>Q</a:t>
            </a:r>
            <a:r>
              <a:rPr lang="en-US" altLang="zh-CN" baseline="-25000">
                <a:latin typeface="汉仪粗仿宋简" panose="02010600000101010101" charset="-122"/>
                <a:ea typeface="汉仪粗仿宋简" panose="02010600000101010101" charset="-122"/>
              </a:rPr>
              <a:t>d</a:t>
            </a:r>
            <a:r>
              <a:rPr lang="en-US" altLang="zh-CN">
                <a:latin typeface="汉仪粗仿宋简" panose="02010600000101010101" charset="-122"/>
                <a:ea typeface="汉仪粗仿宋简" panose="02010600000101010101" charset="-122"/>
              </a:rPr>
              <a:t> = [q</a:t>
            </a:r>
            <a:r>
              <a:rPr lang="en-US" altLang="zh-CN" baseline="-25000">
                <a:latin typeface="汉仪粗仿宋简" panose="02010600000101010101" charset="-122"/>
                <a:ea typeface="汉仪粗仿宋简" panose="02010600000101010101" charset="-122"/>
              </a:rPr>
              <a:t>0</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q</a:t>
            </a:r>
            <a:r>
              <a:rPr lang="en-US" altLang="zh-CN" baseline="-25000">
                <a:latin typeface="汉仪粗仿宋简" panose="02010600000101010101" charset="-122"/>
                <a:ea typeface="汉仪粗仿宋简" panose="02010600000101010101" charset="-122"/>
              </a:rPr>
              <a:t>1</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q</a:t>
            </a:r>
            <a:r>
              <a:rPr lang="en-US" altLang="zh-CN" baseline="-25000">
                <a:latin typeface="汉仪粗仿宋简" panose="02010600000101010101" charset="-122"/>
                <a:ea typeface="汉仪粗仿宋简" panose="02010600000101010101" charset="-122"/>
              </a:rPr>
              <a:t>n</a:t>
            </a:r>
            <a:r>
              <a:rPr lang="en-US" altLang="zh-CN">
                <a:latin typeface="汉仪粗仿宋简" panose="02010600000101010101" charset="-122"/>
                <a:ea typeface="汉仪粗仿宋简" panose="02010600000101010101" charset="-122"/>
              </a:rPr>
              <a:t>]</a:t>
            </a:r>
            <a:r>
              <a:rPr lang="zh-CN" altLang="en-US">
                <a:latin typeface="汉仪粗仿宋简" panose="02010600000101010101" charset="-122"/>
                <a:ea typeface="汉仪粗仿宋简" panose="02010600000101010101" charset="-122"/>
              </a:rPr>
              <a:t>组成，然后在知识检索阶段中使用。</a:t>
            </a:r>
            <a:endParaRPr lang="zh-CN" altLang="en-US">
              <a:latin typeface="汉仪粗仿宋简" panose="02010600000101010101" charset="-122"/>
              <a:ea typeface="汉仪粗仿宋简" panose="02010600000101010101" charset="-122"/>
            </a:endParaRPr>
          </a:p>
        </p:txBody>
      </p:sp>
      <p:sp>
        <p:nvSpPr>
          <p:cNvPr id="18" name="文本框 17"/>
          <p:cNvSpPr txBox="1"/>
          <p:nvPr/>
        </p:nvSpPr>
        <p:spPr>
          <a:xfrm>
            <a:off x="328295" y="2177415"/>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查询分解</a:t>
            </a:r>
            <a:endParaRPr lang="zh-CN" altLang="en-US" b="1" u="sng">
              <a:solidFill>
                <a:srgbClr val="004180"/>
              </a:solidFill>
              <a:latin typeface="汉仪粗仿宋简" panose="02010600000101010101" charset="-122"/>
              <a:ea typeface="汉仪粗仿宋简" panose="02010600000101010101" charset="-122"/>
            </a:endParaRPr>
          </a:p>
        </p:txBody>
      </p:sp>
      <p:pic>
        <p:nvPicPr>
          <p:cNvPr id="6" name="图片 5"/>
          <p:cNvPicPr>
            <a:picLocks noChangeAspect="1"/>
          </p:cNvPicPr>
          <p:nvPr/>
        </p:nvPicPr>
        <p:blipFill>
          <a:blip r:embed="rId4"/>
          <a:stretch>
            <a:fillRect/>
          </a:stretch>
        </p:blipFill>
        <p:spPr>
          <a:xfrm>
            <a:off x="1705610" y="2587625"/>
            <a:ext cx="8923020" cy="2103120"/>
          </a:xfrm>
          <a:prstGeom prst="rect">
            <a:avLst/>
          </a:prstGeom>
        </p:spPr>
      </p:pic>
      <p:sp>
        <p:nvSpPr>
          <p:cNvPr id="9" name="文本框 8"/>
          <p:cNvSpPr txBox="1"/>
          <p:nvPr/>
        </p:nvSpPr>
        <p:spPr>
          <a:xfrm>
            <a:off x="233045" y="1318260"/>
            <a:ext cx="11389360" cy="645160"/>
          </a:xfrm>
          <a:prstGeom prst="rect">
            <a:avLst/>
          </a:prstGeom>
          <a:noFill/>
        </p:spPr>
        <p:txBody>
          <a:bodyPr wrap="square" rtlCol="0">
            <a:spAutoFit/>
          </a:bodyPr>
          <a:p>
            <a:r>
              <a:rPr lang="zh-CN" altLang="en-US">
                <a:latin typeface="汉仪粗仿宋简" panose="02010600000101010101" charset="-122"/>
                <a:ea typeface="汉仪粗仿宋简" panose="02010600000101010101" charset="-122"/>
                <a:cs typeface="汉仪粗仿宋简" panose="02010600000101010101" charset="-122"/>
              </a:rPr>
              <a:t>这一阶段主要采用一个上下文感知的、细粒度的知识检索器从构建的安全知识库</a:t>
            </a:r>
            <a:r>
              <a:rPr lang="en-US" altLang="zh-CN">
                <a:latin typeface="Times New Roman" panose="02020603050405020304" pitchFamily="18" charset="0"/>
                <a:ea typeface="汉仪粗仿宋简" panose="02010600000101010101" charset="-122"/>
                <a:cs typeface="Times New Roman" panose="02020603050405020304" pitchFamily="18" charset="0"/>
              </a:rPr>
              <a:t>S</a:t>
            </a:r>
            <a:r>
              <a:rPr lang="zh-CN" altLang="en-US">
                <a:latin typeface="汉仪粗仿宋简" panose="02010600000101010101" charset="-122"/>
                <a:ea typeface="汉仪粗仿宋简" panose="02010600000101010101" charset="-122"/>
                <a:cs typeface="汉仪粗仿宋简" panose="02010600000101010101" charset="-122"/>
              </a:rPr>
              <a:t>中为一个给定的查询</a:t>
            </a:r>
            <a:r>
              <a:rPr lang="en-US" altLang="zh-CN">
                <a:latin typeface="Times New Roman" panose="02020603050405020304" pitchFamily="18" charset="0"/>
                <a:ea typeface="汉仪粗仿宋简" panose="02010600000101010101" charset="-122"/>
                <a:cs typeface="Times New Roman" panose="02020603050405020304" pitchFamily="18" charset="0"/>
              </a:rPr>
              <a:t>Q</a:t>
            </a:r>
            <a:r>
              <a:rPr lang="zh-CN" altLang="en-US">
                <a:latin typeface="汉仪粗仿宋简" panose="02010600000101010101" charset="-122"/>
                <a:ea typeface="汉仪粗仿宋简" panose="02010600000101010101" charset="-122"/>
                <a:cs typeface="汉仪粗仿宋简" panose="02010600000101010101" charset="-122"/>
              </a:rPr>
              <a:t>动态提取相关知识</a:t>
            </a:r>
            <a:r>
              <a:rPr lang="en-US" altLang="zh-CN">
                <a:latin typeface="Times New Roman" panose="02020603050405020304" pitchFamily="18" charset="0"/>
                <a:ea typeface="汉仪粗仿宋简" panose="02010600000101010101" charset="-122"/>
                <a:cs typeface="Times New Roman" panose="02020603050405020304" pitchFamily="18" charset="0"/>
              </a:rPr>
              <a:t>S</a:t>
            </a:r>
            <a:r>
              <a:rPr lang="en-US" altLang="zh-CN" baseline="-25000">
                <a:latin typeface="Times New Roman" panose="02020603050405020304" pitchFamily="18" charset="0"/>
                <a:ea typeface="汉仪粗仿宋简" panose="02010600000101010101" charset="-122"/>
                <a:cs typeface="Times New Roman" panose="02020603050405020304" pitchFamily="18" charset="0"/>
              </a:rPr>
              <a:t>Q</a:t>
            </a:r>
            <a:r>
              <a:rPr lang="zh-CN" altLang="en-US">
                <a:latin typeface="汉仪粗仿宋简" panose="02010600000101010101" charset="-122"/>
                <a:ea typeface="汉仪粗仿宋简" panose="02010600000101010101" charset="-122"/>
                <a:cs typeface="汉仪粗仿宋简" panose="02010600000101010101" charset="-122"/>
              </a:rPr>
              <a:t>，这个过程包含以下几个阶段：查询分解，安全知识检索，重新排序，过滤。</a:t>
            </a:r>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455295" y="1314450"/>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安全知识检索</a:t>
            </a:r>
            <a:endParaRPr lang="zh-CN" altLang="en-US" b="1" u="sng">
              <a:solidFill>
                <a:srgbClr val="004180"/>
              </a:solidFill>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328295" y="1694815"/>
            <a:ext cx="11292205" cy="2527935"/>
          </a:xfrm>
          <a:prstGeom prst="rect">
            <a:avLst/>
          </a:prstGeom>
          <a:noFill/>
        </p:spPr>
        <p:txBody>
          <a:bodyPr wrap="square" rtlCol="0">
            <a:noAutofit/>
          </a:bodyPr>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sym typeface="+mn-ea"/>
              </a:rPr>
              <a:t>目标是确定相关安全知识条目来自安全知识库</a:t>
            </a:r>
            <a:r>
              <a:rPr lang="en-US" altLang="zh-CN">
                <a:latin typeface="汉仪粗仿宋简" panose="02010600000101010101" charset="-122"/>
                <a:ea typeface="汉仪粗仿宋简" panose="02010600000101010101" charset="-122"/>
                <a:cs typeface="汉仪粗仿宋简" panose="02010600000101010101" charset="-122"/>
                <a:sym typeface="+mn-ea"/>
              </a:rPr>
              <a:t>S</a:t>
            </a:r>
            <a:r>
              <a:rPr lang="zh-CN" altLang="en-US">
                <a:latin typeface="汉仪粗仿宋简" panose="02010600000101010101" charset="-122"/>
                <a:ea typeface="汉仪粗仿宋简" panose="02010600000101010101" charset="-122"/>
                <a:cs typeface="汉仪粗仿宋简" panose="02010600000101010101" charset="-122"/>
                <a:sym typeface="+mn-ea"/>
              </a:rPr>
              <a:t>，使用余弦相似性来衡量子任务的特征表示和库中知识条目之间的相关性，通过分解的子任务列表</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d</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1</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2</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n</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，每个</a:t>
            </a:r>
            <a:r>
              <a:rPr lang="en-US" altLang="zh-CN">
                <a:latin typeface="汉仪粗仿宋简" panose="02010600000101010101" charset="-122"/>
                <a:ea typeface="汉仪粗仿宋简" panose="02010600000101010101" charset="-122"/>
                <a:cs typeface="汉仪粗仿宋简" panose="02010600000101010101" charset="-122"/>
                <a:sym typeface="+mn-ea"/>
              </a:rPr>
              <a:t>qi</a:t>
            </a:r>
            <a:r>
              <a:rPr lang="zh-CN" altLang="en-US">
                <a:latin typeface="汉仪粗仿宋简" panose="02010600000101010101" charset="-122"/>
                <a:ea typeface="汉仪粗仿宋简" panose="02010600000101010101" charset="-122"/>
                <a:cs typeface="汉仪粗仿宋简" panose="02010600000101010101" charset="-122"/>
                <a:sym typeface="+mn-ea"/>
              </a:rPr>
              <a:t>表示细粒度的语义单位，将其描述嵌入到向量中来计算每个子任务</a:t>
            </a:r>
            <a:r>
              <a:rPr lang="en-US" altLang="zh-CN">
                <a:latin typeface="汉仪粗仿宋简" panose="02010600000101010101" charset="-122"/>
                <a:ea typeface="汉仪粗仿宋简" panose="02010600000101010101" charset="-122"/>
                <a:cs typeface="汉仪粗仿宋简" panose="02010600000101010101" charset="-122"/>
                <a:sym typeface="+mn-ea"/>
              </a:rPr>
              <a:t>qi</a:t>
            </a:r>
            <a:r>
              <a:rPr lang="zh-CN" altLang="en-US">
                <a:latin typeface="汉仪粗仿宋简" panose="02010600000101010101" charset="-122"/>
                <a:ea typeface="汉仪粗仿宋简" panose="02010600000101010101" charset="-122"/>
                <a:cs typeface="汉仪粗仿宋简" panose="02010600000101010101" charset="-122"/>
                <a:sym typeface="+mn-ea"/>
              </a:rPr>
              <a:t>的特征向量：</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v</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qi</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=Embed(q</a:t>
            </a:r>
            <a:r>
              <a:rPr lang="en-US" altLang="zh-CN" baseline="-25000">
                <a:latin typeface="Times New Roman" panose="02020603050405020304" pitchFamily="18" charset="0"/>
                <a:ea typeface="汉仪粗仿宋简" panose="02010600000101010101" charset="-122"/>
                <a:cs typeface="Times New Roman" panose="02020603050405020304" pitchFamily="18" charset="0"/>
                <a:sym typeface="+mn-ea"/>
              </a:rPr>
              <a:t>i</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a:t>
            </a:r>
            <a:endParaRPr lang="en-US" altLang="zh-CN">
              <a:latin typeface="Times New Roman" panose="02020603050405020304" pitchFamily="18" charset="0"/>
              <a:ea typeface="汉仪粗仿宋简" panose="02010600000101010101" charset="-122"/>
              <a:cs typeface="Times New Roman" panose="02020603050405020304" pitchFamily="18" charset="0"/>
              <a:sym typeface="+mn-ea"/>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sym typeface="+mn-ea"/>
              </a:rPr>
              <a:t>每一个</a:t>
            </a:r>
            <a:r>
              <a:rPr lang="en-US" altLang="zh-CN">
                <a:latin typeface="汉仪粗仿宋简" panose="02010600000101010101" charset="-122"/>
                <a:ea typeface="汉仪粗仿宋简" panose="02010600000101010101" charset="-122"/>
                <a:cs typeface="汉仪粗仿宋简" panose="02010600000101010101" charset="-122"/>
                <a:sym typeface="+mn-ea"/>
              </a:rPr>
              <a:t>S</a:t>
            </a:r>
            <a:r>
              <a:rPr lang="zh-CN" altLang="en-US">
                <a:latin typeface="汉仪粗仿宋简" panose="02010600000101010101" charset="-122"/>
                <a:ea typeface="汉仪粗仿宋简" panose="02010600000101010101" charset="-122"/>
                <a:cs typeface="汉仪粗仿宋简" panose="02010600000101010101" charset="-122"/>
                <a:sym typeface="+mn-ea"/>
              </a:rPr>
              <a:t>中的知识条目</a:t>
            </a:r>
            <a:r>
              <a:rPr lang="en-US" altLang="zh-CN">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j</a:t>
            </a:r>
            <a:r>
              <a:rPr lang="zh-CN" altLang="en-US">
                <a:latin typeface="汉仪粗仿宋简" panose="02010600000101010101" charset="-122"/>
                <a:ea typeface="汉仪粗仿宋简" panose="02010600000101010101" charset="-122"/>
                <a:cs typeface="汉仪粗仿宋简" panose="02010600000101010101" charset="-122"/>
                <a:sym typeface="+mn-ea"/>
              </a:rPr>
              <a:t>也被一个特征向量</a:t>
            </a:r>
            <a:r>
              <a:rPr lang="en-US" altLang="zh-CN">
                <a:latin typeface="汉仪粗仿宋简" panose="02010600000101010101" charset="-122"/>
                <a:ea typeface="汉仪粗仿宋简" panose="02010600000101010101" charset="-122"/>
                <a:cs typeface="汉仪粗仿宋简" panose="02010600000101010101" charset="-122"/>
                <a:sym typeface="+mn-ea"/>
              </a:rPr>
              <a:t>v</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sj</a:t>
            </a:r>
            <a:r>
              <a:rPr lang="zh-CN" altLang="en-US">
                <a:latin typeface="汉仪粗仿宋简" panose="02010600000101010101" charset="-122"/>
                <a:ea typeface="汉仪粗仿宋简" panose="02010600000101010101" charset="-122"/>
                <a:cs typeface="汉仪粗仿宋简" panose="02010600000101010101" charset="-122"/>
                <a:sym typeface="+mn-ea"/>
              </a:rPr>
              <a:t>所表示，计算与上方相似，文本描述嵌入后同样使用</a:t>
            </a:r>
            <a:r>
              <a:rPr lang="en-US" altLang="zh-CN">
                <a:latin typeface="Times New Roman" panose="02020603050405020304" pitchFamily="18" charset="0"/>
                <a:ea typeface="汉仪粗仿宋简" panose="02010600000101010101" charset="-122"/>
                <a:cs typeface="Times New Roman" panose="02020603050405020304" pitchFamily="18" charset="0"/>
                <a:sym typeface="+mn-ea"/>
              </a:rPr>
              <a:t>Embed</a:t>
            </a:r>
            <a:r>
              <a:rPr lang="zh-CN" altLang="en-US">
                <a:latin typeface="汉仪粗仿宋简" panose="02010600000101010101" charset="-122"/>
                <a:ea typeface="汉仪粗仿宋简" panose="02010600000101010101" charset="-122"/>
                <a:cs typeface="汉仪粗仿宋简" panose="02010600000101010101" charset="-122"/>
                <a:sym typeface="+mn-ea"/>
              </a:rPr>
              <a:t>函数计算特征</a:t>
            </a:r>
            <a:r>
              <a:rPr lang="zh-CN" altLang="en-US">
                <a:latin typeface="汉仪粗仿宋简" panose="02010600000101010101" charset="-122"/>
                <a:ea typeface="汉仪粗仿宋简" panose="02010600000101010101" charset="-122"/>
                <a:cs typeface="汉仪粗仿宋简" panose="02010600000101010101" charset="-122"/>
                <a:sym typeface="+mn-ea"/>
              </a:rPr>
              <a:t>向量。为了检索给定子任务的相关知识，我们计算其特征向量</a:t>
            </a:r>
            <a:r>
              <a:rPr lang="en-US" altLang="zh-CN">
                <a:latin typeface="汉仪粗仿宋简" panose="02010600000101010101" charset="-122"/>
                <a:ea typeface="汉仪粗仿宋简" panose="02010600000101010101" charset="-122"/>
                <a:cs typeface="汉仪粗仿宋简" panose="02010600000101010101" charset="-122"/>
                <a:sym typeface="+mn-ea"/>
              </a:rPr>
              <a:t>v</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qi</a:t>
            </a:r>
            <a:r>
              <a:rPr lang="zh-CN" altLang="en-US">
                <a:latin typeface="汉仪粗仿宋简" panose="02010600000101010101" charset="-122"/>
                <a:ea typeface="汉仪粗仿宋简" panose="02010600000101010101" charset="-122"/>
                <a:cs typeface="汉仪粗仿宋简" panose="02010600000101010101" charset="-122"/>
                <a:sym typeface="+mn-ea"/>
              </a:rPr>
              <a:t>与知识库中每个知识条目的特征向量之间的余弦相似度，</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i</a:t>
            </a:r>
            <a:r>
              <a:rPr lang="zh-CN" altLang="en-US">
                <a:latin typeface="汉仪粗仿宋简" panose="02010600000101010101" charset="-122"/>
                <a:ea typeface="汉仪粗仿宋简" panose="02010600000101010101" charset="-122"/>
                <a:cs typeface="汉仪粗仿宋简" panose="02010600000101010101" charset="-122"/>
                <a:sym typeface="+mn-ea"/>
              </a:rPr>
              <a:t>最相关的知识条目表示为</a:t>
            </a:r>
            <a:r>
              <a:rPr lang="en-US" altLang="zh-CN">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qi</a:t>
            </a:r>
            <a:r>
              <a:rPr lang="zh-CN" altLang="en-US">
                <a:latin typeface="汉仪粗仿宋简" panose="02010600000101010101" charset="-122"/>
                <a:ea typeface="汉仪粗仿宋简" panose="02010600000101010101" charset="-122"/>
                <a:cs typeface="汉仪粗仿宋简" panose="02010600000101010101" charset="-122"/>
                <a:sym typeface="+mn-ea"/>
              </a:rPr>
              <a:t>，然后对其进行后续的重新排序和过滤。</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p:txBody>
      </p:sp>
      <p:sp>
        <p:nvSpPr>
          <p:cNvPr id="6" name="文本框 5" descr="7b0a202020202262756c6c6574223a20227b5c2263617465676f727949645c223a5c225c222c5c2274656d706c61746549645c223a32303233313634317d220a7d0a"/>
          <p:cNvSpPr txBox="1"/>
          <p:nvPr/>
        </p:nvSpPr>
        <p:spPr>
          <a:xfrm>
            <a:off x="111125" y="789305"/>
            <a:ext cx="513905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上下文感知的细粒度知识在线检索</a:t>
            </a:r>
            <a:endParaRPr lang="zh-CN" altLang="en-US" b="1">
              <a:latin typeface="汉仪粗仿宋简" panose="02010600000101010101" charset="-122"/>
              <a:ea typeface="汉仪粗仿宋简" panose="0201060000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455295" y="1314450"/>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安全知识排序与</a:t>
            </a:r>
            <a:r>
              <a:rPr lang="zh-CN" altLang="en-US" b="1" u="sng">
                <a:solidFill>
                  <a:srgbClr val="004180"/>
                </a:solidFill>
                <a:latin typeface="汉仪粗仿宋简" panose="02010600000101010101" charset="-122"/>
                <a:ea typeface="汉仪粗仿宋简" panose="02010600000101010101" charset="-122"/>
              </a:rPr>
              <a:t>过滤</a:t>
            </a:r>
            <a:endParaRPr lang="zh-CN" altLang="en-US" b="1" u="sng">
              <a:solidFill>
                <a:srgbClr val="004180"/>
              </a:solidFill>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328295" y="1694815"/>
            <a:ext cx="11292205" cy="4954905"/>
          </a:xfrm>
          <a:prstGeom prst="rect">
            <a:avLst/>
          </a:prstGeom>
          <a:noFill/>
        </p:spPr>
        <p:txBody>
          <a:bodyPr wrap="square" rtlCol="0">
            <a:noAutofit/>
          </a:bodyPr>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sym typeface="+mn-ea"/>
              </a:rPr>
              <a:t>尽管检索阶段确保每个子任务与固定数量的</a:t>
            </a:r>
            <a:r>
              <a:rPr lang="en-US" altLang="zh-CN">
                <a:latin typeface="汉仪粗仿宋简" panose="02010600000101010101" charset="-122"/>
                <a:ea typeface="汉仪粗仿宋简" panose="02010600000101010101" charset="-122"/>
                <a:cs typeface="汉仪粗仿宋简" panose="02010600000101010101" charset="-122"/>
                <a:sym typeface="+mn-ea"/>
              </a:rPr>
              <a:t>Top-k</a:t>
            </a:r>
            <a:r>
              <a:rPr lang="zh-CN" altLang="en-US">
                <a:latin typeface="汉仪粗仿宋简" panose="02010600000101010101" charset="-122"/>
                <a:ea typeface="汉仪粗仿宋简" panose="02010600000101010101" charset="-122"/>
                <a:cs typeface="汉仪粗仿宋简" panose="02010600000101010101" charset="-122"/>
                <a:sym typeface="+mn-ea"/>
              </a:rPr>
              <a:t>安全知识条目相关联，但这个方法收到两个条件的局限：</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marL="285750" indent="-285750">
              <a:lnSpc>
                <a:spcPct val="130000"/>
              </a:lnSpc>
              <a:buFont typeface="Arial" panose="020B0604020202020204" pitchFamily="34" charset="0"/>
              <a:buChar char="•"/>
            </a:pPr>
            <a:r>
              <a:rPr lang="zh-CN" altLang="en-US">
                <a:latin typeface="汉仪粗仿宋简" panose="02010600000101010101" charset="-122"/>
                <a:ea typeface="汉仪粗仿宋简" panose="02010600000101010101" charset="-122"/>
                <a:cs typeface="汉仪粗仿宋简" panose="02010600000101010101" charset="-122"/>
                <a:sym typeface="+mn-ea"/>
              </a:rPr>
              <a:t>首先是</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的输入窗口大小有限制可能会导致关键上下文的截断或丢失，</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marL="285750" indent="-285750">
              <a:lnSpc>
                <a:spcPct val="130000"/>
              </a:lnSpc>
              <a:buFont typeface="Arial" panose="020B0604020202020204" pitchFamily="34" charset="0"/>
              <a:buChar char="•"/>
            </a:pPr>
            <a:r>
              <a:rPr lang="zh-CN" altLang="en-US">
                <a:latin typeface="汉仪粗仿宋简" panose="02010600000101010101" charset="-122"/>
                <a:ea typeface="汉仪粗仿宋简" panose="02010600000101010101" charset="-122"/>
                <a:cs typeface="汉仪粗仿宋简" panose="02010600000101010101" charset="-122"/>
                <a:sym typeface="+mn-ea"/>
              </a:rPr>
              <a:t>其次是由于注意力稀释，</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难以处理长而复杂的提示。</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sym typeface="+mn-ea"/>
              </a:rPr>
              <a:t>解决方法是</a:t>
            </a:r>
            <a:r>
              <a:rPr lang="zh-CN" altLang="en-US">
                <a:latin typeface="汉仪粗仿宋简" panose="02010600000101010101" charset="-122"/>
                <a:ea typeface="汉仪粗仿宋简" panose="02010600000101010101" charset="-122"/>
                <a:cs typeface="汉仪粗仿宋简" panose="02010600000101010101" charset="-122"/>
                <a:sym typeface="+mn-ea"/>
              </a:rPr>
              <a:t>基于不同任务引发的安全漏洞风险差异较大，因此，优先保留那些可能导致严重漏洞的子任务所对应的安全知识。</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indent="0">
              <a:lnSpc>
                <a:spcPct val="130000"/>
              </a:lnSpc>
              <a:buNone/>
            </a:pPr>
            <a:r>
              <a:rPr lang="zh-CN" altLang="en-US" b="1">
                <a:solidFill>
                  <a:srgbClr val="FF0000"/>
                </a:solidFill>
                <a:latin typeface="汉仪粗仿宋简" panose="02010600000101010101" charset="-122"/>
                <a:ea typeface="汉仪粗仿宋简" panose="02010600000101010101" charset="-122"/>
                <a:cs typeface="汉仪粗仿宋简" panose="02010600000101010101" charset="-122"/>
                <a:sym typeface="+mn-ea"/>
              </a:rPr>
              <a:t>过程：</a:t>
            </a:r>
            <a:r>
              <a:rPr lang="zh-CN" altLang="en-US">
                <a:latin typeface="汉仪粗仿宋简" panose="02010600000101010101" charset="-122"/>
                <a:ea typeface="汉仪粗仿宋简" panose="02010600000101010101" charset="-122"/>
                <a:cs typeface="汉仪粗仿宋简" panose="02010600000101010101" charset="-122"/>
                <a:sym typeface="+mn-ea"/>
              </a:rPr>
              <a:t>将每条安全知识条目</a:t>
            </a:r>
            <a:r>
              <a:rPr lang="en-US" altLang="zh-CN">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j</a:t>
            </a:r>
            <a:r>
              <a:rPr lang="zh-CN" altLang="en-US">
                <a:latin typeface="汉仪粗仿宋简" panose="02010600000101010101" charset="-122"/>
                <a:ea typeface="汉仪粗仿宋简" panose="02010600000101010101" charset="-122"/>
                <a:cs typeface="汉仪粗仿宋简" panose="02010600000101010101" charset="-122"/>
                <a:sym typeface="+mn-ea"/>
              </a:rPr>
              <a:t>关联的</a:t>
            </a:r>
            <a:r>
              <a:rPr lang="en-US" altLang="zh-CN">
                <a:latin typeface="汉仪粗仿宋简" panose="02010600000101010101" charset="-122"/>
                <a:ea typeface="汉仪粗仿宋简" panose="02010600000101010101" charset="-122"/>
                <a:cs typeface="汉仪粗仿宋简" panose="02010600000101010101" charset="-122"/>
                <a:sym typeface="+mn-ea"/>
              </a:rPr>
              <a:t>CWE</a:t>
            </a:r>
            <a:r>
              <a:rPr lang="zh-CN" altLang="en-US">
                <a:latin typeface="汉仪粗仿宋简" panose="02010600000101010101" charset="-122"/>
                <a:ea typeface="汉仪粗仿宋简" panose="02010600000101010101" charset="-122"/>
                <a:cs typeface="汉仪粗仿宋简" panose="02010600000101010101" charset="-122"/>
                <a:sym typeface="+mn-ea"/>
              </a:rPr>
              <a:t>映射到上述漏洞类型，赋予其权重</a:t>
            </a:r>
            <a:r>
              <a:rPr lang="en-US" altLang="zh-CN">
                <a:latin typeface="汉仪粗仿宋简" panose="02010600000101010101" charset="-122"/>
                <a:ea typeface="汉仪粗仿宋简" panose="02010600000101010101" charset="-122"/>
                <a:cs typeface="汉仪粗仿宋简" panose="02010600000101010101" charset="-122"/>
                <a:sym typeface="+mn-ea"/>
              </a:rPr>
              <a:t>wj=</a:t>
            </a:r>
            <a:r>
              <a:rPr lang="zh-CN" altLang="en-US">
                <a:latin typeface="汉仪粗仿宋简" panose="02010600000101010101" charset="-122"/>
                <a:ea typeface="汉仪粗仿宋简" panose="02010600000101010101" charset="-122"/>
                <a:cs typeface="汉仪粗仿宋简" panose="02010600000101010101" charset="-122"/>
                <a:sym typeface="+mn-ea"/>
              </a:rPr>
              <a:t>该漏洞类型在</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生成代码中的历史出现频率（未命中表中类型的</a:t>
            </a:r>
            <a:r>
              <a:rPr lang="en-US" altLang="zh-CN">
                <a:latin typeface="汉仪粗仿宋简" panose="02010600000101010101" charset="-122"/>
                <a:ea typeface="汉仪粗仿宋简" panose="02010600000101010101" charset="-122"/>
                <a:cs typeface="汉仪粗仿宋简" panose="02010600000101010101" charset="-122"/>
                <a:sym typeface="+mn-ea"/>
              </a:rPr>
              <a:t>CWE</a:t>
            </a:r>
            <a:r>
              <a:rPr lang="zh-CN" altLang="en-US">
                <a:latin typeface="汉仪粗仿宋简" panose="02010600000101010101" charset="-122"/>
                <a:ea typeface="汉仪粗仿宋简" panose="02010600000101010101" charset="-122"/>
                <a:cs typeface="汉仪粗仿宋简" panose="02010600000101010101" charset="-122"/>
                <a:sym typeface="+mn-ea"/>
              </a:rPr>
              <a:t>默认赋极小值</a:t>
            </a:r>
            <a:r>
              <a:rPr lang="en-US" altLang="zh-CN">
                <a:latin typeface="汉仪粗仿宋简" panose="02010600000101010101" charset="-122"/>
                <a:ea typeface="汉仪粗仿宋简" panose="02010600000101010101" charset="-122"/>
                <a:cs typeface="汉仪粗仿宋简" panose="02010600000101010101" charset="-122"/>
                <a:sym typeface="+mn-ea"/>
              </a:rPr>
              <a:t>0.01</a:t>
            </a:r>
            <a:r>
              <a:rPr lang="zh-CN" altLang="en-US">
                <a:latin typeface="汉仪粗仿宋简" panose="02010600000101010101" charset="-122"/>
                <a:ea typeface="汉仪粗仿宋简" panose="02010600000101010101" charset="-122"/>
                <a:cs typeface="汉仪粗仿宋简" panose="02010600000101010101" charset="-122"/>
                <a:sym typeface="+mn-ea"/>
              </a:rPr>
              <a:t>）。</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sym typeface="+mn-ea"/>
              </a:rPr>
              <a:t>对每个子任务</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i</a:t>
            </a:r>
            <a:r>
              <a:rPr lang="zh-CN" altLang="en-US">
                <a:latin typeface="汉仪粗仿宋简" panose="02010600000101010101" charset="-122"/>
                <a:ea typeface="汉仪粗仿宋简" panose="02010600000101010101" charset="-122"/>
                <a:cs typeface="汉仪粗仿宋简" panose="02010600000101010101" charset="-122"/>
                <a:sym typeface="+mn-ea"/>
              </a:rPr>
              <a:t>，计算其聚合风险权重</a:t>
            </a:r>
            <a:r>
              <a:rPr lang="en-US" altLang="zh-CN">
                <a:latin typeface="汉仪粗仿宋简" panose="02010600000101010101" charset="-122"/>
                <a:ea typeface="汉仪粗仿宋简" panose="02010600000101010101" charset="-122"/>
                <a:cs typeface="汉仪粗仿宋简" panose="02010600000101010101" charset="-122"/>
                <a:sym typeface="+mn-ea"/>
              </a:rPr>
              <a:t>W</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qi</a:t>
            </a:r>
            <a:r>
              <a:rPr lang="en-US" altLang="zh-CN">
                <a:latin typeface="汉仪粗仿宋简" panose="02010600000101010101" charset="-122"/>
                <a:ea typeface="汉仪粗仿宋简" panose="02010600000101010101" charset="-122"/>
                <a:cs typeface="汉仪粗仿宋简" panose="02010600000101010101" charset="-122"/>
                <a:sym typeface="+mn-ea"/>
              </a:rPr>
              <a:t>= Σw</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j</a:t>
            </a:r>
            <a:r>
              <a:rPr lang="zh-CN" altLang="en-US">
                <a:latin typeface="汉仪粗仿宋简" panose="02010600000101010101" charset="-122"/>
                <a:ea typeface="汉仪粗仿宋简" panose="02010600000101010101" charset="-122"/>
                <a:cs typeface="汉仪粗仿宋简" panose="02010600000101010101" charset="-122"/>
                <a:sym typeface="+mn-ea"/>
              </a:rPr>
              <a:t>（对该子任务初步检索到的所有知识条目求和）</a:t>
            </a:r>
            <a:r>
              <a:rPr lang="en-US" altLang="en-US">
                <a:latin typeface="汉仪粗仿宋简" panose="02010600000101010101" charset="-122"/>
                <a:ea typeface="汉仪粗仿宋简" panose="02010600000101010101" charset="-122"/>
                <a:cs typeface="汉仪粗仿宋简" panose="02010600000101010101" charset="-122"/>
                <a:sym typeface="+mn-ea"/>
              </a:rPr>
              <a:t>→</a:t>
            </a:r>
            <a:r>
              <a:rPr lang="en-US" altLang="zh-CN">
                <a:latin typeface="汉仪粗仿宋简" panose="02010600000101010101" charset="-122"/>
                <a:ea typeface="汉仪粗仿宋简" panose="02010600000101010101" charset="-122"/>
                <a:cs typeface="汉仪粗仿宋简" panose="02010600000101010101" charset="-122"/>
                <a:sym typeface="+mn-ea"/>
              </a:rPr>
              <a:t>W</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qi</a:t>
            </a:r>
            <a:r>
              <a:rPr lang="zh-CN" altLang="en-US">
                <a:latin typeface="汉仪粗仿宋简" panose="02010600000101010101" charset="-122"/>
                <a:ea typeface="汉仪粗仿宋简" panose="02010600000101010101" charset="-122"/>
                <a:cs typeface="汉仪粗仿宋简" panose="02010600000101010101" charset="-122"/>
                <a:sym typeface="+mn-ea"/>
              </a:rPr>
              <a:t>越高，说明该子任务越容易引发</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生成高发、严重的安全漏洞。</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a:p>
            <a:pPr indent="0">
              <a:lnSpc>
                <a:spcPct val="130000"/>
              </a:lnSpc>
              <a:buNone/>
            </a:pPr>
            <a:r>
              <a:rPr lang="zh-CN" altLang="en-US" b="1">
                <a:solidFill>
                  <a:srgbClr val="FF0000"/>
                </a:solidFill>
                <a:latin typeface="汉仪粗仿宋简" panose="02010600000101010101" charset="-122"/>
                <a:ea typeface="汉仪粗仿宋简" panose="02010600000101010101" charset="-122"/>
                <a:cs typeface="汉仪粗仿宋简" panose="02010600000101010101" charset="-122"/>
                <a:sym typeface="+mn-ea"/>
              </a:rPr>
              <a:t>重新排序与过滤流程：</a:t>
            </a:r>
            <a:endParaRPr lang="zh-CN" altLang="en-US" b="1">
              <a:solidFill>
                <a:srgbClr val="FF0000"/>
              </a:solidFill>
              <a:latin typeface="汉仪粗仿宋简" panose="02010600000101010101" charset="-122"/>
              <a:ea typeface="汉仪粗仿宋简" panose="02010600000101010101" charset="-122"/>
              <a:cs typeface="汉仪粗仿宋简" panose="02010600000101010101" charset="-122"/>
              <a:sym typeface="+mn-ea"/>
            </a:endParaRPr>
          </a:p>
          <a:p>
            <a:pPr marL="342900" indent="-342900">
              <a:lnSpc>
                <a:spcPct val="130000"/>
              </a:lnSpc>
              <a:buFont typeface="+mj-lt"/>
              <a:buAutoNum type="arabicPeriod"/>
            </a:pP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对所有分解得到的子任务按</a:t>
            </a:r>
            <a:r>
              <a:rPr lang="en-US" altLang="zh-CN">
                <a:solidFill>
                  <a:schemeClr val="tx1"/>
                </a:solidFill>
                <a:latin typeface="汉仪粗仿宋简" panose="02010600000101010101" charset="-122"/>
                <a:ea typeface="汉仪粗仿宋简" panose="02010600000101010101" charset="-122"/>
                <a:cs typeface="汉仪粗仿宋简" panose="02010600000101010101" charset="-122"/>
                <a:sym typeface="+mn-ea"/>
              </a:rPr>
              <a:t> W</a:t>
            </a:r>
            <a:r>
              <a:rPr lang="en-US" altLang="zh-CN" baseline="-25000">
                <a:solidFill>
                  <a:schemeClr val="tx1"/>
                </a:solidFill>
                <a:latin typeface="汉仪粗仿宋简" panose="02010600000101010101" charset="-122"/>
                <a:ea typeface="汉仪粗仿宋简" panose="02010600000101010101" charset="-122"/>
                <a:cs typeface="汉仪粗仿宋简" panose="02010600000101010101" charset="-122"/>
                <a:sym typeface="+mn-ea"/>
              </a:rPr>
              <a:t>qi</a:t>
            </a:r>
            <a:r>
              <a:rPr lang="en-US" altLang="zh-CN">
                <a:solidFill>
                  <a:schemeClr val="tx1"/>
                </a:solidFill>
                <a:latin typeface="汉仪粗仿宋简" panose="02010600000101010101" charset="-122"/>
                <a:ea typeface="汉仪粗仿宋简" panose="02010600000101010101" charset="-122"/>
                <a:cs typeface="汉仪粗仿宋简" panose="02010600000101010101" charset="-122"/>
                <a:sym typeface="+mn-ea"/>
              </a:rPr>
              <a:t> </a:t>
            </a: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降序排序。</a:t>
            </a:r>
            <a:endPar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endParaRPr>
          </a:p>
          <a:p>
            <a:pPr marL="342900" indent="-342900">
              <a:lnSpc>
                <a:spcPct val="130000"/>
              </a:lnSpc>
              <a:buFont typeface="+mj-lt"/>
              <a:buAutoNum type="arabicPeriod"/>
            </a:pP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仅保留风险最高的</a:t>
            </a:r>
            <a:r>
              <a:rPr lang="en-US" altLang="zh-CN">
                <a:solidFill>
                  <a:schemeClr val="tx1"/>
                </a:solidFill>
                <a:latin typeface="汉仪粗仿宋简" panose="02010600000101010101" charset="-122"/>
                <a:ea typeface="汉仪粗仿宋简" panose="02010600000101010101" charset="-122"/>
                <a:cs typeface="汉仪粗仿宋简" panose="02010600000101010101" charset="-122"/>
                <a:sym typeface="+mn-ea"/>
              </a:rPr>
              <a:t> top-k </a:t>
            </a: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个子任务</a:t>
            </a:r>
            <a:endPar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endParaRPr>
          </a:p>
          <a:p>
            <a:pPr marL="342900" indent="-342900">
              <a:lnSpc>
                <a:spcPct val="130000"/>
              </a:lnSpc>
              <a:buFont typeface="+mj-lt"/>
              <a:buAutoNum type="arabicPeriod"/>
            </a:pP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最终注入提示的安全知识</a:t>
            </a:r>
            <a:r>
              <a:rPr lang="en-US" altLang="zh-CN">
                <a:solidFill>
                  <a:schemeClr val="tx1"/>
                </a:solidFill>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a:solidFill>
                  <a:schemeClr val="tx1"/>
                </a:solidFill>
                <a:latin typeface="汉仪粗仿宋简" panose="02010600000101010101" charset="-122"/>
                <a:ea typeface="汉仪粗仿宋简" panose="02010600000101010101" charset="-122"/>
                <a:cs typeface="汉仪粗仿宋简" panose="02010600000101010101" charset="-122"/>
                <a:sym typeface="+mn-ea"/>
              </a:rPr>
              <a:t>Q</a:t>
            </a: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仅由这</a:t>
            </a:r>
            <a:r>
              <a:rPr lang="en-US" altLang="zh-CN">
                <a:solidFill>
                  <a:schemeClr val="tx1"/>
                </a:solidFill>
                <a:latin typeface="汉仪粗仿宋简" panose="02010600000101010101" charset="-122"/>
                <a:ea typeface="汉仪粗仿宋简" panose="02010600000101010101" charset="-122"/>
                <a:cs typeface="汉仪粗仿宋简" panose="02010600000101010101" charset="-122"/>
                <a:sym typeface="+mn-ea"/>
              </a:rPr>
              <a:t> top-k </a:t>
            </a: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个子任务对应的初步检索知识集合</a:t>
            </a:r>
            <a:r>
              <a:rPr lang="en-US" altLang="zh-CN">
                <a:solidFill>
                  <a:schemeClr val="tx1"/>
                </a:solidFill>
                <a:latin typeface="汉仪粗仿宋简" panose="02010600000101010101" charset="-122"/>
                <a:ea typeface="汉仪粗仿宋简" panose="02010600000101010101" charset="-122"/>
                <a:cs typeface="汉仪粗仿宋简" panose="02010600000101010101" charset="-122"/>
                <a:sym typeface="+mn-ea"/>
              </a:rPr>
              <a:t> S'</a:t>
            </a:r>
            <a:r>
              <a:rPr lang="en-US" altLang="zh-CN" baseline="-25000">
                <a:solidFill>
                  <a:schemeClr val="tx1"/>
                </a:solidFill>
                <a:latin typeface="汉仪粗仿宋简" panose="02010600000101010101" charset="-122"/>
                <a:ea typeface="汉仪粗仿宋简" panose="02010600000101010101" charset="-122"/>
                <a:cs typeface="汉仪粗仿宋简" panose="02010600000101010101" charset="-122"/>
                <a:sym typeface="+mn-ea"/>
              </a:rPr>
              <a:t>qi</a:t>
            </a:r>
            <a:r>
              <a:rPr lang="en-US" altLang="zh-CN">
                <a:solidFill>
                  <a:schemeClr val="tx1"/>
                </a:solidFill>
                <a:latin typeface="汉仪粗仿宋简" panose="02010600000101010101" charset="-122"/>
                <a:ea typeface="汉仪粗仿宋简" panose="02010600000101010101" charset="-122"/>
                <a:cs typeface="汉仪粗仿宋简" panose="02010600000101010101" charset="-122"/>
                <a:sym typeface="+mn-ea"/>
              </a:rPr>
              <a:t> </a:t>
            </a:r>
            <a:r>
              <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rPr>
              <a:t>合并而成。</a:t>
            </a:r>
            <a:endParaRPr lang="zh-CN" altLang="en-US">
              <a:solidFill>
                <a:schemeClr val="tx1"/>
              </a:solidFill>
              <a:latin typeface="汉仪粗仿宋简" panose="02010600000101010101" charset="-122"/>
              <a:ea typeface="汉仪粗仿宋简" panose="02010600000101010101" charset="-122"/>
              <a:cs typeface="汉仪粗仿宋简" panose="02010600000101010101" charset="-122"/>
              <a:sym typeface="+mn-ea"/>
            </a:endParaRPr>
          </a:p>
        </p:txBody>
      </p:sp>
      <p:sp>
        <p:nvSpPr>
          <p:cNvPr id="6" name="文本框 5" descr="7b0a202020202262756c6c6574223a20227b5c2263617465676f727949645c223a5c225c222c5c2274656d706c61746549645c223a32303233313634317d220a7d0a"/>
          <p:cNvSpPr txBox="1"/>
          <p:nvPr/>
        </p:nvSpPr>
        <p:spPr>
          <a:xfrm>
            <a:off x="111125" y="789305"/>
            <a:ext cx="513905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上下文感知的细粒度知识在线检索</a:t>
            </a:r>
            <a:endParaRPr lang="zh-CN" altLang="en-US" b="1">
              <a:latin typeface="汉仪粗仿宋简" panose="02010600000101010101" charset="-122"/>
              <a:ea typeface="汉仪粗仿宋简" panose="0201060000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 name="文本框 7" descr="7b0a202020202262756c6c6574223a20227b5c2263617465676f727949645c223a5c225c222c5c2274656d706c61746549645c223a32303233313731347d220a7d0a"/>
          <p:cNvSpPr txBox="1"/>
          <p:nvPr/>
        </p:nvSpPr>
        <p:spPr>
          <a:xfrm>
            <a:off x="328295" y="1407160"/>
            <a:ext cx="11292205" cy="2040890"/>
          </a:xfrm>
          <a:prstGeom prst="rect">
            <a:avLst/>
          </a:prstGeom>
          <a:noFill/>
        </p:spPr>
        <p:txBody>
          <a:bodyPr wrap="square" rtlCol="0">
            <a:noAutofit/>
          </a:bodyPr>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sym typeface="+mn-ea"/>
              </a:rPr>
              <a:t>传统的</a:t>
            </a:r>
            <a:r>
              <a:rPr lang="en-US" altLang="zh-CN">
                <a:latin typeface="汉仪粗仿宋简" panose="02010600000101010101" charset="-122"/>
                <a:ea typeface="汉仪粗仿宋简" panose="02010600000101010101" charset="-122"/>
                <a:cs typeface="汉仪粗仿宋简" panose="02010600000101010101" charset="-122"/>
                <a:sym typeface="+mn-ea"/>
              </a:rPr>
              <a:t>RAGC</a:t>
            </a:r>
            <a:r>
              <a:rPr lang="zh-CN" altLang="en-US">
                <a:latin typeface="汉仪粗仿宋简" panose="02010600000101010101" charset="-122"/>
                <a:ea typeface="汉仪粗仿宋简" panose="02010600000101010101" charset="-122"/>
                <a:cs typeface="汉仪粗仿宋简" panose="02010600000101010101" charset="-122"/>
                <a:sym typeface="+mn-ea"/>
              </a:rPr>
              <a:t>提示结构可以表示为</a:t>
            </a:r>
            <a:r>
              <a:rPr lang="en-US" altLang="zh-CN">
                <a:latin typeface="汉仪粗仿宋简" panose="02010600000101010101" charset="-122"/>
                <a:ea typeface="汉仪粗仿宋简" panose="02010600000101010101" charset="-122"/>
                <a:cs typeface="汉仪粗仿宋简" panose="02010600000101010101" charset="-122"/>
                <a:sym typeface="+mn-ea"/>
              </a:rPr>
              <a:t>P</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ori</a:t>
            </a:r>
            <a:r>
              <a:rPr lang="en-US" altLang="zh-CN">
                <a:latin typeface="汉仪粗仿宋简" panose="02010600000101010101" charset="-122"/>
                <a:ea typeface="汉仪粗仿宋简" panose="02010600000101010101" charset="-122"/>
                <a:cs typeface="汉仪粗仿宋简" panose="02010600000101010101" charset="-122"/>
                <a:sym typeface="+mn-ea"/>
              </a:rPr>
              <a:t>=Q+E,Q</a:t>
            </a:r>
            <a:r>
              <a:rPr lang="zh-CN" altLang="en-US">
                <a:latin typeface="汉仪粗仿宋简" panose="02010600000101010101" charset="-122"/>
                <a:ea typeface="汉仪粗仿宋简" panose="02010600000101010101" charset="-122"/>
                <a:cs typeface="汉仪粗仿宋简" panose="02010600000101010101" charset="-122"/>
                <a:sym typeface="+mn-ea"/>
              </a:rPr>
              <a:t>是指定期望功能的用户输入，</a:t>
            </a:r>
            <a:r>
              <a:rPr lang="en-US" altLang="zh-CN">
                <a:latin typeface="汉仪粗仿宋简" panose="02010600000101010101" charset="-122"/>
                <a:ea typeface="汉仪粗仿宋简" panose="02010600000101010101" charset="-122"/>
                <a:cs typeface="汉仪粗仿宋简" panose="02010600000101010101" charset="-122"/>
                <a:sym typeface="+mn-ea"/>
              </a:rPr>
              <a:t>E</a:t>
            </a:r>
            <a:r>
              <a:rPr lang="zh-CN" altLang="en-US">
                <a:latin typeface="汉仪粗仿宋简" panose="02010600000101010101" charset="-122"/>
                <a:ea typeface="汉仪粗仿宋简" panose="02010600000101010101" charset="-122"/>
                <a:cs typeface="汉仪粗仿宋简" panose="02010600000101010101" charset="-122"/>
                <a:sym typeface="+mn-ea"/>
              </a:rPr>
              <a:t>提供示例实现，为了增强</a:t>
            </a:r>
            <a:r>
              <a:rPr lang="en-US" altLang="zh-CN">
                <a:latin typeface="汉仪粗仿宋简" panose="02010600000101010101" charset="-122"/>
                <a:ea typeface="汉仪粗仿宋简" panose="02010600000101010101" charset="-122"/>
                <a:cs typeface="汉仪粗仿宋简" panose="02010600000101010101" charset="-122"/>
                <a:sym typeface="+mn-ea"/>
              </a:rPr>
              <a:t>RAGC</a:t>
            </a:r>
            <a:r>
              <a:rPr lang="zh-CN" altLang="en-US">
                <a:latin typeface="汉仪粗仿宋简" panose="02010600000101010101" charset="-122"/>
                <a:ea typeface="汉仪粗仿宋简" panose="02010600000101010101" charset="-122"/>
                <a:cs typeface="汉仪粗仿宋简" panose="02010600000101010101" charset="-122"/>
                <a:sym typeface="+mn-ea"/>
              </a:rPr>
              <a:t>的代码安全性，</a:t>
            </a:r>
            <a:r>
              <a:rPr lang="en-US" altLang="zh-CN">
                <a:latin typeface="汉仪粗仿宋简" panose="02010600000101010101" charset="-122"/>
                <a:ea typeface="汉仪粗仿宋简" panose="02010600000101010101" charset="-122"/>
                <a:cs typeface="汉仪粗仿宋简" panose="02010600000101010101" charset="-122"/>
                <a:sym typeface="+mn-ea"/>
              </a:rPr>
              <a:t>CodeGuarder</a:t>
            </a:r>
            <a:r>
              <a:rPr lang="zh-CN" altLang="en-US">
                <a:latin typeface="汉仪粗仿宋简" panose="02010600000101010101" charset="-122"/>
                <a:ea typeface="汉仪粗仿宋简" panose="02010600000101010101" charset="-122"/>
                <a:cs typeface="汉仪粗仿宋简" panose="02010600000101010101" charset="-122"/>
                <a:sym typeface="+mn-ea"/>
              </a:rPr>
              <a:t>在代码生成提示中注入了安全知识</a:t>
            </a:r>
            <a:r>
              <a:rPr lang="en-US" altLang="zh-CN">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a:t>
            </a:r>
            <a:r>
              <a:rPr lang="zh-CN" altLang="en-US">
                <a:latin typeface="汉仪粗仿宋简" panose="02010600000101010101" charset="-122"/>
                <a:ea typeface="汉仪粗仿宋简" panose="02010600000101010101" charset="-122"/>
                <a:cs typeface="汉仪粗仿宋简" panose="02010600000101010101" charset="-122"/>
                <a:sym typeface="+mn-ea"/>
              </a:rPr>
              <a:t>，具体来说，对于给定的子任务</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i</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top-k</a:t>
            </a:r>
            <a:r>
              <a:rPr lang="zh-CN" altLang="en-US">
                <a:latin typeface="汉仪粗仿宋简" panose="02010600000101010101" charset="-122"/>
                <a:ea typeface="汉仪粗仿宋简" panose="02010600000101010101" charset="-122"/>
                <a:cs typeface="汉仪粗仿宋简" panose="02010600000101010101" charset="-122"/>
                <a:sym typeface="+mn-ea"/>
              </a:rPr>
              <a:t>，每个子任务与其对应的安全知识配对，安全增强的提示构造为：</a:t>
            </a:r>
            <a:r>
              <a:rPr lang="en-US" altLang="zh-CN">
                <a:latin typeface="汉仪粗仿宋简" panose="02010600000101010101" charset="-122"/>
                <a:ea typeface="汉仪粗仿宋简" panose="02010600000101010101" charset="-122"/>
                <a:cs typeface="汉仪粗仿宋简" panose="02010600000101010101" charset="-122"/>
                <a:sym typeface="+mn-ea"/>
              </a:rPr>
              <a:t>P=P</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ori</a:t>
            </a:r>
            <a:r>
              <a:rPr lang="en-US" altLang="zh-CN">
                <a:latin typeface="汉仪粗仿宋简" panose="02010600000101010101" charset="-122"/>
                <a:ea typeface="汉仪粗仿宋简" panose="02010600000101010101" charset="-122"/>
                <a:cs typeface="汉仪粗仿宋简" panose="02010600000101010101" charset="-122"/>
                <a:sym typeface="+mn-ea"/>
              </a:rPr>
              <a:t>+Σ</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qi∈Qtop-k</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i</a:t>
            </a:r>
            <a:r>
              <a:rPr lang="en-US" altLang="zh-CN">
                <a:latin typeface="汉仪粗仿宋简" panose="02010600000101010101" charset="-122"/>
                <a:ea typeface="汉仪粗仿宋简" panose="02010600000101010101" charset="-122"/>
                <a:cs typeface="汉仪粗仿宋简" panose="02010600000101010101" charset="-122"/>
                <a:sym typeface="+mn-ea"/>
              </a:rPr>
              <a:t> + S'</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qi</a:t>
            </a:r>
            <a:r>
              <a:rPr lang="en-US" altLang="zh-CN">
                <a:latin typeface="汉仪粗仿宋简" panose="02010600000101010101" charset="-122"/>
                <a:ea typeface="汉仪粗仿宋简" panose="02010600000101010101" charset="-122"/>
                <a:cs typeface="汉仪粗仿宋简" panose="02010600000101010101" charset="-122"/>
                <a:sym typeface="+mn-ea"/>
              </a:rPr>
              <a:t>) </a:t>
            </a:r>
            <a:endParaRPr lang="en-US" altLang="zh-CN">
              <a:latin typeface="汉仪粗仿宋简" panose="02010600000101010101" charset="-122"/>
              <a:ea typeface="汉仪粗仿宋简" panose="02010600000101010101" charset="-122"/>
              <a:cs typeface="汉仪粗仿宋简" panose="02010600000101010101" charset="-122"/>
              <a:sym typeface="+mn-ea"/>
            </a:endParaRPr>
          </a:p>
          <a:p>
            <a:pPr indent="0">
              <a:lnSpc>
                <a:spcPct val="130000"/>
              </a:lnSpc>
              <a:buNone/>
            </a:pPr>
            <a:r>
              <a:rPr lang="zh-CN" altLang="en-US">
                <a:latin typeface="汉仪粗仿宋简" panose="02010600000101010101" charset="-122"/>
                <a:ea typeface="汉仪粗仿宋简" panose="02010600000101010101" charset="-122"/>
                <a:cs typeface="汉仪粗仿宋简" panose="02010600000101010101" charset="-122"/>
                <a:sym typeface="+mn-ea"/>
              </a:rPr>
              <a:t>确保</a:t>
            </a:r>
            <a:r>
              <a:rPr lang="en-US" altLang="zh-CN">
                <a:latin typeface="汉仪粗仿宋简" panose="02010600000101010101" charset="-122"/>
                <a:ea typeface="汉仪粗仿宋简" panose="02010600000101010101" charset="-122"/>
                <a:cs typeface="汉仪粗仿宋简" panose="02010600000101010101" charset="-122"/>
                <a:sym typeface="+mn-ea"/>
              </a:rPr>
              <a:t>LLM</a:t>
            </a:r>
            <a:r>
              <a:rPr lang="zh-CN" altLang="en-US">
                <a:latin typeface="汉仪粗仿宋简" panose="02010600000101010101" charset="-122"/>
                <a:ea typeface="汉仪粗仿宋简" panose="02010600000101010101" charset="-122"/>
                <a:cs typeface="汉仪粗仿宋简" panose="02010600000101010101" charset="-122"/>
                <a:sym typeface="+mn-ea"/>
              </a:rPr>
              <a:t>生成满足功能需求和安全约束的代码。例如，如果</a:t>
            </a:r>
            <a:r>
              <a:rPr lang="en-US" altLang="zh-CN">
                <a:latin typeface="汉仪粗仿宋简" panose="02010600000101010101" charset="-122"/>
                <a:ea typeface="汉仪粗仿宋简" panose="02010600000101010101" charset="-122"/>
                <a:cs typeface="汉仪粗仿宋简" panose="02010600000101010101" charset="-122"/>
                <a:sym typeface="+mn-ea"/>
              </a:rPr>
              <a:t>q</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i</a:t>
            </a:r>
            <a:r>
              <a:rPr lang="zh-CN" altLang="en-US">
                <a:latin typeface="汉仪粗仿宋简" panose="02010600000101010101" charset="-122"/>
                <a:ea typeface="汉仪粗仿宋简" panose="02010600000101010101" charset="-122"/>
                <a:cs typeface="汉仪粗仿宋简" panose="02010600000101010101" charset="-122"/>
                <a:sym typeface="+mn-ea"/>
              </a:rPr>
              <a:t>涉及</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将字符串从输入复制到目的地</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，则</a:t>
            </a:r>
            <a:r>
              <a:rPr lang="en-US" altLang="zh-CN">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a:latin typeface="汉仪粗仿宋简" panose="02010600000101010101" charset="-122"/>
                <a:ea typeface="汉仪粗仿宋简" panose="02010600000101010101" charset="-122"/>
                <a:cs typeface="汉仪粗仿宋简" panose="02010600000101010101" charset="-122"/>
                <a:sym typeface="+mn-ea"/>
              </a:rPr>
              <a:t>qi</a:t>
            </a:r>
            <a:r>
              <a:rPr lang="zh-CN" altLang="en-US">
                <a:latin typeface="汉仪粗仿宋简" panose="02010600000101010101" charset="-122"/>
                <a:ea typeface="汉仪粗仿宋简" panose="02010600000101010101" charset="-122"/>
                <a:cs typeface="汉仪粗仿宋简" panose="02010600000101010101" charset="-122"/>
                <a:sym typeface="+mn-ea"/>
              </a:rPr>
              <a:t>可能包含类似</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使用</a:t>
            </a:r>
            <a:r>
              <a:rPr lang="en-US" altLang="zh-CN">
                <a:latin typeface="汉仪粗仿宋简" panose="02010600000101010101" charset="-122"/>
                <a:ea typeface="汉仪粗仿宋简" panose="02010600000101010101" charset="-122"/>
                <a:cs typeface="汉仪粗仿宋简" panose="02010600000101010101" charset="-122"/>
                <a:sym typeface="+mn-ea"/>
              </a:rPr>
              <a:t>strncpy</a:t>
            </a:r>
            <a:r>
              <a:rPr lang="zh-CN" altLang="en-US">
                <a:latin typeface="汉仪粗仿宋简" panose="02010600000101010101" charset="-122"/>
                <a:ea typeface="汉仪粗仿宋简" panose="02010600000101010101" charset="-122"/>
                <a:cs typeface="汉仪粗仿宋简" panose="02010600000101010101" charset="-122"/>
                <a:sym typeface="+mn-ea"/>
              </a:rPr>
              <a:t>确保字符串安全复制</a:t>
            </a:r>
            <a:r>
              <a:rPr lang="en-US" altLang="zh-CN">
                <a:latin typeface="汉仪粗仿宋简" panose="02010600000101010101" charset="-122"/>
                <a:ea typeface="汉仪粗仿宋简" panose="02010600000101010101" charset="-122"/>
                <a:cs typeface="汉仪粗仿宋简" panose="02010600000101010101" charset="-122"/>
                <a:sym typeface="+mn-ea"/>
              </a:rPr>
              <a:t>”</a:t>
            </a:r>
            <a:r>
              <a:rPr lang="zh-CN" altLang="en-US">
                <a:latin typeface="汉仪粗仿宋简" panose="02010600000101010101" charset="-122"/>
                <a:ea typeface="汉仪粗仿宋简" panose="02010600000101010101" charset="-122"/>
                <a:cs typeface="汉仪粗仿宋简" panose="02010600000101010101" charset="-122"/>
                <a:sym typeface="+mn-ea"/>
              </a:rPr>
              <a:t>的准则。</a:t>
            </a:r>
            <a:endParaRPr lang="zh-CN" altLang="en-US">
              <a:latin typeface="汉仪粗仿宋简" panose="02010600000101010101" charset="-122"/>
              <a:ea typeface="汉仪粗仿宋简" panose="02010600000101010101" charset="-122"/>
              <a:cs typeface="汉仪粗仿宋简" panose="02010600000101010101" charset="-122"/>
              <a:sym typeface="+mn-ea"/>
            </a:endParaRPr>
          </a:p>
        </p:txBody>
      </p:sp>
      <p:sp>
        <p:nvSpPr>
          <p:cNvPr id="6" name="文本框 5" descr="7b0a202020202262756c6c6574223a20227b5c2263617465676f727949645c223a5c225c222c5c2274656d706c61746549645c223a32303233313634317d220a7d0a"/>
          <p:cNvSpPr txBox="1"/>
          <p:nvPr/>
        </p:nvSpPr>
        <p:spPr>
          <a:xfrm>
            <a:off x="111125" y="789305"/>
            <a:ext cx="513905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r>
              <a:rPr lang="en-US" altLang="zh-CN" b="1">
                <a:latin typeface="汉仪粗仿宋简" panose="02010600000101010101" charset="-122"/>
                <a:ea typeface="汉仪粗仿宋简" panose="02010600000101010101" charset="-122"/>
              </a:rPr>
              <a:t>--</a:t>
            </a:r>
            <a:r>
              <a:rPr lang="zh-CN" altLang="en-US" b="1">
                <a:latin typeface="汉仪粗仿宋简" panose="02010600000101010101" charset="-122"/>
                <a:ea typeface="汉仪粗仿宋简" panose="02010600000101010101" charset="-122"/>
              </a:rPr>
              <a:t>安全增强代码</a:t>
            </a:r>
            <a:r>
              <a:rPr lang="zh-CN" altLang="en-US" b="1">
                <a:latin typeface="汉仪粗仿宋简" panose="02010600000101010101" charset="-122"/>
                <a:ea typeface="汉仪粗仿宋简" panose="02010600000101010101" charset="-122"/>
              </a:rPr>
              <a:t>生成</a:t>
            </a:r>
            <a:endParaRPr lang="zh-CN" altLang="en-US" b="1">
              <a:latin typeface="汉仪粗仿宋简" panose="02010600000101010101" charset="-122"/>
              <a:ea typeface="汉仪粗仿宋简" panose="0201060000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endParaRPr lang="en-US" altLang="zh-CN" sz="2000" dirty="0">
              <a:solidFill>
                <a:schemeClr val="bg2"/>
              </a:solidFill>
              <a:latin typeface="Chaparral Pro Light" panose="02060403030505090203" charset="0"/>
              <a:cs typeface="Chaparral Pro Light" panose="02060403030505090203" charset="0"/>
            </a:endParaRPr>
          </a:p>
        </p:txBody>
      </p:sp>
      <p:pic>
        <p:nvPicPr>
          <p:cNvPr id="11" name="图片 10"/>
          <p:cNvPicPr>
            <a:picLocks noChangeAspect="1"/>
          </p:cNvPicPr>
          <p:nvPr/>
        </p:nvPicPr>
        <p:blipFill>
          <a:blip r:embed="rId2"/>
          <a:stretch>
            <a:fillRect/>
          </a:stretch>
        </p:blipFill>
        <p:spPr>
          <a:xfrm>
            <a:off x="455930" y="1444625"/>
            <a:ext cx="9144000" cy="542925"/>
          </a:xfrm>
          <a:prstGeom prst="rect">
            <a:avLst/>
          </a:prstGeom>
        </p:spPr>
      </p:pic>
      <p:pic>
        <p:nvPicPr>
          <p:cNvPr id="15" name="图片 14"/>
          <p:cNvPicPr>
            <a:picLocks noChangeAspect="1"/>
          </p:cNvPicPr>
          <p:nvPr/>
        </p:nvPicPr>
        <p:blipFill>
          <a:blip r:embed="rId3"/>
          <a:stretch>
            <a:fillRect/>
          </a:stretch>
        </p:blipFill>
        <p:spPr>
          <a:xfrm>
            <a:off x="99060" y="3536315"/>
            <a:ext cx="8582025" cy="600075"/>
          </a:xfrm>
          <a:prstGeom prst="rect">
            <a:avLst/>
          </a:prstGeom>
        </p:spPr>
      </p:pic>
      <p:pic>
        <p:nvPicPr>
          <p:cNvPr id="14" name="图片 13"/>
          <p:cNvPicPr>
            <a:picLocks noChangeAspect="1"/>
          </p:cNvPicPr>
          <p:nvPr/>
        </p:nvPicPr>
        <p:blipFill>
          <a:blip r:embed="rId4"/>
          <a:stretch>
            <a:fillRect/>
          </a:stretch>
        </p:blipFill>
        <p:spPr>
          <a:xfrm>
            <a:off x="8587105" y="2049780"/>
            <a:ext cx="3057525" cy="3924300"/>
          </a:xfrm>
          <a:prstGeom prst="rect">
            <a:avLst/>
          </a:prstGeom>
        </p:spPr>
      </p:pic>
      <p:sp>
        <p:nvSpPr>
          <p:cNvPr id="16" name="文本框 15"/>
          <p:cNvSpPr txBox="1"/>
          <p:nvPr/>
        </p:nvSpPr>
        <p:spPr>
          <a:xfrm>
            <a:off x="391160" y="2192020"/>
            <a:ext cx="7143750" cy="645160"/>
          </a:xfrm>
          <a:prstGeom prst="rect">
            <a:avLst/>
          </a:prstGeom>
          <a:noFill/>
        </p:spPr>
        <p:txBody>
          <a:bodyPr wrap="square" rtlCol="0">
            <a:spAutoFit/>
          </a:bodyPr>
          <a:p>
            <a:r>
              <a:rPr lang="zh-CN" altLang="en-US">
                <a:latin typeface="汉仪粗仿宋简" panose="02010600000101010101" charset="-122"/>
                <a:ea typeface="汉仪粗仿宋简" panose="02010600000101010101" charset="-122"/>
                <a:cs typeface="汉仪粗仿宋简" panose="02010600000101010101" charset="-122"/>
              </a:rPr>
              <a:t>关键词匹配率为</a:t>
            </a:r>
            <a:r>
              <a:rPr lang="en-US" altLang="zh-CN">
                <a:latin typeface="汉仪粗仿宋简" panose="02010600000101010101" charset="-122"/>
                <a:ea typeface="汉仪粗仿宋简" panose="02010600000101010101" charset="-122"/>
                <a:cs typeface="汉仪粗仿宋简" panose="02010600000101010101" charset="-122"/>
              </a:rPr>
              <a:t>93%</a:t>
            </a:r>
            <a:r>
              <a:rPr lang="zh-CN" altLang="en-US">
                <a:latin typeface="汉仪粗仿宋简" panose="02010600000101010101" charset="-122"/>
                <a:ea typeface="汉仪粗仿宋简" panose="02010600000101010101" charset="-122"/>
                <a:cs typeface="汉仪粗仿宋简" panose="02010600000101010101" charset="-122"/>
              </a:rPr>
              <a:t>，表示回答与</a:t>
            </a:r>
            <a:r>
              <a:rPr lang="zh-CN" altLang="en-US">
                <a:latin typeface="汉仪粗仿宋简" panose="02010600000101010101" charset="-122"/>
                <a:ea typeface="汉仪粗仿宋简" panose="02010600000101010101" charset="-122"/>
                <a:cs typeface="汉仪粗仿宋简" panose="02010600000101010101" charset="-122"/>
              </a:rPr>
              <a:t>目标答案的关键词重叠程度较高</a:t>
            </a:r>
            <a:endParaRPr lang="zh-CN" altLang="en-US">
              <a:latin typeface="汉仪粗仿宋简" panose="02010600000101010101" charset="-122"/>
              <a:ea typeface="汉仪粗仿宋简" panose="02010600000101010101" charset="-122"/>
              <a:cs typeface="汉仪粗仿宋简" panose="02010600000101010101" charset="-122"/>
            </a:endParaRPr>
          </a:p>
          <a:p>
            <a:r>
              <a:rPr lang="zh-CN" altLang="en-US">
                <a:latin typeface="汉仪粗仿宋简" panose="02010600000101010101" charset="-122"/>
                <a:ea typeface="汉仪粗仿宋简" panose="02010600000101010101" charset="-122"/>
                <a:cs typeface="汉仪粗仿宋简" panose="02010600000101010101" charset="-122"/>
              </a:rPr>
              <a:t>确匹配率为</a:t>
            </a:r>
            <a:r>
              <a:rPr lang="en-US" altLang="zh-CN">
                <a:latin typeface="汉仪粗仿宋简" panose="02010600000101010101" charset="-122"/>
                <a:ea typeface="汉仪粗仿宋简" panose="02010600000101010101" charset="-122"/>
                <a:cs typeface="汉仪粗仿宋简" panose="02010600000101010101" charset="-122"/>
              </a:rPr>
              <a:t>89.5%</a:t>
            </a:r>
            <a:r>
              <a:rPr lang="zh-CN" altLang="en-US">
                <a:latin typeface="汉仪粗仿宋简" panose="02010600000101010101" charset="-122"/>
                <a:ea typeface="汉仪粗仿宋简" panose="02010600000101010101" charset="-122"/>
                <a:cs typeface="汉仪粗仿宋简" panose="02010600000101010101" charset="-122"/>
              </a:rPr>
              <a:t>，表示</a:t>
            </a:r>
            <a:r>
              <a:rPr lang="en-US" altLang="zh-CN">
                <a:latin typeface="汉仪粗仿宋简" panose="02010600000101010101" charset="-122"/>
                <a:ea typeface="汉仪粗仿宋简" panose="02010600000101010101" charset="-122"/>
                <a:cs typeface="汉仪粗仿宋简" panose="02010600000101010101" charset="-122"/>
              </a:rPr>
              <a:t>89.5%</a:t>
            </a:r>
            <a:r>
              <a:rPr lang="zh-CN" altLang="en-US">
                <a:latin typeface="汉仪粗仿宋简" panose="02010600000101010101" charset="-122"/>
                <a:ea typeface="汉仪粗仿宋简" panose="02010600000101010101" charset="-122"/>
                <a:cs typeface="汉仪粗仿宋简" panose="02010600000101010101" charset="-122"/>
              </a:rPr>
              <a:t>的回答与</a:t>
            </a:r>
            <a:r>
              <a:rPr lang="zh-CN" altLang="en-US">
                <a:latin typeface="汉仪粗仿宋简" panose="02010600000101010101" charset="-122"/>
                <a:ea typeface="汉仪粗仿宋简" panose="02010600000101010101" charset="-122"/>
                <a:cs typeface="汉仪粗仿宋简" panose="02010600000101010101" charset="-122"/>
              </a:rPr>
              <a:t>目标答案完全匹配</a:t>
            </a:r>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17" name="文本框 16"/>
          <p:cNvSpPr txBox="1"/>
          <p:nvPr/>
        </p:nvSpPr>
        <p:spPr>
          <a:xfrm>
            <a:off x="455930" y="4545965"/>
            <a:ext cx="7143750" cy="368300"/>
          </a:xfrm>
          <a:prstGeom prst="rect">
            <a:avLst/>
          </a:prstGeom>
          <a:noFill/>
        </p:spPr>
        <p:txBody>
          <a:bodyPr wrap="square" rtlCol="0">
            <a:spAutoFit/>
          </a:bodyPr>
          <a:p>
            <a:r>
              <a:rPr lang="zh-CN" altLang="en-US">
                <a:latin typeface="汉仪粗仿宋简" panose="02010600000101010101" charset="-122"/>
                <a:ea typeface="汉仪粗仿宋简" panose="02010600000101010101" charset="-122"/>
                <a:cs typeface="汉仪粗仿宋简" panose="02010600000101010101" charset="-122"/>
              </a:rPr>
              <a:t>所有回答的平均有害性评分为</a:t>
            </a:r>
            <a:r>
              <a:rPr lang="en-US" altLang="zh-CN">
                <a:latin typeface="汉仪粗仿宋简" panose="02010600000101010101" charset="-122"/>
                <a:ea typeface="汉仪粗仿宋简" panose="02010600000101010101" charset="-122"/>
                <a:cs typeface="汉仪粗仿宋简" panose="02010600000101010101" charset="-122"/>
              </a:rPr>
              <a:t>0.275</a:t>
            </a:r>
            <a:r>
              <a:rPr lang="zh-CN" altLang="en-US">
                <a:latin typeface="汉仪粗仿宋简" panose="02010600000101010101" charset="-122"/>
                <a:ea typeface="汉仪粗仿宋简" panose="02010600000101010101" charset="-122"/>
                <a:cs typeface="汉仪粗仿宋简" panose="02010600000101010101" charset="-122"/>
              </a:rPr>
              <a:t>分，表示整体回答</a:t>
            </a:r>
            <a:r>
              <a:rPr lang="zh-CN" altLang="en-US">
                <a:latin typeface="汉仪粗仿宋简" panose="02010600000101010101" charset="-122"/>
                <a:ea typeface="汉仪粗仿宋简" panose="02010600000101010101" charset="-122"/>
                <a:cs typeface="汉仪粗仿宋简" panose="02010600000101010101" charset="-122"/>
              </a:rPr>
              <a:t>很安全</a:t>
            </a:r>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r>
              <a:rPr lang="en-US" altLang="zh-CN" sz="2000" dirty="0">
                <a:solidFill>
                  <a:schemeClr val="bg2"/>
                </a:solidFill>
                <a:latin typeface="Chaparral Pro Light" panose="02060403030505090203" charset="0"/>
                <a:cs typeface="Chaparral Pro Light" panose="02060403030505090203" charset="0"/>
              </a:rPr>
              <a:t>FlippedRAG: Black-Box Opinion Manipulation Adversarial Attacks to Retrieval-Augmented Generation Models</a:t>
            </a:r>
            <a:endParaRPr lang="en-US" altLang="zh-CN" sz="2000"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125730" y="1010920"/>
            <a:ext cx="11903075" cy="2744470"/>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研究背景</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技术通过整合信息检索与</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LLMs</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的生成能力，有效缓解</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LLMs</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的幻觉问题，并满足实时知识需求。该框架在知识密集任务中广泛应用，但安全漏洞日益凸显。现有研究主要关注</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的性能与效率优化，如检索延迟减少和生成准确性提升，对潜在威胁探讨不足。近年来，学者开始考察</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安全性，包括检索器对抗攻击、提示注入、越狱攻击及语料库毒化。然而，这些工作局限明显：多限于白箱场景或启发式黑箱攻击，未深入检索阶段脆弱性；主要针对事实性问答任务，攻击影响有限，因先进</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LLMs</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的事实检查与价值对齐机制可轻松纠错。</a:t>
            </a: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sp>
        <p:nvSpPr>
          <p:cNvPr id="7" name="文本框 6"/>
          <p:cNvSpPr txBox="1"/>
          <p:nvPr/>
        </p:nvSpPr>
        <p:spPr>
          <a:xfrm>
            <a:off x="125730" y="3883660"/>
            <a:ext cx="11825605" cy="2471420"/>
          </a:xfrm>
          <a:prstGeom prst="rect">
            <a:avLst/>
          </a:prstGeom>
          <a:noFill/>
        </p:spPr>
        <p:txBody>
          <a:bodyPr wrap="square" rtlCol="0">
            <a:noAutofit/>
          </a:bodyPr>
          <a:p>
            <a:pPr marR="0" lvl="0" indent="0" algn="l" defTabSz="914400" rtl="0" eaLnBrk="1" fontAlgn="auto" latinLnBrk="0" hangingPunct="1">
              <a:lnSpc>
                <a:spcPct val="14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lang="en-US" altLang="zh-CN" b="1" dirty="0">
                <a:solidFill>
                  <a:prstClr val="black"/>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rPr>
              <a:t>研究目的</a:t>
            </a:r>
            <a:endPar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endParaRPr>
          </a:p>
          <a:p>
            <a:pPr>
              <a:lnSpc>
                <a:spcPct val="140000"/>
              </a:lnSpc>
            </a:pPr>
            <a:r>
              <a:rPr lang="zh-CN" altLang="en-US">
                <a:latin typeface="汉仪粗仿宋简" panose="02010600000101010101" charset="-122"/>
                <a:ea typeface="汉仪粗仿宋简" panose="02010600000101010101" charset="-122"/>
              </a:rPr>
              <a:t>本文旨在探讨黑箱</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系统在争议话题下的可靠性，并揭示其对用户认知的影响。具体而言，提出</a:t>
            </a:r>
            <a:r>
              <a:rPr lang="en-US" altLang="zh-CN">
                <a:latin typeface="汉仪粗仿宋简" panose="02010600000101010101" charset="-122"/>
                <a:ea typeface="汉仪粗仿宋简" panose="02010600000101010101" charset="-122"/>
              </a:rPr>
              <a:t>FlippedRAG</a:t>
            </a:r>
            <a:r>
              <a:rPr lang="zh-CN" altLang="en-US">
                <a:latin typeface="汉仪粗仿宋简" panose="02010600000101010101" charset="-122"/>
                <a:ea typeface="汉仪粗仿宋简" panose="02010600000101010101" charset="-122"/>
              </a:rPr>
              <a:t>，一种基于转移的对抗攻击方法，通过黑箱检索器模仿实现意见操纵。该方法首先验证黑箱</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检索器可通过枚举关键查询、候选和答案进行反向工程，并训练代理模型以逼近其相关性偏好；其次，利用代理模型生成对抗意见操纵触发器，修改少量文档以操纵检索排名和后续生成，最终转移至原黑箱</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模型。</a:t>
            </a:r>
            <a:endParaRPr lang="zh-CN" altLang="en-US">
              <a:latin typeface="汉仪粗仿宋简" panose="02010600000101010101" charset="-122"/>
              <a:ea typeface="汉仪粗仿宋简" panose="0201060000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endParaRPr lang="en-US" altLang="zh-CN" sz="2000"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97790" y="843280"/>
            <a:ext cx="11903075" cy="5952490"/>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威胁模型</a:t>
            </a:r>
            <a:endPar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威胁模型假设给定一个争议性话题集合</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，其中每个话题</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（即查询问题）对应一个</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RAG</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语料库</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 D</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，以及目标意见</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t</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。目标文档</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d</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t</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是持有</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t</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意见的文档。黑箱检索模型</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RM</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计算查询</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与文档</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d</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的相关性分数：</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RM(q,d)=E(q)·E(d)</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a:t>
            </a: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E</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表示词嵌入向量，通过点积计算语义相关性，检索结果</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RM</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k</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是语料库中与</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最相关的</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top-k</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文档集合：</a:t>
            </a: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黑箱</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RAG</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的</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LLM</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使用</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RM</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k</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生成响应</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LLM(q,RMk(q)),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其原始意见为</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o</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=S(LLM(q.RM</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k</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(q)))</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，其中</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S(·)</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是意见分类函数。攻击者通过设置陷阱改变</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o</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，使系统检索对抗文档，导致生成偏向</a:t>
            </a:r>
            <a:r>
              <a:rPr lang="en-US" altLang="zh-CN"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S</a:t>
            </a:r>
            <a:r>
              <a:rPr lang="en-US" altLang="zh-CN" baseline="-25000"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t</a:t>
            </a:r>
            <a:r>
              <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rPr>
              <a:t>的响应。</a:t>
            </a:r>
            <a:endParaRPr lang="zh-CN" altLang="en-US" dirty="0">
              <a:effectLst/>
              <a:highlight>
                <a:srgbClr val="FFFFFF"/>
              </a:highlight>
              <a:latin typeface="汉仪粗仿宋简" panose="02010600000101010101" charset="-122"/>
              <a:ea typeface="汉仪粗仿宋简" panose="02010600000101010101" charset="-122"/>
              <a:cs typeface="汉仪粗仿宋简" panose="02010600000101010101" charset="-122"/>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攻击者的目标</a:t>
            </a:r>
            <a:endPar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攻击者的主要目标是针对选定的</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N</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个目标文档</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d</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i</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，生成对抗触发器</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p</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adv</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，并将其附加到</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d</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i</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上，形成修改后的语料库</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D(d</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i</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 d</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i</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⊕p</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adv</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。该触发器提升相关性分数</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RM(q, d</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i</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⊕p</a:t>
            </a:r>
            <a:r>
              <a:rPr kumimoji="0" lang="en-US" altLang="zh-CN" sz="1800" i="0" u="none" strike="noStrike" kern="1200" cap="none" spc="0" normalizeH="0" baseline="-2500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adv</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，确保修改文档位列检索结果</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RM(q)</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的前列，从而引导</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LLM</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生成响应，使得</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S(LLM(q, RM(q))) &gt; S</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。这通过最大化意见对齐概率实现：</a:t>
            </a: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endParaRPr>
          </a:p>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该目标强调对检索排名的操纵，以间接影响</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 LLM </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rPr>
              <a:t>的生成过程。</a:t>
            </a: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汉仪粗仿宋简" panose="02010600000101010101" charset="-122"/>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en-US" altLang="zh-CN" b="1" noProof="0" dirty="0">
                <a:ln>
                  <a:noFill/>
                </a:ln>
                <a:solidFill>
                  <a:prstClr val="black"/>
                </a:solidFill>
                <a:effectLst/>
                <a:highlight>
                  <a:srgbClr val="FFFFFF"/>
                </a:highlight>
                <a:uLnTx/>
                <a:uFillTx/>
                <a:latin typeface="微软雅黑" panose="020B0503020204020204" charset="-122"/>
                <a:ea typeface="微软雅黑" panose="020B0503020204020204" charset="-122"/>
                <a:cs typeface="Times New Roman" panose="02020603050405020304" pitchFamily="18" charset="0"/>
                <a:sym typeface="+mn-ea"/>
              </a:rPr>
              <a:t> </a:t>
            </a:r>
            <a:endParaRPr kumimoji="0" lang="zh-CN" altLang="en-US" b="1" i="0" u="none" strike="noStrike" kern="1200" cap="none" spc="0" normalizeH="0" baseline="0" noProof="0" dirty="0">
              <a:ln>
                <a:noFill/>
              </a:ln>
              <a:solidFill>
                <a:prstClr val="black"/>
              </a:solidFill>
              <a:effectLst/>
              <a:highlight>
                <a:srgbClr val="FFFFFF"/>
              </a:highligh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pic>
        <p:nvPicPr>
          <p:cNvPr id="8" name="图片 7"/>
          <p:cNvPicPr>
            <a:picLocks noChangeAspect="1"/>
          </p:cNvPicPr>
          <p:nvPr/>
        </p:nvPicPr>
        <p:blipFill>
          <a:blip r:embed="rId4"/>
          <a:stretch>
            <a:fillRect/>
          </a:stretch>
        </p:blipFill>
        <p:spPr>
          <a:xfrm>
            <a:off x="4024630" y="2656840"/>
            <a:ext cx="3629025" cy="352425"/>
          </a:xfrm>
          <a:prstGeom prst="rect">
            <a:avLst/>
          </a:prstGeom>
        </p:spPr>
      </p:pic>
      <p:pic>
        <p:nvPicPr>
          <p:cNvPr id="15" name="图片 14"/>
          <p:cNvPicPr>
            <a:picLocks noChangeAspect="1"/>
          </p:cNvPicPr>
          <p:nvPr/>
        </p:nvPicPr>
        <p:blipFill>
          <a:blip r:embed="rId5"/>
          <a:stretch>
            <a:fillRect/>
          </a:stretch>
        </p:blipFill>
        <p:spPr>
          <a:xfrm>
            <a:off x="7014210" y="5433060"/>
            <a:ext cx="287909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endParaRPr lang="en-US" altLang="zh-CN" sz="2000"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97790" y="843280"/>
            <a:ext cx="11903075" cy="2089150"/>
          </a:xfrm>
          <a:prstGeom prst="rect">
            <a:avLst/>
          </a:prstGeom>
        </p:spPr>
        <p:txBody>
          <a:bodyPr wrap="square">
            <a:noAutofit/>
          </a:bodyPr>
          <a:lstStyle/>
          <a:p>
            <a:pPr marR="0" lvl="0" indent="0" algn="l" defTabSz="914400" rtl="0" eaLnBrk="1" fontAlgn="auto" latinLnBrk="0" hangingPunct="1">
              <a:lnSpc>
                <a:spcPct val="14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攻击者的</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能力</a:t>
            </a:r>
            <a:endPar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L="0" marR="0" lvl="0" indent="0" algn="l" defTabSz="914400" rtl="0" eaLnBrk="1" fontAlgn="auto" latinLnBrk="0" hangingPunct="1">
              <a:lnSpc>
                <a:spcPct val="140000"/>
              </a:lnSpc>
              <a:spcBef>
                <a:spcPts val="0"/>
              </a:spcBef>
              <a:spcAft>
                <a:spcPts val="0"/>
              </a:spcAft>
              <a:buClrTx/>
              <a:buSzTx/>
              <a:buFont typeface="Wingdings" panose="05000000000000000000" charset="0"/>
              <a:buNone/>
              <a:defRPr/>
            </a:pP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在黑箱场景下，攻击者能力有限：仅能查询</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 RAG </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系统获取结果（查询次数无限制），并修改语料库中最多</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N</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个文档。攻击者无权访问</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 RAG </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的架构、参数或其他内部信息，也无法修改</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 LLM </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的提示模板。但攻击者知晓用户查询意图，并可选择争议话题进行针对性操纵，先前研究也</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表明这种能力在现实中可行，因为</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系统常从公开可编辑平台获取数据，语料库规模达数百万级别，允许攻击者注入恶意内容。负面样本可从公开语料随机采样，支持代理模型训练。</a:t>
            </a: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en-US" altLang="zh-CN" b="1" noProof="0" dirty="0">
                <a:ln>
                  <a:noFill/>
                </a:ln>
                <a:solidFill>
                  <a:prstClr val="black"/>
                </a:solidFill>
                <a:effectLst/>
                <a:highlight>
                  <a:srgbClr val="FFFFFF"/>
                </a:highlight>
                <a:uLnTx/>
                <a:uFillTx/>
                <a:latin typeface="微软雅黑" panose="020B0503020204020204" charset="-122"/>
                <a:ea typeface="微软雅黑" panose="020B0503020204020204" charset="-122"/>
                <a:cs typeface="Times New Roman" panose="02020603050405020304" pitchFamily="18" charset="0"/>
                <a:sym typeface="+mn-ea"/>
              </a:rPr>
              <a:t> </a:t>
            </a:r>
            <a:endParaRPr kumimoji="0" lang="zh-CN" altLang="en-US" b="1" i="0" u="none" strike="noStrike" kern="1200" cap="none" spc="0" normalizeH="0" baseline="0" noProof="0" dirty="0">
              <a:ln>
                <a:noFill/>
              </a:ln>
              <a:solidFill>
                <a:prstClr val="black"/>
              </a:solidFill>
              <a:effectLst/>
              <a:highlight>
                <a:srgbClr val="FFFFFF"/>
              </a:highligh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原理</a:t>
            </a:r>
            <a:r>
              <a:rPr lang="zh-CN" altLang="en-US" b="1">
                <a:latin typeface="汉仪粗仿宋简" panose="02010600000101010101" charset="-122"/>
                <a:ea typeface="汉仪粗仿宋简" panose="02010600000101010101" charset="-122"/>
              </a:rPr>
              <a:t>图</a:t>
            </a:r>
            <a:endParaRPr lang="zh-CN" altLang="en-US" b="1">
              <a:latin typeface="汉仪粗仿宋简" panose="02010600000101010101" charset="-122"/>
              <a:ea typeface="汉仪粗仿宋简" panose="02010600000101010101" charset="-122"/>
            </a:endParaRPr>
          </a:p>
        </p:txBody>
      </p:sp>
      <p:pic>
        <p:nvPicPr>
          <p:cNvPr id="11" name="图片 10"/>
          <p:cNvPicPr>
            <a:picLocks noChangeAspect="1"/>
          </p:cNvPicPr>
          <p:nvPr/>
        </p:nvPicPr>
        <p:blipFill>
          <a:blip r:embed="rId4"/>
          <a:stretch>
            <a:fillRect/>
          </a:stretch>
        </p:blipFill>
        <p:spPr>
          <a:xfrm>
            <a:off x="0" y="1165860"/>
            <a:ext cx="12192000" cy="335153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7099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endParaRPr lang="zh-CN" altLang="en-US" b="1">
              <a:latin typeface="汉仪粗仿宋简" panose="02010600000101010101" charset="-122"/>
              <a:ea typeface="汉仪粗仿宋简" panose="02010600000101010101" charset="-122"/>
            </a:endParaRPr>
          </a:p>
        </p:txBody>
      </p:sp>
      <p:sp>
        <p:nvSpPr>
          <p:cNvPr id="9" name="文本框 8"/>
          <p:cNvSpPr txBox="1"/>
          <p:nvPr/>
        </p:nvSpPr>
        <p:spPr>
          <a:xfrm>
            <a:off x="455930" y="1259205"/>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对比对的</a:t>
            </a:r>
            <a:r>
              <a:rPr lang="zh-CN" altLang="en-US" b="1" u="sng">
                <a:solidFill>
                  <a:srgbClr val="004180"/>
                </a:solidFill>
                <a:latin typeface="汉仪粗仿宋简" panose="02010600000101010101" charset="-122"/>
                <a:ea typeface="汉仪粗仿宋简" panose="02010600000101010101" charset="-122"/>
              </a:rPr>
              <a:t>构建</a:t>
            </a:r>
            <a:endParaRPr lang="zh-CN" altLang="en-US" b="1" u="sng">
              <a:solidFill>
                <a:srgbClr val="004180"/>
              </a:solidFill>
              <a:latin typeface="汉仪粗仿宋简" panose="02010600000101010101" charset="-122"/>
              <a:ea typeface="汉仪粗仿宋简" panose="02010600000101010101" charset="-122"/>
            </a:endParaRPr>
          </a:p>
        </p:txBody>
      </p:sp>
      <p:pic>
        <p:nvPicPr>
          <p:cNvPr id="11" name="图片 10"/>
          <p:cNvPicPr>
            <a:picLocks noChangeAspect="1"/>
          </p:cNvPicPr>
          <p:nvPr/>
        </p:nvPicPr>
        <p:blipFill>
          <a:blip r:embed="rId4"/>
          <a:stretch>
            <a:fillRect/>
          </a:stretch>
        </p:blipFill>
        <p:spPr>
          <a:xfrm>
            <a:off x="3278505" y="803910"/>
            <a:ext cx="6176010" cy="3005455"/>
          </a:xfrm>
          <a:prstGeom prst="rect">
            <a:avLst/>
          </a:prstGeom>
        </p:spPr>
      </p:pic>
      <p:sp>
        <p:nvSpPr>
          <p:cNvPr id="16" name="文本框 15"/>
          <p:cNvSpPr txBox="1"/>
          <p:nvPr/>
        </p:nvSpPr>
        <p:spPr>
          <a:xfrm>
            <a:off x="328295" y="3980815"/>
            <a:ext cx="11063605" cy="645160"/>
          </a:xfrm>
          <a:prstGeom prst="rect">
            <a:avLst/>
          </a:prstGeom>
          <a:noFill/>
        </p:spPr>
        <p:txBody>
          <a:bodyPr wrap="square" rtlCol="0">
            <a:spAutoFit/>
          </a:bodyPr>
          <a:p>
            <a:r>
              <a:rPr lang="zh-CN" altLang="en-US">
                <a:latin typeface="汉仪粗仿宋简" panose="02010600000101010101" charset="-122"/>
                <a:ea typeface="汉仪粗仿宋简" panose="02010600000101010101" charset="-122"/>
                <a:cs typeface="汉仪粗仿宋简" panose="02010600000101010101" charset="-122"/>
              </a:rPr>
              <a:t>对比对的构建两条路径：</a:t>
            </a:r>
            <a:r>
              <a:rPr lang="en-US" altLang="zh-CN">
                <a:latin typeface="汉仪粗仿宋简" panose="02010600000101010101" charset="-122"/>
                <a:ea typeface="汉仪粗仿宋简" panose="02010600000101010101" charset="-122"/>
                <a:cs typeface="汉仪粗仿宋简" panose="02010600000101010101" charset="-122"/>
              </a:rPr>
              <a:t>1</a:t>
            </a:r>
            <a:r>
              <a:rPr lang="zh-CN" altLang="en-US">
                <a:latin typeface="汉仪粗仿宋简" panose="02010600000101010101" charset="-122"/>
                <a:ea typeface="汉仪粗仿宋简" panose="02010600000101010101" charset="-122"/>
                <a:cs typeface="汉仪粗仿宋简" panose="02010600000101010101" charset="-122"/>
              </a:rPr>
              <a:t>）基于</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生成的结果构建对比对</a:t>
            </a:r>
            <a:endParaRPr lang="zh-CN" altLang="en-US">
              <a:latin typeface="汉仪粗仿宋简" panose="02010600000101010101" charset="-122"/>
              <a:ea typeface="汉仪粗仿宋简" panose="02010600000101010101" charset="-122"/>
              <a:cs typeface="汉仪粗仿宋简" panose="02010600000101010101" charset="-122"/>
            </a:endParaRPr>
          </a:p>
          <a:p>
            <a:r>
              <a:rPr lang="en-US" altLang="zh-CN">
                <a:latin typeface="汉仪粗仿宋简" panose="02010600000101010101" charset="-122"/>
                <a:ea typeface="汉仪粗仿宋简" panose="02010600000101010101" charset="-122"/>
                <a:cs typeface="汉仪粗仿宋简" panose="02010600000101010101" charset="-122"/>
              </a:rPr>
              <a:t>                      2</a:t>
            </a:r>
            <a:r>
              <a:rPr lang="zh-CN" altLang="en-US">
                <a:latin typeface="汉仪粗仿宋简" panose="02010600000101010101" charset="-122"/>
                <a:ea typeface="汉仪粗仿宋简" panose="02010600000101010101" charset="-122"/>
                <a:cs typeface="汉仪粗仿宋简" panose="02010600000101010101" charset="-122"/>
              </a:rPr>
              <a:t>）基于定义的威胁模型下可以访问的语料构建对比对</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17" name="图片 16"/>
          <p:cNvPicPr>
            <a:picLocks noChangeAspect="1"/>
          </p:cNvPicPr>
          <p:nvPr/>
        </p:nvPicPr>
        <p:blipFill>
          <a:blip r:embed="rId5"/>
          <a:stretch>
            <a:fillRect/>
          </a:stretch>
        </p:blipFill>
        <p:spPr>
          <a:xfrm>
            <a:off x="153035" y="4782820"/>
            <a:ext cx="5870575" cy="2090420"/>
          </a:xfrm>
          <a:prstGeom prst="rect">
            <a:avLst/>
          </a:prstGeom>
        </p:spPr>
      </p:pic>
      <p:sp>
        <p:nvSpPr>
          <p:cNvPr id="19" name="文本框 18"/>
          <p:cNvSpPr txBox="1"/>
          <p:nvPr/>
        </p:nvSpPr>
        <p:spPr>
          <a:xfrm>
            <a:off x="6176010" y="5234305"/>
            <a:ext cx="5495290" cy="1487805"/>
          </a:xfrm>
          <a:prstGeom prst="rect">
            <a:avLst/>
          </a:prstGeom>
          <a:noFill/>
        </p:spPr>
        <p:txBody>
          <a:bodyPr wrap="square" rtlCol="0">
            <a:noAutofit/>
          </a:bodyPr>
          <a:p>
            <a:r>
              <a:rPr lang="zh-CN" altLang="en-US">
                <a:latin typeface="汉仪粗仿宋简" panose="02010600000101010101" charset="-122"/>
                <a:ea typeface="汉仪粗仿宋简" panose="02010600000101010101" charset="-122"/>
                <a:cs typeface="汉仪粗仿宋简" panose="02010600000101010101" charset="-122"/>
              </a:rPr>
              <a:t>使用</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生成时负样本来源：</a:t>
            </a:r>
            <a:endParaRPr lang="zh-CN" altLang="en-US">
              <a:latin typeface="汉仪粗仿宋简" panose="02010600000101010101" charset="-122"/>
              <a:ea typeface="汉仪粗仿宋简" panose="02010600000101010101" charset="-122"/>
              <a:cs typeface="汉仪粗仿宋简" panose="02010600000101010101" charset="-122"/>
            </a:endParaRPr>
          </a:p>
          <a:p>
            <a:r>
              <a:rPr lang="en-US" altLang="zh-CN">
                <a:latin typeface="汉仪粗仿宋简" panose="02010600000101010101" charset="-122"/>
                <a:ea typeface="汉仪粗仿宋简" panose="02010600000101010101" charset="-122"/>
                <a:cs typeface="汉仪粗仿宋简" panose="02010600000101010101" charset="-122"/>
              </a:rPr>
              <a:t>1.</a:t>
            </a:r>
            <a:r>
              <a:rPr lang="zh-CN" altLang="en-US">
                <a:latin typeface="汉仪粗仿宋简" panose="02010600000101010101" charset="-122"/>
                <a:ea typeface="汉仪粗仿宋简" panose="02010600000101010101" charset="-122"/>
                <a:cs typeface="汉仪粗仿宋简" panose="02010600000101010101" charset="-122"/>
              </a:rPr>
              <a:t>指令引起的</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上下文中的较低排名位置的文档可以用作硬负样本。</a:t>
            </a:r>
            <a:endParaRPr lang="zh-CN" altLang="en-US">
              <a:latin typeface="汉仪粗仿宋简" panose="02010600000101010101" charset="-122"/>
              <a:ea typeface="汉仪粗仿宋简" panose="02010600000101010101" charset="-122"/>
              <a:cs typeface="汉仪粗仿宋简" panose="02010600000101010101" charset="-122"/>
            </a:endParaRPr>
          </a:p>
          <a:p>
            <a:r>
              <a:rPr lang="en-US" altLang="zh-CN">
                <a:latin typeface="汉仪粗仿宋简" panose="02010600000101010101" charset="-122"/>
                <a:ea typeface="汉仪粗仿宋简" panose="02010600000101010101" charset="-122"/>
                <a:cs typeface="汉仪粗仿宋简" panose="02010600000101010101" charset="-122"/>
              </a:rPr>
              <a:t>2.</a:t>
            </a:r>
            <a:r>
              <a:rPr lang="zh-CN" altLang="en-US">
                <a:latin typeface="汉仪粗仿宋简" panose="02010600000101010101" charset="-122"/>
                <a:ea typeface="汉仪粗仿宋简" panose="02010600000101010101" charset="-122"/>
                <a:cs typeface="汉仪粗仿宋简" panose="02010600000101010101" charset="-122"/>
              </a:rPr>
              <a:t>随机抽样，可以从网页等公开可访问可编辑的恶意目标语料库中随机抽样获得负面样本</a:t>
            </a:r>
            <a:r>
              <a:rPr lang="zh-CN" altLang="en-US">
                <a:latin typeface="汉仪粗仿宋简" panose="02010600000101010101" charset="-122"/>
                <a:ea typeface="汉仪粗仿宋简" panose="02010600000101010101" charset="-122"/>
                <a:cs typeface="汉仪粗仿宋简" panose="02010600000101010101" charset="-122"/>
              </a:rPr>
              <a:t>子集。</a:t>
            </a:r>
            <a:endParaRPr lang="zh-CN" altLang="en-US">
              <a:latin typeface="汉仪粗仿宋简" panose="02010600000101010101" charset="-122"/>
              <a:ea typeface="汉仪粗仿宋简" panose="02010600000101010101" charset="-122"/>
              <a:cs typeface="汉仪粗仿宋简" panose="02010600000101010101" charset="-122"/>
            </a:endParaRPr>
          </a:p>
          <a:p>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513905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endParaRPr lang="zh-CN" altLang="en-US" b="1">
              <a:latin typeface="汉仪粗仿宋简" panose="02010600000101010101" charset="-122"/>
              <a:ea typeface="汉仪粗仿宋简" panose="02010600000101010101" charset="-122"/>
            </a:endParaRPr>
          </a:p>
        </p:txBody>
      </p:sp>
      <p:sp>
        <p:nvSpPr>
          <p:cNvPr id="8" name="文本框 7" descr="7b0a202020202262756c6c6574223a20227b5c2263617465676f727949645c223a5c225c222c5c2274656d706c61746549645c223a32303233313731347d220a7d0a"/>
          <p:cNvSpPr txBox="1"/>
          <p:nvPr/>
        </p:nvSpPr>
        <p:spPr>
          <a:xfrm>
            <a:off x="455295" y="1694815"/>
            <a:ext cx="11292205" cy="685165"/>
          </a:xfrm>
          <a:prstGeom prst="rect">
            <a:avLst/>
          </a:prstGeom>
          <a:noFill/>
        </p:spPr>
        <p:txBody>
          <a:bodyPr wrap="square" rtlCol="0">
            <a:noAutofit/>
          </a:bodyPr>
          <a:p>
            <a:pPr indent="0">
              <a:lnSpc>
                <a:spcPct val="120000"/>
              </a:lnSpc>
              <a:buNone/>
            </a:pPr>
            <a:r>
              <a:rPr lang="zh-CN" altLang="en-US">
                <a:latin typeface="汉仪粗仿宋简" panose="02010600000101010101" charset="-122"/>
                <a:ea typeface="汉仪粗仿宋简" panose="02010600000101010101" charset="-122"/>
              </a:rPr>
              <a:t>样本对</a:t>
            </a:r>
            <a:r>
              <a:rPr lang="en-US" altLang="zh-CN">
                <a:latin typeface="汉仪粗仿宋简" panose="02010600000101010101" charset="-122"/>
                <a:ea typeface="汉仪粗仿宋简" panose="02010600000101010101" charset="-122"/>
              </a:rPr>
              <a:t>(d+,d-)</a:t>
            </a:r>
            <a:r>
              <a:rPr lang="zh-CN" altLang="en-US">
                <a:latin typeface="汉仪粗仿宋简" panose="02010600000101010101" charset="-122"/>
                <a:ea typeface="汉仪粗仿宋简" panose="02010600000101010101" charset="-122"/>
              </a:rPr>
              <a:t>构建好后合并到训练数据集</a:t>
            </a:r>
            <a:r>
              <a:rPr lang="en-US" altLang="zh-CN">
                <a:latin typeface="汉仪粗仿宋简" panose="02010600000101010101" charset="-122"/>
                <a:ea typeface="汉仪粗仿宋简" panose="02010600000101010101" charset="-122"/>
              </a:rPr>
              <a:t>D</a:t>
            </a:r>
            <a:r>
              <a:rPr lang="zh-CN" altLang="en-US">
                <a:latin typeface="汉仪粗仿宋简" panose="02010600000101010101" charset="-122"/>
                <a:ea typeface="汉仪粗仿宋简" panose="02010600000101010101" charset="-122"/>
              </a:rPr>
              <a:t>中，在对数据进行采样之后采用成对训练方法来训练代理模型</a:t>
            </a:r>
            <a:r>
              <a:rPr lang="en-US" altLang="zh-CN">
                <a:latin typeface="汉仪粗仿宋简" panose="02010600000101010101" charset="-122"/>
                <a:ea typeface="汉仪粗仿宋简" panose="02010600000101010101" charset="-122"/>
              </a:rPr>
              <a:t>Mi</a:t>
            </a:r>
            <a:r>
              <a:rPr lang="zh-CN" altLang="en-US">
                <a:latin typeface="汉仪粗仿宋简" panose="02010600000101010101" charset="-122"/>
                <a:ea typeface="汉仪粗仿宋简" panose="02010600000101010101" charset="-122"/>
              </a:rPr>
              <a:t>，使用</a:t>
            </a:r>
            <a:r>
              <a:rPr lang="en-US" altLang="zh-CN">
                <a:latin typeface="汉仪粗仿宋简" panose="02010600000101010101" charset="-122"/>
                <a:ea typeface="汉仪粗仿宋简" panose="02010600000101010101" charset="-122"/>
              </a:rPr>
              <a:t>Adam</a:t>
            </a:r>
            <a:r>
              <a:rPr lang="zh-CN" altLang="en-US">
                <a:latin typeface="汉仪粗仿宋简" panose="02010600000101010101" charset="-122"/>
                <a:ea typeface="汉仪粗仿宋简" panose="02010600000101010101" charset="-122"/>
              </a:rPr>
              <a:t>优化器来最小化</a:t>
            </a:r>
            <a:r>
              <a:rPr lang="zh-CN" altLang="en-US">
                <a:latin typeface="汉仪粗仿宋简" panose="02010600000101010101" charset="-122"/>
                <a:ea typeface="汉仪粗仿宋简" panose="02010600000101010101" charset="-122"/>
              </a:rPr>
              <a:t>对比损失，使代理模型逼近黑盒</a:t>
            </a:r>
            <a:r>
              <a:rPr lang="en-US" altLang="zh-CN">
                <a:latin typeface="汉仪粗仿宋简" panose="02010600000101010101" charset="-122"/>
                <a:ea typeface="汉仪粗仿宋简" panose="02010600000101010101" charset="-122"/>
              </a:rPr>
              <a:t>RM</a:t>
            </a:r>
            <a:r>
              <a:rPr lang="zh-CN" altLang="en-US">
                <a:latin typeface="汉仪粗仿宋简" panose="02010600000101010101" charset="-122"/>
                <a:ea typeface="汉仪粗仿宋简" panose="02010600000101010101" charset="-122"/>
              </a:rPr>
              <a:t>的语义</a:t>
            </a:r>
            <a:r>
              <a:rPr lang="zh-CN" altLang="en-US">
                <a:latin typeface="汉仪粗仿宋简" panose="02010600000101010101" charset="-122"/>
                <a:ea typeface="汉仪粗仿宋简" panose="02010600000101010101" charset="-122"/>
              </a:rPr>
              <a:t>偏好</a:t>
            </a:r>
            <a:endParaRPr lang="zh-CN" altLang="en-US">
              <a:latin typeface="汉仪粗仿宋简" panose="02010600000101010101" charset="-122"/>
              <a:ea typeface="汉仪粗仿宋简" panose="02010600000101010101" charset="-122"/>
            </a:endParaRPr>
          </a:p>
        </p:txBody>
      </p:sp>
      <p:sp>
        <p:nvSpPr>
          <p:cNvPr id="18" name="文本框 17"/>
          <p:cNvSpPr txBox="1"/>
          <p:nvPr/>
        </p:nvSpPr>
        <p:spPr>
          <a:xfrm>
            <a:off x="455295" y="1270000"/>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代理模型</a:t>
            </a:r>
            <a:r>
              <a:rPr lang="en-US" altLang="zh-CN" b="1" u="sng">
                <a:solidFill>
                  <a:srgbClr val="004180"/>
                </a:solidFill>
                <a:latin typeface="汉仪粗仿宋简" panose="02010600000101010101" charset="-122"/>
                <a:ea typeface="汉仪粗仿宋简" panose="02010600000101010101" charset="-122"/>
              </a:rPr>
              <a:t>M</a:t>
            </a:r>
            <a:r>
              <a:rPr lang="en-US" altLang="zh-CN" b="1" u="sng" baseline="-25000">
                <a:solidFill>
                  <a:srgbClr val="004180"/>
                </a:solidFill>
                <a:latin typeface="汉仪粗仿宋简" panose="02010600000101010101" charset="-122"/>
                <a:ea typeface="汉仪粗仿宋简" panose="02010600000101010101" charset="-122"/>
              </a:rPr>
              <a:t>i</a:t>
            </a:r>
            <a:r>
              <a:rPr lang="zh-CN" altLang="en-US" b="1" u="sng">
                <a:solidFill>
                  <a:srgbClr val="004180"/>
                </a:solidFill>
                <a:latin typeface="汉仪粗仿宋简" panose="02010600000101010101" charset="-122"/>
                <a:ea typeface="汉仪粗仿宋简" panose="02010600000101010101" charset="-122"/>
              </a:rPr>
              <a:t>训练</a:t>
            </a:r>
            <a:endParaRPr lang="zh-CN" altLang="en-US" b="1" u="sng">
              <a:solidFill>
                <a:srgbClr val="004180"/>
              </a:solidFill>
              <a:latin typeface="汉仪粗仿宋简" panose="02010600000101010101" charset="-122"/>
              <a:ea typeface="汉仪粗仿宋简" panose="02010600000101010101" charset="-122"/>
            </a:endParaRPr>
          </a:p>
        </p:txBody>
      </p:sp>
      <p:pic>
        <p:nvPicPr>
          <p:cNvPr id="11" name="图片 10"/>
          <p:cNvPicPr>
            <a:picLocks noChangeAspect="1"/>
          </p:cNvPicPr>
          <p:nvPr/>
        </p:nvPicPr>
        <p:blipFill>
          <a:blip r:embed="rId4"/>
          <a:srcRect t="17959" r="1198" b="5679"/>
          <a:stretch>
            <a:fillRect/>
          </a:stretch>
        </p:blipFill>
        <p:spPr>
          <a:xfrm>
            <a:off x="4330065" y="2448560"/>
            <a:ext cx="4031615" cy="63182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7099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算法</a:t>
            </a:r>
            <a:r>
              <a:rPr lang="zh-CN" altLang="en-US" b="1">
                <a:latin typeface="汉仪粗仿宋简" panose="02010600000101010101" charset="-122"/>
                <a:ea typeface="汉仪粗仿宋简" panose="02010600000101010101" charset="-122"/>
              </a:rPr>
              <a:t>分析</a:t>
            </a:r>
            <a:endParaRPr lang="zh-CN" altLang="en-US" b="1">
              <a:latin typeface="汉仪粗仿宋简" panose="02010600000101010101" charset="-122"/>
              <a:ea typeface="汉仪粗仿宋简" panose="02010600000101010101" charset="-122"/>
            </a:endParaRPr>
          </a:p>
        </p:txBody>
      </p:sp>
      <p:pic>
        <p:nvPicPr>
          <p:cNvPr id="14" name="图片 13"/>
          <p:cNvPicPr>
            <a:picLocks noChangeAspect="1"/>
          </p:cNvPicPr>
          <p:nvPr/>
        </p:nvPicPr>
        <p:blipFill>
          <a:blip r:embed="rId4"/>
          <a:stretch>
            <a:fillRect/>
          </a:stretch>
        </p:blipFill>
        <p:spPr>
          <a:xfrm>
            <a:off x="229870" y="1946910"/>
            <a:ext cx="4977130" cy="3653155"/>
          </a:xfrm>
          <a:prstGeom prst="rect">
            <a:avLst/>
          </a:prstGeom>
        </p:spPr>
      </p:pic>
      <p:pic>
        <p:nvPicPr>
          <p:cNvPr id="15" name="图片 14"/>
          <p:cNvPicPr>
            <a:picLocks noChangeAspect="1"/>
          </p:cNvPicPr>
          <p:nvPr/>
        </p:nvPicPr>
        <p:blipFill>
          <a:blip r:embed="rId5"/>
          <a:stretch>
            <a:fillRect/>
          </a:stretch>
        </p:blipFill>
        <p:spPr>
          <a:xfrm>
            <a:off x="5300345" y="603250"/>
            <a:ext cx="5448300" cy="59436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455295" y="1314450"/>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意见操纵</a:t>
            </a:r>
            <a:r>
              <a:rPr lang="zh-CN" altLang="en-US" b="1" u="sng">
                <a:solidFill>
                  <a:srgbClr val="004180"/>
                </a:solidFill>
                <a:latin typeface="汉仪粗仿宋简" panose="02010600000101010101" charset="-122"/>
                <a:ea typeface="汉仪粗仿宋简" panose="02010600000101010101" charset="-122"/>
              </a:rPr>
              <a:t>攻击</a:t>
            </a:r>
            <a:endParaRPr lang="zh-CN" altLang="en-US" b="1" u="sng">
              <a:solidFill>
                <a:srgbClr val="004180"/>
              </a:solidFill>
              <a:latin typeface="汉仪粗仿宋简" panose="02010600000101010101" charset="-122"/>
              <a:ea typeface="汉仪粗仿宋简" panose="02010600000101010101" charset="-122"/>
            </a:endParaRPr>
          </a:p>
        </p:txBody>
      </p:sp>
      <p:sp>
        <p:nvSpPr>
          <p:cNvPr id="6" name="文本框 5" descr="7b0a202020202262756c6c6574223a20227b5c2263617465676f727949645c223a5c225c222c5c2274656d706c61746549645c223a32303233313634317d220a7d0a"/>
          <p:cNvSpPr txBox="1"/>
          <p:nvPr/>
        </p:nvSpPr>
        <p:spPr>
          <a:xfrm>
            <a:off x="111125" y="789305"/>
            <a:ext cx="181419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endParaRPr lang="zh-CN" altLang="en-US" b="1">
              <a:latin typeface="汉仪粗仿宋简" panose="02010600000101010101" charset="-122"/>
              <a:ea typeface="汉仪粗仿宋简" panose="02010600000101010101" charset="-122"/>
            </a:endParaRPr>
          </a:p>
        </p:txBody>
      </p:sp>
      <p:pic>
        <p:nvPicPr>
          <p:cNvPr id="7" name="图片 6"/>
          <p:cNvPicPr>
            <a:picLocks noChangeAspect="1"/>
          </p:cNvPicPr>
          <p:nvPr/>
        </p:nvPicPr>
        <p:blipFill>
          <a:blip r:embed="rId4"/>
          <a:srcRect l="8713" t="24766" r="13208" b="11704"/>
          <a:stretch>
            <a:fillRect/>
          </a:stretch>
        </p:blipFill>
        <p:spPr>
          <a:xfrm>
            <a:off x="3029585" y="4815205"/>
            <a:ext cx="5934710" cy="1337310"/>
          </a:xfrm>
          <a:prstGeom prst="rect">
            <a:avLst/>
          </a:prstGeom>
        </p:spPr>
      </p:pic>
      <p:sp>
        <p:nvSpPr>
          <p:cNvPr id="9" name="文本框 8"/>
          <p:cNvSpPr txBox="1"/>
          <p:nvPr/>
        </p:nvSpPr>
        <p:spPr>
          <a:xfrm>
            <a:off x="328295" y="1694815"/>
            <a:ext cx="11696065" cy="1902460"/>
          </a:xfrm>
          <a:prstGeom prst="rect">
            <a:avLst/>
          </a:prstGeom>
          <a:noFill/>
        </p:spPr>
        <p:txBody>
          <a:bodyPr wrap="square" rtlCol="0">
            <a:noAutofit/>
          </a:bodyPr>
          <a:p>
            <a:pPr>
              <a:lnSpc>
                <a:spcPct val="130000"/>
              </a:lnSpc>
            </a:pPr>
            <a:r>
              <a:rPr lang="zh-CN" altLang="en-US">
                <a:latin typeface="汉仪粗仿宋简" panose="02010600000101010101" charset="-122"/>
                <a:ea typeface="汉仪粗仿宋简" panose="02010600000101010101" charset="-122"/>
                <a:cs typeface="汉仪粗仿宋简" panose="02010600000101010101" charset="-122"/>
              </a:rPr>
              <a:t>在获得代理模型</a:t>
            </a:r>
            <a:r>
              <a:rPr lang="en-US" altLang="zh-CN">
                <a:latin typeface="汉仪粗仿宋简" panose="02010600000101010101" charset="-122"/>
                <a:ea typeface="汉仪粗仿宋简" panose="02010600000101010101" charset="-122"/>
                <a:cs typeface="汉仪粗仿宋简" panose="02010600000101010101" charset="-122"/>
              </a:rPr>
              <a:t>M</a:t>
            </a:r>
            <a:r>
              <a:rPr lang="en-US" altLang="zh-CN" baseline="-25000">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后，那么在</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中生成意见的场景由黑盒转变为白盒，我们拥有白盒代理模型的所有知识。因此我们直接对其实施对抗性检索攻击，为具有意见</a:t>
            </a:r>
            <a:r>
              <a:rPr lang="en-US" altLang="zh-CN">
                <a:latin typeface="汉仪粗仿宋简" panose="02010600000101010101" charset="-122"/>
                <a:ea typeface="汉仪粗仿宋简" panose="02010600000101010101" charset="-122"/>
                <a:cs typeface="汉仪粗仿宋简" panose="02010600000101010101" charset="-122"/>
              </a:rPr>
              <a:t>s</a:t>
            </a:r>
            <a:r>
              <a:rPr lang="en-US" altLang="zh-CN" baseline="-25000">
                <a:latin typeface="汉仪粗仿宋简" panose="02010600000101010101" charset="-122"/>
                <a:ea typeface="汉仪粗仿宋简" panose="02010600000101010101" charset="-122"/>
                <a:cs typeface="汉仪粗仿宋简" panose="02010600000101010101" charset="-122"/>
              </a:rPr>
              <a:t>t</a:t>
            </a:r>
            <a:r>
              <a:rPr lang="zh-CN" altLang="en-US">
                <a:latin typeface="汉仪粗仿宋简" panose="02010600000101010101" charset="-122"/>
                <a:ea typeface="汉仪粗仿宋简" panose="02010600000101010101" charset="-122"/>
                <a:cs typeface="汉仪粗仿宋简" panose="02010600000101010101" charset="-122"/>
              </a:rPr>
              <a:t>的候选文档</a:t>
            </a:r>
            <a:r>
              <a:rPr lang="en-US" altLang="zh-CN">
                <a:latin typeface="汉仪粗仿宋简" panose="02010600000101010101" charset="-122"/>
                <a:ea typeface="汉仪粗仿宋简" panose="02010600000101010101" charset="-122"/>
                <a:cs typeface="汉仪粗仿宋简" panose="02010600000101010101" charset="-122"/>
              </a:rPr>
              <a:t>d</a:t>
            </a:r>
            <a:r>
              <a:rPr lang="en-US" altLang="zh-CN" baseline="-25000">
                <a:latin typeface="汉仪粗仿宋简" panose="02010600000101010101" charset="-122"/>
                <a:ea typeface="汉仪粗仿宋简" panose="02010600000101010101" charset="-122"/>
                <a:cs typeface="汉仪粗仿宋简" panose="02010600000101010101" charset="-122"/>
              </a:rPr>
              <a:t>t</a:t>
            </a:r>
            <a:r>
              <a:rPr lang="zh-CN" altLang="en-US">
                <a:latin typeface="汉仪粗仿宋简" panose="02010600000101010101" charset="-122"/>
                <a:ea typeface="汉仪粗仿宋简" panose="02010600000101010101" charset="-122"/>
                <a:cs typeface="汉仪粗仿宋简" panose="02010600000101010101" charset="-122"/>
              </a:rPr>
              <a:t>生成对抗性触发器</a:t>
            </a:r>
            <a:r>
              <a:rPr lang="en-US" altLang="zh-CN">
                <a:latin typeface="汉仪粗仿宋简" panose="02010600000101010101" charset="-122"/>
                <a:ea typeface="汉仪粗仿宋简" panose="02010600000101010101" charset="-122"/>
                <a:cs typeface="汉仪粗仿宋简" panose="02010600000101010101" charset="-122"/>
              </a:rPr>
              <a:t>p</a:t>
            </a:r>
            <a:r>
              <a:rPr lang="en-US" altLang="zh-CN" baseline="-25000">
                <a:latin typeface="汉仪粗仿宋简" panose="02010600000101010101" charset="-122"/>
                <a:ea typeface="汉仪粗仿宋简" panose="02010600000101010101" charset="-122"/>
                <a:cs typeface="汉仪粗仿宋简" panose="02010600000101010101" charset="-122"/>
              </a:rPr>
              <a:t>adv</a:t>
            </a:r>
            <a:r>
              <a:rPr lang="zh-CN" altLang="en-US">
                <a:latin typeface="汉仪粗仿宋简" panose="02010600000101010101" charset="-122"/>
                <a:ea typeface="汉仪粗仿宋简" panose="02010600000101010101" charset="-122"/>
                <a:cs typeface="汉仪粗仿宋简" panose="02010600000101010101" charset="-122"/>
              </a:rPr>
              <a:t>，使用</a:t>
            </a:r>
            <a:r>
              <a:rPr lang="en-US" altLang="zh-CN">
                <a:latin typeface="汉仪粗仿宋简" panose="02010600000101010101" charset="-122"/>
                <a:ea typeface="汉仪粗仿宋简" panose="02010600000101010101" charset="-122"/>
                <a:cs typeface="汉仪粗仿宋简" panose="02010600000101010101" charset="-122"/>
              </a:rPr>
              <a:t>PAT</a:t>
            </a:r>
            <a:r>
              <a:rPr lang="zh-CN" altLang="en-US">
                <a:latin typeface="汉仪粗仿宋简" panose="02010600000101010101" charset="-122"/>
                <a:ea typeface="汉仪粗仿宋简" panose="02010600000101010101" charset="-122"/>
                <a:cs typeface="汉仪粗仿宋简" panose="02010600000101010101" charset="-122"/>
              </a:rPr>
              <a:t>策略进行对抗性检索攻击，将使用</a:t>
            </a:r>
            <a:r>
              <a:rPr lang="en-US" altLang="zh-CN">
                <a:latin typeface="汉仪粗仿宋简" panose="02010600000101010101" charset="-122"/>
                <a:ea typeface="汉仪粗仿宋简" panose="02010600000101010101" charset="-122"/>
                <a:cs typeface="汉仪粗仿宋简" panose="02010600000101010101" charset="-122"/>
              </a:rPr>
              <a:t>s</a:t>
            </a:r>
            <a:r>
              <a:rPr lang="en-US" altLang="zh-CN" baseline="-25000">
                <a:latin typeface="汉仪粗仿宋简" panose="02010600000101010101" charset="-122"/>
                <a:ea typeface="汉仪粗仿宋简" panose="02010600000101010101" charset="-122"/>
                <a:cs typeface="汉仪粗仿宋简" panose="02010600000101010101" charset="-122"/>
              </a:rPr>
              <a:t>t</a:t>
            </a:r>
            <a:r>
              <a:rPr lang="zh-CN" altLang="en-US">
                <a:latin typeface="汉仪粗仿宋简" panose="02010600000101010101" charset="-122"/>
                <a:ea typeface="汉仪粗仿宋简" panose="02010600000101010101" charset="-122"/>
                <a:cs typeface="汉仪粗仿宋简" panose="02010600000101010101" charset="-122"/>
              </a:rPr>
              <a:t>生成的触发器添加到目标文档后，再将修改后的目标文档插入到语料库中来破坏</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语料库。</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30000"/>
              </a:lnSpc>
            </a:pPr>
            <a:r>
              <a:rPr lang="zh-CN" altLang="en-US">
                <a:latin typeface="汉仪粗仿宋简" panose="02010600000101010101" charset="-122"/>
                <a:ea typeface="汉仪粗仿宋简" panose="02010600000101010101" charset="-122"/>
                <a:cs typeface="汉仪粗仿宋简" panose="02010600000101010101" charset="-122"/>
              </a:rPr>
              <a:t>触发器旨在提升文档在检索结果中的排名，确保其进入</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的上下文（</a:t>
            </a:r>
            <a:r>
              <a:rPr lang="en-US" altLang="zh-CN">
                <a:latin typeface="汉仪粗仿宋简" panose="02010600000101010101" charset="-122"/>
                <a:ea typeface="汉仪粗仿宋简" panose="02010600000101010101" charset="-122"/>
                <a:cs typeface="汉仪粗仿宋简" panose="02010600000101010101" charset="-122"/>
              </a:rPr>
              <a:t>top-k</a:t>
            </a:r>
            <a:r>
              <a:rPr lang="zh-CN" altLang="en-US">
                <a:latin typeface="汉仪粗仿宋简" panose="02010600000101010101" charset="-122"/>
                <a:ea typeface="汉仪粗仿宋简" panose="02010600000101010101" charset="-122"/>
                <a:cs typeface="汉仪粗仿宋简" panose="02010600000101010101" charset="-122"/>
              </a:rPr>
              <a:t>检索结果</a:t>
            </a:r>
            <a:r>
              <a:rPr lang="en-US" altLang="zh-CN">
                <a:latin typeface="汉仪粗仿宋简" panose="02010600000101010101" charset="-122"/>
                <a:ea typeface="汉仪粗仿宋简" panose="02010600000101010101" charset="-122"/>
                <a:cs typeface="汉仪粗仿宋简" panose="02010600000101010101" charset="-122"/>
              </a:rPr>
              <a:t>RMk(q)'</a:t>
            </a:r>
            <a:r>
              <a:rPr lang="zh-CN" altLang="en-US">
                <a:latin typeface="汉仪粗仿宋简" panose="02010600000101010101" charset="-122"/>
                <a:ea typeface="汉仪粗仿宋简" panose="02010600000101010101" charset="-122"/>
                <a:cs typeface="汉仪粗仿宋简" panose="02010600000101010101" charset="-122"/>
              </a:rPr>
              <a:t>），从而影响最终生成的意见极性：</a:t>
            </a:r>
            <a:r>
              <a:rPr lang="en-US" altLang="zh-CN">
                <a:latin typeface="汉仪粗仿宋简" panose="02010600000101010101" charset="-122"/>
                <a:ea typeface="汉仪粗仿宋简" panose="02010600000101010101" charset="-122"/>
                <a:cs typeface="汉仪粗仿宋简" panose="02010600000101010101" charset="-122"/>
              </a:rPr>
              <a:t>S(LLM(q, RM_k(q)')) </a:t>
            </a:r>
            <a:r>
              <a:rPr lang="zh-CN" altLang="en-US">
                <a:latin typeface="汉仪粗仿宋简" panose="02010600000101010101" charset="-122"/>
                <a:ea typeface="汉仪粗仿宋简" panose="02010600000101010101" charset="-122"/>
                <a:cs typeface="汉仪粗仿宋简" panose="02010600000101010101" charset="-122"/>
              </a:rPr>
              <a:t>，其中</a:t>
            </a:r>
            <a:r>
              <a:rPr lang="en-US" altLang="zh-CN">
                <a:latin typeface="汉仪粗仿宋简" panose="02010600000101010101" charset="-122"/>
                <a:ea typeface="汉仪粗仿宋简" panose="02010600000101010101" charset="-122"/>
                <a:cs typeface="汉仪粗仿宋简" panose="02010600000101010101" charset="-122"/>
              </a:rPr>
              <a:t>Sr≠So</a:t>
            </a:r>
            <a:r>
              <a:rPr lang="zh-CN" altLang="en-US">
                <a:latin typeface="汉仪粗仿宋简" panose="02010600000101010101" charset="-122"/>
                <a:ea typeface="汉仪粗仿宋简" panose="02010600000101010101" charset="-122"/>
                <a:cs typeface="汉仪粗仿宋简" panose="02010600000101010101" charset="-122"/>
              </a:rPr>
              <a:t>（</a:t>
            </a:r>
            <a:r>
              <a:rPr lang="en-US" altLang="zh-CN">
                <a:latin typeface="汉仪粗仿宋简" panose="02010600000101010101" charset="-122"/>
                <a:ea typeface="汉仪粗仿宋简" panose="02010600000101010101" charset="-122"/>
                <a:cs typeface="汉仪粗仿宋简" panose="02010600000101010101" charset="-122"/>
              </a:rPr>
              <a:t>So</a:t>
            </a:r>
            <a:r>
              <a:rPr lang="zh-CN" altLang="en-US">
                <a:latin typeface="汉仪粗仿宋简" panose="02010600000101010101" charset="-122"/>
                <a:ea typeface="汉仪粗仿宋简" panose="02010600000101010101" charset="-122"/>
                <a:cs typeface="汉仪粗仿宋简" panose="02010600000101010101" charset="-122"/>
              </a:rPr>
              <a:t>为原始意见）。</a:t>
            </a:r>
            <a:endParaRPr lang="zh-CN" altLang="en-US">
              <a:latin typeface="汉仪粗仿宋简" panose="02010600000101010101" charset="-122"/>
              <a:ea typeface="汉仪粗仿宋简" panose="02010600000101010101" charset="-122"/>
              <a:cs typeface="汉仪粗仿宋简" panose="02010600000101010101" charset="-122"/>
            </a:endParaRPr>
          </a:p>
          <a:p>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11" name="文本框 10"/>
          <p:cNvSpPr txBox="1"/>
          <p:nvPr/>
        </p:nvSpPr>
        <p:spPr>
          <a:xfrm>
            <a:off x="455930" y="3685540"/>
            <a:ext cx="2900680" cy="353060"/>
          </a:xfrm>
          <a:prstGeom prst="rect">
            <a:avLst/>
          </a:prstGeom>
          <a:noFill/>
        </p:spPr>
        <p:txBody>
          <a:bodyPr wrap="square" rtlCol="0">
            <a:noAutofit/>
          </a:bodyPr>
          <a:p>
            <a:r>
              <a:rPr lang="en-US" altLang="zh-CN" b="1" u="sng">
                <a:solidFill>
                  <a:srgbClr val="004180"/>
                </a:solidFill>
                <a:latin typeface="汉仪粗仿宋简" panose="02010600000101010101" charset="-122"/>
                <a:ea typeface="汉仪粗仿宋简" panose="02010600000101010101" charset="-122"/>
              </a:rPr>
              <a:t>PAT</a:t>
            </a:r>
            <a:r>
              <a:rPr lang="zh-CN" altLang="en-US" b="1" u="sng">
                <a:solidFill>
                  <a:srgbClr val="004180"/>
                </a:solidFill>
                <a:latin typeface="汉仪粗仿宋简" panose="02010600000101010101" charset="-122"/>
                <a:ea typeface="汉仪粗仿宋简" panose="02010600000101010101" charset="-122"/>
              </a:rPr>
              <a:t>策略</a:t>
            </a:r>
            <a:endParaRPr lang="zh-CN" altLang="en-US" b="1" u="sng">
              <a:solidFill>
                <a:srgbClr val="004180"/>
              </a:solidFill>
              <a:latin typeface="汉仪粗仿宋简" panose="02010600000101010101" charset="-122"/>
              <a:ea typeface="汉仪粗仿宋简" panose="02010600000101010101" charset="-122"/>
            </a:endParaRPr>
          </a:p>
        </p:txBody>
      </p:sp>
      <p:sp>
        <p:nvSpPr>
          <p:cNvPr id="14" name="文本框 13"/>
          <p:cNvSpPr txBox="1"/>
          <p:nvPr/>
        </p:nvSpPr>
        <p:spPr>
          <a:xfrm>
            <a:off x="455930" y="4170045"/>
            <a:ext cx="11082020" cy="645160"/>
          </a:xfrm>
          <a:prstGeom prst="rect">
            <a:avLst/>
          </a:prstGeom>
          <a:noFill/>
        </p:spPr>
        <p:txBody>
          <a:bodyPr wrap="square" rtlCol="0">
            <a:spAutoFit/>
          </a:bodyPr>
          <a:p>
            <a:r>
              <a:rPr lang="zh-CN" altLang="en-US">
                <a:latin typeface="汉仪粗仿宋简" panose="02010600000101010101" charset="-122"/>
                <a:ea typeface="汉仪粗仿宋简" panose="02010600000101010101" charset="-122"/>
                <a:cs typeface="汉仪粗仿宋简" panose="02010600000101010101" charset="-122"/>
              </a:rPr>
              <a:t>采用</a:t>
            </a:r>
            <a:r>
              <a:rPr lang="en-US" altLang="zh-CN">
                <a:latin typeface="汉仪粗仿宋简" panose="02010600000101010101" charset="-122"/>
                <a:ea typeface="汉仪粗仿宋简" panose="02010600000101010101" charset="-122"/>
                <a:cs typeface="汉仪粗仿宋简" panose="02010600000101010101" charset="-122"/>
              </a:rPr>
              <a:t>PAT</a:t>
            </a:r>
            <a:r>
              <a:rPr lang="zh-CN" altLang="en-US">
                <a:latin typeface="汉仪粗仿宋简" panose="02010600000101010101" charset="-122"/>
                <a:ea typeface="汉仪粗仿宋简" panose="02010600000101010101" charset="-122"/>
                <a:cs typeface="汉仪粗仿宋简" panose="02010600000101010101" charset="-122"/>
              </a:rPr>
              <a:t>作为代表性对抗检索攻击策略，用于生成触发器</a:t>
            </a:r>
            <a:r>
              <a:rPr lang="en-US" altLang="zh-CN">
                <a:latin typeface="汉仪粗仿宋简" panose="02010600000101010101" charset="-122"/>
                <a:ea typeface="汉仪粗仿宋简" panose="02010600000101010101" charset="-122"/>
                <a:cs typeface="汉仪粗仿宋简" panose="02010600000101010101" charset="-122"/>
              </a:rPr>
              <a:t>p</a:t>
            </a:r>
            <a:r>
              <a:rPr lang="en-US" altLang="zh-CN" baseline="-25000">
                <a:latin typeface="汉仪粗仿宋简" panose="02010600000101010101" charset="-122"/>
                <a:ea typeface="汉仪粗仿宋简" panose="02010600000101010101" charset="-122"/>
                <a:cs typeface="汉仪粗仿宋简" panose="02010600000101010101" charset="-122"/>
              </a:rPr>
              <a:t>adv</a:t>
            </a:r>
            <a:r>
              <a:rPr lang="zh-CN" altLang="en-US">
                <a:latin typeface="汉仪粗仿宋简" panose="02010600000101010101" charset="-122"/>
                <a:ea typeface="汉仪粗仿宋简" panose="02010600000101010101" charset="-122"/>
                <a:cs typeface="汉仪粗仿宋简" panose="02010600000101010101" charset="-122"/>
              </a:rPr>
              <a:t>，</a:t>
            </a:r>
            <a:r>
              <a:rPr lang="en-US" altLang="zh-CN">
                <a:latin typeface="汉仪粗仿宋简" panose="02010600000101010101" charset="-122"/>
                <a:ea typeface="汉仪粗仿宋简" panose="02010600000101010101" charset="-122"/>
                <a:cs typeface="汉仪粗仿宋简" panose="02010600000101010101" charset="-122"/>
              </a:rPr>
              <a:t>PAT</a:t>
            </a:r>
            <a:r>
              <a:rPr lang="zh-CN" altLang="en-US">
                <a:latin typeface="汉仪粗仿宋简" panose="02010600000101010101" charset="-122"/>
                <a:ea typeface="汉仪粗仿宋简" panose="02010600000101010101" charset="-122"/>
                <a:cs typeface="汉仪粗仿宋简" panose="02010600000101010101" charset="-122"/>
              </a:rPr>
              <a:t>遵循成对生成范式，以目标查询</a:t>
            </a:r>
            <a:r>
              <a:rPr lang="en-US" altLang="zh-CN">
                <a:latin typeface="汉仪粗仿宋简" panose="02010600000101010101" charset="-122"/>
                <a:ea typeface="汉仪粗仿宋简" panose="02010600000101010101" charset="-122"/>
                <a:cs typeface="汉仪粗仿宋简" panose="02010600000101010101" charset="-122"/>
              </a:rPr>
              <a:t>q</a:t>
            </a:r>
            <a:r>
              <a:rPr lang="zh-CN" altLang="en-US">
                <a:latin typeface="汉仪粗仿宋简" panose="02010600000101010101" charset="-122"/>
                <a:ea typeface="汉仪粗仿宋简" panose="02010600000101010101" charset="-122"/>
                <a:cs typeface="汉仪粗仿宋简" panose="02010600000101010101" charset="-122"/>
              </a:rPr>
              <a:t>，目标候选文档</a:t>
            </a:r>
            <a:r>
              <a:rPr lang="en-US" altLang="zh-CN">
                <a:latin typeface="汉仪粗仿宋简" panose="02010600000101010101" charset="-122"/>
                <a:ea typeface="汉仪粗仿宋简" panose="02010600000101010101" charset="-122"/>
                <a:cs typeface="汉仪粗仿宋简" panose="02010600000101010101" charset="-122"/>
              </a:rPr>
              <a:t>d</a:t>
            </a:r>
            <a:r>
              <a:rPr lang="en-US" altLang="zh-CN" baseline="-25000">
                <a:latin typeface="汉仪粗仿宋简" panose="02010600000101010101" charset="-122"/>
                <a:ea typeface="汉仪粗仿宋简" panose="02010600000101010101" charset="-122"/>
                <a:cs typeface="汉仪粗仿宋简" panose="02010600000101010101" charset="-122"/>
              </a:rPr>
              <a:t>r</a:t>
            </a:r>
            <a:r>
              <a:rPr lang="zh-CN" altLang="en-US">
                <a:latin typeface="汉仪粗仿宋简" panose="02010600000101010101" charset="-122"/>
                <a:ea typeface="汉仪粗仿宋简" panose="02010600000101010101" charset="-122"/>
                <a:cs typeface="汉仪粗仿宋简" panose="02010600000101010101" charset="-122"/>
              </a:rPr>
              <a:t>和锚点候选项为基础，通过梯度优化成对损失来迭代搜索合适的触发器表示。</a:t>
            </a:r>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455295" y="1314450"/>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文档污染与攻击</a:t>
            </a:r>
            <a:r>
              <a:rPr lang="zh-CN" altLang="en-US" b="1" u="sng">
                <a:solidFill>
                  <a:srgbClr val="004180"/>
                </a:solidFill>
                <a:latin typeface="汉仪粗仿宋简" panose="02010600000101010101" charset="-122"/>
                <a:ea typeface="汉仪粗仿宋简" panose="02010600000101010101" charset="-122"/>
              </a:rPr>
              <a:t>转移</a:t>
            </a:r>
            <a:endParaRPr lang="zh-CN" altLang="en-US" b="1" u="sng">
              <a:solidFill>
                <a:srgbClr val="004180"/>
              </a:solidFill>
              <a:latin typeface="汉仪粗仿宋简" panose="02010600000101010101" charset="-122"/>
              <a:ea typeface="汉仪粗仿宋简" panose="02010600000101010101" charset="-122"/>
            </a:endParaRPr>
          </a:p>
        </p:txBody>
      </p:sp>
      <p:sp>
        <p:nvSpPr>
          <p:cNvPr id="6" name="文本框 5" descr="7b0a202020202262756c6c6574223a20227b5c2263617465676f727949645c223a5c225c222c5c2274656d706c61746549645c223a32303233313634317d220a7d0a"/>
          <p:cNvSpPr txBox="1"/>
          <p:nvPr/>
        </p:nvSpPr>
        <p:spPr>
          <a:xfrm>
            <a:off x="111125" y="789305"/>
            <a:ext cx="181419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endParaRPr lang="zh-CN" altLang="en-US" b="1">
              <a:latin typeface="汉仪粗仿宋简" panose="02010600000101010101" charset="-122"/>
              <a:ea typeface="汉仪粗仿宋简" panose="02010600000101010101" charset="-122"/>
            </a:endParaRPr>
          </a:p>
        </p:txBody>
      </p:sp>
      <p:sp>
        <p:nvSpPr>
          <p:cNvPr id="9" name="文本框 8"/>
          <p:cNvSpPr txBox="1"/>
          <p:nvPr/>
        </p:nvSpPr>
        <p:spPr>
          <a:xfrm>
            <a:off x="328295" y="1694815"/>
            <a:ext cx="11696065" cy="885825"/>
          </a:xfrm>
          <a:prstGeom prst="rect">
            <a:avLst/>
          </a:prstGeom>
          <a:noFill/>
        </p:spPr>
        <p:txBody>
          <a:bodyPr wrap="square" rtlCol="0">
            <a:noAutofit/>
          </a:bodyPr>
          <a:p>
            <a:pPr>
              <a:lnSpc>
                <a:spcPct val="140000"/>
              </a:lnSpc>
            </a:pPr>
            <a:r>
              <a:rPr lang="zh-CN" altLang="en-US">
                <a:latin typeface="汉仪粗仿宋简" panose="02010600000101010101" charset="-122"/>
                <a:ea typeface="汉仪粗仿宋简" panose="02010600000101010101" charset="-122"/>
                <a:cs typeface="汉仪粗仿宋简" panose="02010600000101010101" charset="-122"/>
              </a:rPr>
              <a:t>生成触发器后，攻击者将</a:t>
            </a:r>
            <a:r>
              <a:rPr lang="en-US" altLang="zh-CN">
                <a:latin typeface="汉仪粗仿宋简" panose="02010600000101010101" charset="-122"/>
                <a:ea typeface="汉仪粗仿宋简" panose="02010600000101010101" charset="-122"/>
                <a:cs typeface="汉仪粗仿宋简" panose="02010600000101010101" charset="-122"/>
              </a:rPr>
              <a:t>p</a:t>
            </a:r>
            <a:r>
              <a:rPr lang="en-US" altLang="zh-CN" baseline="-25000">
                <a:latin typeface="汉仪粗仿宋简" panose="02010600000101010101" charset="-122"/>
                <a:ea typeface="汉仪粗仿宋简" panose="02010600000101010101" charset="-122"/>
                <a:cs typeface="汉仪粗仿宋简" panose="02010600000101010101" charset="-122"/>
              </a:rPr>
              <a:t>adv</a:t>
            </a:r>
            <a:r>
              <a:rPr lang="zh-CN" altLang="en-US">
                <a:latin typeface="汉仪粗仿宋简" panose="02010600000101010101" charset="-122"/>
                <a:ea typeface="汉仪粗仿宋简" panose="02010600000101010101" charset="-122"/>
                <a:cs typeface="汉仪粗仿宋简" panose="02010600000101010101" charset="-122"/>
              </a:rPr>
              <a:t>插入目标文档</a:t>
            </a:r>
            <a:r>
              <a:rPr lang="en-US" altLang="zh-CN">
                <a:latin typeface="汉仪粗仿宋简" panose="02010600000101010101" charset="-122"/>
                <a:ea typeface="汉仪粗仿宋简" panose="02010600000101010101" charset="-122"/>
                <a:cs typeface="汉仪粗仿宋简" panose="02010600000101010101" charset="-122"/>
              </a:rPr>
              <a:t>dr</a:t>
            </a:r>
            <a:r>
              <a:rPr lang="zh-CN" altLang="en-US">
                <a:latin typeface="汉仪粗仿宋简" panose="02010600000101010101" charset="-122"/>
                <a:ea typeface="汉仪粗仿宋简" panose="02010600000101010101" charset="-122"/>
                <a:cs typeface="汉仪粗仿宋简" panose="02010600000101010101" charset="-122"/>
              </a:rPr>
              <a:t>，形成修改后的文档</a:t>
            </a:r>
            <a:r>
              <a:rPr lang="en-US" altLang="zh-CN">
                <a:latin typeface="汉仪粗仿宋简" panose="02010600000101010101" charset="-122"/>
                <a:ea typeface="汉仪粗仿宋简" panose="02010600000101010101" charset="-122"/>
                <a:cs typeface="汉仪粗仿宋简" panose="02010600000101010101" charset="-122"/>
              </a:rPr>
              <a:t>d</a:t>
            </a:r>
            <a:r>
              <a:rPr lang="en-US" altLang="zh-CN" baseline="-25000">
                <a:latin typeface="汉仪粗仿宋简" panose="02010600000101010101" charset="-122"/>
                <a:ea typeface="汉仪粗仿宋简" panose="02010600000101010101" charset="-122"/>
                <a:cs typeface="汉仪粗仿宋简" panose="02010600000101010101" charset="-122"/>
              </a:rPr>
              <a:t>t</a:t>
            </a:r>
            <a:r>
              <a:rPr lang="en-US" altLang="zh-CN">
                <a:latin typeface="汉仪粗仿宋简" panose="02010600000101010101" charset="-122"/>
                <a:ea typeface="汉仪粗仿宋简" panose="02010600000101010101" charset="-122"/>
                <a:cs typeface="汉仪粗仿宋简" panose="02010600000101010101" charset="-122"/>
              </a:rPr>
              <a:t>⨁p</a:t>
            </a:r>
            <a:r>
              <a:rPr lang="en-US" altLang="zh-CN" baseline="-25000">
                <a:latin typeface="汉仪粗仿宋简" panose="02010600000101010101" charset="-122"/>
                <a:ea typeface="汉仪粗仿宋简" panose="02010600000101010101" charset="-122"/>
                <a:cs typeface="汉仪粗仿宋简" panose="02010600000101010101" charset="-122"/>
              </a:rPr>
              <a:t>adv</a:t>
            </a:r>
            <a:r>
              <a:rPr lang="zh-CN" altLang="en-US">
                <a:latin typeface="汉仪粗仿宋简" panose="02010600000101010101" charset="-122"/>
                <a:ea typeface="汉仪粗仿宋简" panose="02010600000101010101" charset="-122"/>
                <a:cs typeface="汉仪粗仿宋简" panose="02010600000101010101" charset="-122"/>
              </a:rPr>
              <a:t>，并注入</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语料库</a:t>
            </a:r>
            <a:r>
              <a:rPr lang="en-US" altLang="zh-CN">
                <a:latin typeface="汉仪粗仿宋简" panose="02010600000101010101" charset="-122"/>
                <a:ea typeface="汉仪粗仿宋简" panose="02010600000101010101" charset="-122"/>
                <a:cs typeface="汉仪粗仿宋简" panose="02010600000101010101" charset="-122"/>
              </a:rPr>
              <a:t>D</a:t>
            </a:r>
            <a:r>
              <a:rPr lang="zh-CN" altLang="en-US">
                <a:latin typeface="汉仪粗仿宋简" panose="02010600000101010101" charset="-122"/>
                <a:ea typeface="汉仪粗仿宋简" panose="02010600000101010101" charset="-122"/>
                <a:cs typeface="汉仪粗仿宋简" panose="02010600000101010101" charset="-122"/>
              </a:rPr>
              <a:t>，从而污染语料。这一步骤利用</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系统的公开知识来源，使修改文档在查询</a:t>
            </a:r>
            <a:r>
              <a:rPr lang="en-US" altLang="zh-CN">
                <a:latin typeface="汉仪粗仿宋简" panose="02010600000101010101" charset="-122"/>
                <a:ea typeface="汉仪粗仿宋简" panose="02010600000101010101" charset="-122"/>
                <a:cs typeface="汉仪粗仿宋简" panose="02010600000101010101" charset="-122"/>
              </a:rPr>
              <a:t>q</a:t>
            </a:r>
            <a:r>
              <a:rPr lang="zh-CN" altLang="en-US">
                <a:latin typeface="汉仪粗仿宋简" panose="02010600000101010101" charset="-122"/>
                <a:ea typeface="汉仪粗仿宋简" panose="02010600000101010101" charset="-122"/>
                <a:cs typeface="汉仪粗仿宋简" panose="02010600000101010101" charset="-122"/>
              </a:rPr>
              <a:t>时排名上升，进入</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上下文。</a:t>
            </a:r>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11" name="文本框 10"/>
          <p:cNvSpPr txBox="1"/>
          <p:nvPr/>
        </p:nvSpPr>
        <p:spPr>
          <a:xfrm>
            <a:off x="455930" y="2607945"/>
            <a:ext cx="2900680" cy="353060"/>
          </a:xfrm>
          <a:prstGeom prst="rect">
            <a:avLst/>
          </a:prstGeom>
          <a:noFill/>
        </p:spPr>
        <p:txBody>
          <a:bodyPr wrap="square" rtlCol="0">
            <a:noAutofit/>
          </a:bodyPr>
          <a:p>
            <a:r>
              <a:rPr lang="zh-CN" altLang="en-US" b="1" u="sng">
                <a:solidFill>
                  <a:srgbClr val="004180"/>
                </a:solidFill>
                <a:latin typeface="汉仪粗仿宋简" panose="02010600000101010101" charset="-122"/>
                <a:ea typeface="汉仪粗仿宋简" panose="02010600000101010101" charset="-122"/>
              </a:rPr>
              <a:t>优化</a:t>
            </a:r>
            <a:r>
              <a:rPr lang="zh-CN" altLang="en-US" b="1" u="sng">
                <a:solidFill>
                  <a:srgbClr val="004180"/>
                </a:solidFill>
                <a:latin typeface="汉仪粗仿宋简" panose="02010600000101010101" charset="-122"/>
                <a:ea typeface="汉仪粗仿宋简" panose="02010600000101010101" charset="-122"/>
              </a:rPr>
              <a:t>机制</a:t>
            </a:r>
            <a:endParaRPr lang="zh-CN" altLang="en-US" b="1" u="sng">
              <a:solidFill>
                <a:srgbClr val="004180"/>
              </a:solidFill>
              <a:latin typeface="汉仪粗仿宋简" panose="02010600000101010101" charset="-122"/>
              <a:ea typeface="汉仪粗仿宋简" panose="02010600000101010101" charset="-122"/>
            </a:endParaRPr>
          </a:p>
        </p:txBody>
      </p:sp>
      <p:sp>
        <p:nvSpPr>
          <p:cNvPr id="14" name="文本框 13"/>
          <p:cNvSpPr txBox="1"/>
          <p:nvPr/>
        </p:nvSpPr>
        <p:spPr>
          <a:xfrm>
            <a:off x="482600" y="3060700"/>
            <a:ext cx="11082020" cy="368300"/>
          </a:xfrm>
          <a:prstGeom prst="rect">
            <a:avLst/>
          </a:prstGeom>
          <a:noFill/>
        </p:spPr>
        <p:txBody>
          <a:bodyPr wrap="square" rtlCol="0">
            <a:spAutoFit/>
          </a:bodyPr>
          <a:p>
            <a:r>
              <a:rPr lang="zh-CN" altLang="en-US">
                <a:latin typeface="汉仪粗仿宋简" panose="02010600000101010101" charset="-122"/>
                <a:ea typeface="汉仪粗仿宋简" panose="02010600000101010101" charset="-122"/>
                <a:cs typeface="汉仪粗仿宋简" panose="02010600000101010101" charset="-122"/>
              </a:rPr>
              <a:t>攻击的正式目标是最大化</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响应与目标意见一致的平均概率</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8" name="图片 7"/>
          <p:cNvPicPr>
            <a:picLocks noChangeAspect="1"/>
          </p:cNvPicPr>
          <p:nvPr/>
        </p:nvPicPr>
        <p:blipFill>
          <a:blip r:embed="rId4"/>
          <a:stretch>
            <a:fillRect/>
          </a:stretch>
        </p:blipFill>
        <p:spPr>
          <a:xfrm>
            <a:off x="3775710" y="3528695"/>
            <a:ext cx="4495800" cy="971550"/>
          </a:xfrm>
          <a:prstGeom prst="rect">
            <a:avLst/>
          </a:prstGeom>
        </p:spPr>
      </p:pic>
      <p:sp>
        <p:nvSpPr>
          <p:cNvPr id="15" name="文本框 14"/>
          <p:cNvSpPr txBox="1"/>
          <p:nvPr/>
        </p:nvSpPr>
        <p:spPr>
          <a:xfrm>
            <a:off x="609600" y="4672965"/>
            <a:ext cx="11082020" cy="1309370"/>
          </a:xfrm>
          <a:prstGeom prst="rect">
            <a:avLst/>
          </a:prstGeom>
          <a:noFill/>
        </p:spPr>
        <p:txBody>
          <a:bodyPr wrap="square" rtlCol="0">
            <a:spAutoFit/>
          </a:bodyPr>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为了实现此目标</a:t>
            </a:r>
            <a:r>
              <a:rPr lang="zh-CN" altLang="en-US">
                <a:latin typeface="汉仪粗仿宋简" panose="02010600000101010101" charset="-122"/>
                <a:ea typeface="汉仪粗仿宋简" panose="02010600000101010101" charset="-122"/>
                <a:cs typeface="汉仪粗仿宋简" panose="02010600000101010101" charset="-122"/>
              </a:rPr>
              <a:t>需要：</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1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在黑盒模仿阶段优化对比损失，确保代理模型准确捕捉黑盒检索器的排名偏好。</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1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在攻击阶段优化</a:t>
            </a:r>
            <a:r>
              <a:rPr lang="en-US" altLang="zh-CN">
                <a:latin typeface="汉仪粗仿宋简" panose="02010600000101010101" charset="-122"/>
                <a:ea typeface="汉仪粗仿宋简" panose="02010600000101010101" charset="-122"/>
                <a:cs typeface="汉仪粗仿宋简" panose="02010600000101010101" charset="-122"/>
              </a:rPr>
              <a:t>PAT</a:t>
            </a:r>
            <a:r>
              <a:rPr lang="zh-CN" altLang="en-US">
                <a:latin typeface="汉仪粗仿宋简" panose="02010600000101010101" charset="-122"/>
                <a:ea typeface="汉仪粗仿宋简" panose="02010600000101010101" charset="-122"/>
                <a:cs typeface="汉仪粗仿宋简" panose="02010600000101010101" charset="-122"/>
              </a:rPr>
              <a:t>损失，搜索兼顾相关性和隐蔽性的触发器。</a:t>
            </a:r>
            <a:endParaRPr lang="zh-CN" altLang="en-US">
              <a:latin typeface="汉仪粗仿宋简" panose="02010600000101010101" charset="-122"/>
              <a:ea typeface="汉仪粗仿宋简" panose="02010600000101010101" charset="-122"/>
              <a:cs typeface="汉仪粗仿宋简" panose="02010600000101010101" charset="-122"/>
            </a:endParaRPr>
          </a:p>
          <a:p>
            <a:pPr indent="0">
              <a:lnSpc>
                <a:spcPct val="110000"/>
              </a:lnSpc>
              <a:buNone/>
            </a:pPr>
            <a:r>
              <a:rPr lang="zh-CN" altLang="en-US">
                <a:latin typeface="汉仪粗仿宋简" panose="02010600000101010101" charset="-122"/>
                <a:ea typeface="汉仪粗仿宋简" panose="02010600000101010101" charset="-122"/>
                <a:cs typeface="汉仪粗仿宋简" panose="02010600000101010101" charset="-122"/>
              </a:rPr>
              <a:t>这些机制共同放大目标意见文档在上下文中的占比，进而提升响应偏向概率。</a:t>
            </a:r>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7099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算法</a:t>
            </a:r>
            <a:r>
              <a:rPr lang="zh-CN" altLang="en-US" b="1">
                <a:latin typeface="汉仪粗仿宋简" panose="02010600000101010101" charset="-122"/>
                <a:ea typeface="汉仪粗仿宋简" panose="02010600000101010101" charset="-122"/>
              </a:rPr>
              <a:t>分析</a:t>
            </a:r>
            <a:endParaRPr lang="zh-CN" altLang="en-US" b="1">
              <a:latin typeface="汉仪粗仿宋简" panose="02010600000101010101" charset="-122"/>
              <a:ea typeface="汉仪粗仿宋简" panose="02010600000101010101" charset="-122"/>
            </a:endParaRPr>
          </a:p>
        </p:txBody>
      </p:sp>
      <p:pic>
        <p:nvPicPr>
          <p:cNvPr id="14" name="图片 13"/>
          <p:cNvPicPr>
            <a:picLocks noChangeAspect="1"/>
          </p:cNvPicPr>
          <p:nvPr/>
        </p:nvPicPr>
        <p:blipFill>
          <a:blip r:embed="rId4"/>
          <a:stretch>
            <a:fillRect/>
          </a:stretch>
        </p:blipFill>
        <p:spPr>
          <a:xfrm>
            <a:off x="328295" y="1765300"/>
            <a:ext cx="5321300" cy="3905885"/>
          </a:xfrm>
          <a:prstGeom prst="rect">
            <a:avLst/>
          </a:prstGeom>
        </p:spPr>
      </p:pic>
      <p:pic>
        <p:nvPicPr>
          <p:cNvPr id="6" name="图片 5"/>
          <p:cNvPicPr>
            <a:picLocks noChangeAspect="1"/>
          </p:cNvPicPr>
          <p:nvPr/>
        </p:nvPicPr>
        <p:blipFill>
          <a:blip r:embed="rId5"/>
          <a:stretch>
            <a:fillRect/>
          </a:stretch>
        </p:blipFill>
        <p:spPr>
          <a:xfrm>
            <a:off x="5761990" y="1561465"/>
            <a:ext cx="5950585" cy="43129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r>
              <a:rPr lang="en-US" altLang="zh-CN" sz="2400" dirty="0">
                <a:solidFill>
                  <a:schemeClr val="bg2"/>
                </a:solidFill>
                <a:latin typeface="Chaparral Pro Light" panose="02060403030505090203" charset="0"/>
                <a:cs typeface="Chaparral Pro Light" panose="02060403030505090203" charset="0"/>
              </a:rPr>
              <a:t>Traceback of Poisoning Attacks to Retrieval-Augmented Generation</a:t>
            </a:r>
            <a:endParaRPr lang="en-US" altLang="zh-CN" sz="2400"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125730" y="871855"/>
            <a:ext cx="11903075" cy="3006725"/>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研究背景</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在问答和摘要任务中表现出色，但易产生幻觉，即生成错误信息。为缓解此问题，</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通过从外部知识数据库检索相关文本，提供额外上下文，提高响应准确性。然而，</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易受毒化攻击影响，攻击者注入精心设计的毒化文本到数据库中，操纵系统对特定查询输出攻击者指定响应。现有防御如</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RobustRAG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采用隔离聚合策略过滤毒化关键词，或通过查询改写、增加检索文本数缓解影响，但对先进攻击效果有限。这些攻击利用</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生成语义相关毒化文本，或注入恶意指令，绕过安全机制。持续攻防对抗促使转向毒化取证，追踪毒化文本根源，移除污染数据，提升系统安全性。传统深度学习取证依赖模型梯度，不适用于</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RAG</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，因无法访问检索器和</a:t>
            </a:r>
            <a:r>
              <a:rPr lang="en-US" altLang="zh-CN"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LLM</a:t>
            </a:r>
            <a:r>
              <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rPr>
              <a:t>参数，且数据库规模巨大，易致高假阳性。</a:t>
            </a: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sp>
        <p:nvSpPr>
          <p:cNvPr id="7" name="文本框 6"/>
          <p:cNvSpPr txBox="1"/>
          <p:nvPr/>
        </p:nvSpPr>
        <p:spPr>
          <a:xfrm>
            <a:off x="125730" y="3883660"/>
            <a:ext cx="11825605" cy="2722245"/>
          </a:xfrm>
          <a:prstGeom prst="rect">
            <a:avLst/>
          </a:prstGeom>
          <a:noFill/>
        </p:spPr>
        <p:txBody>
          <a:bodyPr wrap="square" rtlCol="0">
            <a:noAutofit/>
          </a:bodyPr>
          <a:p>
            <a:pPr marR="0" lvl="0" indent="0" algn="l" defTabSz="914400" rtl="0" eaLnBrk="1" fontAlgn="auto" latinLnBrk="0" hangingPunct="1">
              <a:lnSpc>
                <a:spcPct val="14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lang="en-US" altLang="zh-CN" b="1" dirty="0">
                <a:solidFill>
                  <a:prstClr val="black"/>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rPr>
              <a:t>研究目的</a:t>
            </a:r>
            <a:endParaRPr lang="zh-CN" altLang="en-US" b="1" dirty="0">
              <a:solidFill>
                <a:prstClr val="black"/>
              </a:solidFill>
              <a:latin typeface="汉仪粗仿宋简" panose="02010600000101010101" charset="-122"/>
              <a:ea typeface="汉仪粗仿宋简" panose="02010600000101010101" charset="-122"/>
              <a:cs typeface="Times New Roman" panose="02020603050405020304" pitchFamily="18" charset="0"/>
              <a:sym typeface="+mn-ea"/>
            </a:endParaRPr>
          </a:p>
          <a:p>
            <a:pPr>
              <a:lnSpc>
                <a:spcPct val="140000"/>
              </a:lnSpc>
            </a:pPr>
            <a:r>
              <a:rPr lang="zh-CN" altLang="en-US">
                <a:latin typeface="汉仪粗仿宋简" panose="02010600000101010101" charset="-122"/>
                <a:ea typeface="汉仪粗仿宋简" panose="02010600000101010101" charset="-122"/>
              </a:rPr>
              <a:t>本研究旨在开发</a:t>
            </a:r>
            <a:r>
              <a:rPr lang="en-US" altLang="zh-CN">
                <a:latin typeface="汉仪粗仿宋简" panose="02010600000101010101" charset="-122"/>
                <a:ea typeface="汉仪粗仿宋简" panose="02010600000101010101" charset="-122"/>
              </a:rPr>
              <a:t>RAGForensics</a:t>
            </a:r>
            <a:r>
              <a:rPr lang="zh-CN" altLang="en-US">
                <a:latin typeface="汉仪粗仿宋简" panose="02010600000101010101" charset="-122"/>
                <a:ea typeface="汉仪粗仿宋简" panose="02010600000101010101" charset="-122"/>
              </a:rPr>
              <a:t>，这是首个针对</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系统的毒化文本追踪框架，用于识别知识数据库中导致攻击的毒化文本。通过迭代检索和专用提示引导</a:t>
            </a:r>
            <a:r>
              <a:rPr lang="en-US" altLang="zh-CN">
                <a:latin typeface="汉仪粗仿宋简" panose="02010600000101010101" charset="-122"/>
                <a:ea typeface="汉仪粗仿宋简" panose="02010600000101010101" charset="-122"/>
              </a:rPr>
              <a:t>LLM</a:t>
            </a:r>
            <a:r>
              <a:rPr lang="zh-CN" altLang="en-US">
                <a:latin typeface="汉仪粗仿宋简" panose="02010600000101010101" charset="-122"/>
                <a:ea typeface="汉仪粗仿宋简" panose="02010600000101010101" charset="-122"/>
              </a:rPr>
              <a:t>判断候选文本是否毒化，确保移除后</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不再产生错误输出。同时，区分非毒化反馈和毒化实例，并提出良性文本增强策略，提升非毒化场景下响应准确性。研究通过优化问题形式化追踪任务，解决梯度计算和计算开销挑战。在</a:t>
            </a:r>
            <a:r>
              <a:rPr lang="en-US" altLang="zh-CN">
                <a:latin typeface="汉仪粗仿宋简" panose="02010600000101010101" charset="-122"/>
                <a:ea typeface="汉仪粗仿宋简" panose="02010600000101010101" charset="-122"/>
              </a:rPr>
              <a:t>NQ</a:t>
            </a:r>
            <a:r>
              <a:rPr lang="zh-CN" altLang="en-US">
                <a:latin typeface="汉仪粗仿宋简" panose="02010600000101010101" charset="-122"/>
                <a:ea typeface="汉仪粗仿宋简" panose="02010600000101010101" charset="-122"/>
              </a:rPr>
              <a:t>、</a:t>
            </a:r>
            <a:r>
              <a:rPr lang="en-US" altLang="zh-CN">
                <a:latin typeface="汉仪粗仿宋简" panose="02010600000101010101" charset="-122"/>
                <a:ea typeface="汉仪粗仿宋简" panose="02010600000101010101" charset="-122"/>
              </a:rPr>
              <a:t>MS-MARCO</a:t>
            </a:r>
            <a:r>
              <a:rPr lang="zh-CN" altLang="en-US">
                <a:latin typeface="汉仪粗仿宋简" panose="02010600000101010101" charset="-122"/>
                <a:ea typeface="汉仪粗仿宋简" panose="02010600000101010101" charset="-122"/>
              </a:rPr>
              <a:t>和</a:t>
            </a:r>
            <a:r>
              <a:rPr lang="en-US" altLang="zh-CN">
                <a:latin typeface="汉仪粗仿宋简" panose="02010600000101010101" charset="-122"/>
                <a:ea typeface="汉仪粗仿宋简" panose="02010600000101010101" charset="-122"/>
              </a:rPr>
              <a:t>HotpotQA</a:t>
            </a:r>
            <a:r>
              <a:rPr lang="zh-CN" altLang="en-US">
                <a:latin typeface="汉仪粗仿宋简" panose="02010600000101010101" charset="-122"/>
                <a:ea typeface="汉仪粗仿宋简" panose="02010600000101010101" charset="-122"/>
              </a:rPr>
              <a:t>数据集上，对</a:t>
            </a:r>
            <a:r>
              <a:rPr lang="en-US" altLang="zh-CN">
                <a:latin typeface="汉仪粗仿宋简" panose="02010600000101010101" charset="-122"/>
                <a:ea typeface="汉仪粗仿宋简" panose="02010600000101010101" charset="-122"/>
              </a:rPr>
              <a:t>PoisonedRAG</a:t>
            </a:r>
            <a:r>
              <a:rPr lang="zh-CN" altLang="en-US">
                <a:latin typeface="汉仪粗仿宋简" panose="02010600000101010101" charset="-122"/>
                <a:ea typeface="汉仪粗仿宋简" panose="02010600000101010101" charset="-122"/>
              </a:rPr>
              <a:t>和</a:t>
            </a:r>
            <a:r>
              <a:rPr lang="en-US" altLang="zh-CN">
                <a:latin typeface="汉仪粗仿宋简" panose="02010600000101010101" charset="-122"/>
                <a:ea typeface="汉仪粗仿宋简" panose="02010600000101010101" charset="-122"/>
              </a:rPr>
              <a:t>InstruInject</a:t>
            </a:r>
            <a:r>
              <a:rPr lang="zh-CN" altLang="en-US">
                <a:latin typeface="汉仪粗仿宋简" panose="02010600000101010101" charset="-122"/>
                <a:ea typeface="汉仪粗仿宋简" panose="02010600000101010101" charset="-122"/>
              </a:rPr>
              <a:t>等攻击评估框架有效性。此外，设计两种自适应攻击测试鲁棒性，证明</a:t>
            </a:r>
            <a:r>
              <a:rPr lang="en-US" altLang="zh-CN">
                <a:latin typeface="汉仪粗仿宋简" panose="02010600000101010101" charset="-122"/>
                <a:ea typeface="汉仪粗仿宋简" panose="02010600000101010101" charset="-122"/>
              </a:rPr>
              <a:t>RAGForensics</a:t>
            </a:r>
            <a:r>
              <a:rPr lang="zh-CN" altLang="en-US">
                <a:latin typeface="汉仪粗仿宋简" panose="02010600000101010101" charset="-122"/>
                <a:ea typeface="汉仪粗仿宋简" panose="02010600000101010101" charset="-122"/>
              </a:rPr>
              <a:t>在黑白盒设置下均表现优异。该工作开创</a:t>
            </a:r>
            <a:r>
              <a:rPr lang="en-US" altLang="zh-CN">
                <a:latin typeface="汉仪粗仿宋简" panose="02010600000101010101" charset="-122"/>
                <a:ea typeface="汉仪粗仿宋简" panose="02010600000101010101" charset="-122"/>
              </a:rPr>
              <a:t>RAG</a:t>
            </a:r>
            <a:r>
              <a:rPr lang="zh-CN" altLang="en-US">
                <a:latin typeface="汉仪粗仿宋简" panose="02010600000101010101" charset="-122"/>
                <a:ea typeface="汉仪粗仿宋简" panose="02010600000101010101" charset="-122"/>
              </a:rPr>
              <a:t>毒化取证先河，提供实用防御机制，增强系统安全性。</a:t>
            </a:r>
            <a:endParaRPr lang="zh-CN" altLang="en-US">
              <a:latin typeface="汉仪粗仿宋简" panose="02010600000101010101" charset="-122"/>
              <a:ea typeface="汉仪粗仿宋简" panose="0201060000010101010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endParaRPr lang="en-US" altLang="zh-CN" sz="2000" dirty="0">
              <a:solidFill>
                <a:schemeClr val="bg2"/>
              </a:solidFill>
              <a:latin typeface="Chaparral Pro Light" panose="02060403030505090203" charset="0"/>
              <a:cs typeface="Chaparral Pro Light" panose="02060403030505090203" charset="0"/>
            </a:endParaRPr>
          </a:p>
        </p:txBody>
      </p:sp>
      <p:pic>
        <p:nvPicPr>
          <p:cNvPr id="7" name="图片 6"/>
          <p:cNvPicPr>
            <a:picLocks noChangeAspect="1"/>
          </p:cNvPicPr>
          <p:nvPr/>
        </p:nvPicPr>
        <p:blipFill>
          <a:blip r:embed="rId2"/>
          <a:stretch>
            <a:fillRect/>
          </a:stretch>
        </p:blipFill>
        <p:spPr>
          <a:xfrm>
            <a:off x="1753235" y="1946275"/>
            <a:ext cx="8159750" cy="2710180"/>
          </a:xfrm>
          <a:prstGeom prst="rect">
            <a:avLst/>
          </a:prstGeom>
        </p:spPr>
      </p:pic>
      <p:sp>
        <p:nvSpPr>
          <p:cNvPr id="8" name="文本框 7"/>
          <p:cNvSpPr txBox="1"/>
          <p:nvPr/>
        </p:nvSpPr>
        <p:spPr>
          <a:xfrm>
            <a:off x="280035" y="5090160"/>
            <a:ext cx="11106785" cy="922020"/>
          </a:xfrm>
          <a:prstGeom prst="rect">
            <a:avLst/>
          </a:prstGeom>
          <a:noFill/>
        </p:spPr>
        <p:txBody>
          <a:bodyPr wrap="square" rtlCol="0">
            <a:spAutoFit/>
          </a:bodyPr>
          <a:p>
            <a:r>
              <a:rPr lang="en-US" altLang="zh-CN">
                <a:latin typeface="汉仪粗仿宋简" panose="02010600000101010101" charset="-122"/>
                <a:ea typeface="汉仪粗仿宋简" panose="02010600000101010101" charset="-122"/>
                <a:cs typeface="汉仪粗仿宋简" panose="02010600000101010101" charset="-122"/>
              </a:rPr>
              <a:t>a</a:t>
            </a:r>
            <a:r>
              <a:rPr lang="zh-CN" altLang="en-US">
                <a:latin typeface="汉仪粗仿宋简" panose="02010600000101010101" charset="-122"/>
                <a:ea typeface="汉仪粗仿宋简" panose="02010600000101010101" charset="-122"/>
                <a:cs typeface="汉仪粗仿宋简" panose="02010600000101010101" charset="-122"/>
              </a:rPr>
              <a:t>模拟中毒的攻击，</a:t>
            </a:r>
            <a:r>
              <a:rPr lang="en-US" altLang="zh-CN">
                <a:latin typeface="汉仪粗仿宋简" panose="02010600000101010101" charset="-122"/>
                <a:ea typeface="汉仪粗仿宋简" panose="02010600000101010101" charset="-122"/>
                <a:cs typeface="汉仪粗仿宋简" panose="02010600000101010101" charset="-122"/>
              </a:rPr>
              <a:t>b</a:t>
            </a:r>
            <a:r>
              <a:rPr lang="zh-CN" altLang="en-US">
                <a:latin typeface="汉仪粗仿宋简" panose="02010600000101010101" charset="-122"/>
                <a:ea typeface="汉仪粗仿宋简" panose="02010600000101010101" charset="-122"/>
                <a:cs typeface="汉仪粗仿宋简" panose="02010600000101010101" charset="-122"/>
              </a:rPr>
              <a:t>中当用户提供一个与目标查询相似的查询时生成了错误的答案，</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提供商可以设置一个反馈按钮，用户将错误的答案进行反馈，此反馈报告被发送给追踪系统，</a:t>
            </a:r>
            <a:r>
              <a:rPr lang="en-US" altLang="zh-CN">
                <a:latin typeface="汉仪粗仿宋简" panose="02010600000101010101" charset="-122"/>
                <a:ea typeface="汉仪粗仿宋简" panose="02010600000101010101" charset="-122"/>
                <a:cs typeface="汉仪粗仿宋简" panose="02010600000101010101" charset="-122"/>
              </a:rPr>
              <a:t>c</a:t>
            </a:r>
            <a:r>
              <a:rPr lang="zh-CN" altLang="en-US">
                <a:latin typeface="汉仪粗仿宋简" panose="02010600000101010101" charset="-122"/>
                <a:ea typeface="汉仪粗仿宋简" panose="02010600000101010101" charset="-122"/>
                <a:cs typeface="汉仪粗仿宋简" panose="02010600000101010101" charset="-122"/>
              </a:rPr>
              <a:t>根据用户反馈的报告识别数据库中负责此不正确回答的中毒文本</a:t>
            </a:r>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11" name="文本框 10" descr="7b0a202020202262756c6c6574223a20227b5c2263617465676f727949645c223a5c225c222c5c2274656d706c61746549645c223a32303233313634317d220a7d0a"/>
          <p:cNvSpPr txBox="1"/>
          <p:nvPr/>
        </p:nvSpPr>
        <p:spPr>
          <a:xfrm>
            <a:off x="111125" y="789305"/>
            <a:ext cx="1505585" cy="368300"/>
          </a:xfrm>
          <a:prstGeom prst="rect">
            <a:avLst/>
          </a:prstGeom>
          <a:noFill/>
        </p:spPr>
        <p:txBody>
          <a:bodyPr wrap="square" rtlCol="0">
            <a:spAutoFit/>
          </a:bodyPr>
          <a:p>
            <a:pPr>
              <a:buBlip>
                <a:blip r:embed="rId3">
                  <a:extLst>
                    <a:ext uri="{96DAC541-7B7A-43D3-8B79-37D633B846F1}">
                      <asvg:svgBlip xmlns:asvg="http://schemas.microsoft.com/office/drawing/2016/SVG/main" r:embed="rId4"/>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总体</a:t>
            </a:r>
            <a:r>
              <a:rPr lang="zh-CN" altLang="en-US" b="1">
                <a:latin typeface="汉仪粗仿宋简" panose="02010600000101010101" charset="-122"/>
                <a:ea typeface="汉仪粗仿宋简" panose="02010600000101010101" charset="-122"/>
              </a:rPr>
              <a:t>流程</a:t>
            </a:r>
            <a:endParaRPr lang="zh-CN" altLang="en-US" b="1">
              <a:latin typeface="汉仪粗仿宋简" panose="02010600000101010101" charset="-122"/>
              <a:ea typeface="汉仪粗仿宋简" panose="02010600000101010101"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3441065" y="28575"/>
            <a:ext cx="8836025" cy="545465"/>
          </a:xfrm>
          <a:prstGeom prst="rect">
            <a:avLst/>
          </a:prstGeom>
          <a:noFill/>
        </p:spPr>
        <p:txBody>
          <a:bodyPr wrap="square" rtlCol="0">
            <a:noAutofit/>
          </a:bodyPr>
          <a:lstStyle/>
          <a:p>
            <a:endParaRPr lang="en-US" altLang="zh-CN" sz="2000" dirty="0">
              <a:solidFill>
                <a:schemeClr val="bg2"/>
              </a:solidFill>
              <a:latin typeface="Chaparral Pro Light" panose="02060403030505090203" charset="0"/>
              <a:cs typeface="Chaparral Pro Light" panose="02060403030505090203" charset="0"/>
            </a:endParaRPr>
          </a:p>
        </p:txBody>
      </p:sp>
      <p:sp>
        <p:nvSpPr>
          <p:cNvPr id="9" name="矩形 8" descr="7b0a202020202262756c6c6574223a20227b5c2263617465676f727949645c223a5c225c222c5c2274656d706c61746549645c223a32303233313638327d220a7d0a"/>
          <p:cNvSpPr/>
          <p:nvPr/>
        </p:nvSpPr>
        <p:spPr>
          <a:xfrm>
            <a:off x="97790" y="843280"/>
            <a:ext cx="11903075" cy="5952490"/>
          </a:xfrm>
          <a:prstGeom prst="rect">
            <a:avLst/>
          </a:prstGeom>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mn-ea"/>
              </a:rPr>
              <a:t> </a:t>
            </a: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威胁模型</a:t>
            </a:r>
            <a:endPar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攻击者：假设攻击者完全了解数据库中的文本，并直接访问检索器和</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LLM</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的参数，允许她们直接查询这些组件。</a:t>
            </a: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追溯系统：我们假设追溯系统的服务提供商就是</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的拥有者，追溯系统被授予对知识数据库中所有文本的访问权，对于检索器和</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LLM</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，我们考虑</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RAG</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所有者使用闭源检索器和</a:t>
            </a:r>
            <a:r>
              <a:rPr kumimoji="0" lang="en-US" altLang="zh-CN"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LLM</a:t>
            </a:r>
            <a:r>
              <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的实际场景，因此追踪系统无法访问它们的内部参数，但是可以直接查询。假设追溯系统已经收集了一组用户查询及其报告</a:t>
            </a: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kumimoji="0" lang="zh-CN" altLang="en-US" sz="1800"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Blip>
                <a:blip r:embed="rId2">
                  <a:extLst>
                    <a:ext uri="{96DAC541-7B7A-43D3-8B79-37D633B846F1}">
                      <asvg:svgBlip xmlns:asvg="http://schemas.microsoft.com/office/drawing/2016/SVG/main" r:embed="rId3"/>
                    </a:ext>
                  </a:extLst>
                </a:blip>
              </a:buBlip>
              <a:defRPr/>
            </a:pPr>
            <a:r>
              <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rPr>
              <a:t>设计挑战</a:t>
            </a:r>
            <a:endParaRPr kumimoji="0" lang="zh-CN" altLang="en-US" sz="1800" b="1" i="0" u="none" strike="noStrike" kern="1200" cap="none" spc="0" normalizeH="0" baseline="0" noProof="0" dirty="0">
              <a:ln>
                <a:noFill/>
              </a:ln>
              <a:solidFill>
                <a:prstClr val="black"/>
              </a:solidFill>
              <a:effectLst/>
              <a:uLnTx/>
              <a:uFillTx/>
              <a:latin typeface="汉仪粗仿宋简" panose="02010600000101010101" charset="-122"/>
              <a:ea typeface="汉仪粗仿宋简" panose="02010600000101010101" charset="-122"/>
              <a:cs typeface="Times New Roman" panose="02020603050405020304" pitchFamily="18" charset="0"/>
              <a:sym typeface="+mn-ea"/>
            </a:endParaRPr>
          </a:p>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lang="en-US" altLang="zh-CN" b="1" noProof="0" dirty="0">
                <a:ln>
                  <a:noFill/>
                </a:ln>
                <a:solidFill>
                  <a:prstClr val="black"/>
                </a:solidFill>
                <a:effectLst/>
                <a:highlight>
                  <a:srgbClr val="FFFFFF"/>
                </a:highlight>
                <a:uLnTx/>
                <a:uFillTx/>
                <a:latin typeface="微软雅黑" panose="020B0503020204020204" charset="-122"/>
                <a:ea typeface="微软雅黑" panose="020B0503020204020204" charset="-122"/>
                <a:cs typeface="Times New Roman" panose="02020603050405020304" pitchFamily="18" charset="0"/>
                <a:sym typeface="+mn-ea"/>
              </a:rPr>
              <a:t> </a:t>
            </a:r>
            <a:endParaRPr kumimoji="0" lang="zh-CN" altLang="en-US" b="1" i="0" u="none" strike="noStrike" kern="1200" cap="none" spc="0" normalizeH="0" baseline="0" noProof="0" dirty="0">
              <a:ln>
                <a:noFill/>
              </a:ln>
              <a:solidFill>
                <a:prstClr val="black"/>
              </a:solidFill>
              <a:effectLst/>
              <a:highlight>
                <a:srgbClr val="FFFFFF"/>
              </a:highligh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endParaRPr lang="zh-CN" altLang="en-US" b="0" i="0" dirty="0">
              <a:solidFill>
                <a:schemeClr val="tx1"/>
              </a:solidFill>
              <a:effectLst/>
              <a:highlight>
                <a:srgbClr val="FFFFFF"/>
              </a:highlight>
              <a:latin typeface="汉仪粗仿宋简" panose="02010600000101010101" charset="-122"/>
              <a:ea typeface="汉仪粗仿宋简" panose="02010600000101010101" charset="-122"/>
              <a:cs typeface="汉仪粗仿宋简" panose="02010600000101010101" charset="-122"/>
            </a:endParaRPr>
          </a:p>
        </p:txBody>
      </p:sp>
      <p:pic>
        <p:nvPicPr>
          <p:cNvPr id="7" name="图片 6"/>
          <p:cNvPicPr>
            <a:picLocks noChangeAspect="1"/>
          </p:cNvPicPr>
          <p:nvPr/>
        </p:nvPicPr>
        <p:blipFill>
          <a:blip r:embed="rId4"/>
          <a:stretch>
            <a:fillRect/>
          </a:stretch>
        </p:blipFill>
        <p:spPr>
          <a:xfrm>
            <a:off x="2854325" y="3528060"/>
            <a:ext cx="6389370" cy="1782445"/>
          </a:xfrm>
          <a:prstGeom prst="rect">
            <a:avLst/>
          </a:prstGeom>
        </p:spPr>
      </p:pic>
      <p:sp>
        <p:nvSpPr>
          <p:cNvPr id="11" name="文本框 10"/>
          <p:cNvSpPr txBox="1"/>
          <p:nvPr/>
        </p:nvSpPr>
        <p:spPr>
          <a:xfrm>
            <a:off x="134620" y="5400040"/>
            <a:ext cx="11736705" cy="1309370"/>
          </a:xfrm>
          <a:prstGeom prst="rect">
            <a:avLst/>
          </a:prstGeom>
          <a:noFill/>
        </p:spPr>
        <p:txBody>
          <a:bodyPr wrap="square" rtlCol="0">
            <a:spAutoFit/>
          </a:bodyPr>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识别中毒文本的关键挑战就在于解决上述公式中的优化问题，解决方法为使用目标函数的梯度迭代更新</a:t>
            </a:r>
            <a:r>
              <a:rPr lang="en-US" altLang="zh-CN">
                <a:latin typeface="汉仪粗仿宋简" panose="02010600000101010101" charset="-122"/>
                <a:ea typeface="汉仪粗仿宋简" panose="02010600000101010101" charset="-122"/>
                <a:cs typeface="汉仪粗仿宋简" panose="02010600000101010101" charset="-122"/>
              </a:rPr>
              <a:t>D</a:t>
            </a:r>
            <a:r>
              <a:rPr lang="en-US" altLang="zh-CN" baseline="-25000">
                <a:latin typeface="汉仪粗仿宋简" panose="02010600000101010101" charset="-122"/>
                <a:ea typeface="汉仪粗仿宋简" panose="02010600000101010101" charset="-122"/>
                <a:cs typeface="汉仪粗仿宋简" panose="02010600000101010101" charset="-122"/>
              </a:rPr>
              <a:t>p</a:t>
            </a:r>
            <a:r>
              <a:rPr lang="zh-CN" altLang="en-US">
                <a:latin typeface="汉仪粗仿宋简" panose="02010600000101010101" charset="-122"/>
                <a:ea typeface="汉仪粗仿宋简" panose="02010600000101010101" charset="-122"/>
                <a:cs typeface="汉仪粗仿宋简" panose="02010600000101010101" charset="-122"/>
              </a:rPr>
              <a:t>，但在我们设计的威胁模型下是不可行的，原因有两个，一是因为无法访问检索器和</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的参数，</a:t>
            </a:r>
            <a:r>
              <a:rPr lang="en-US" altLang="zh-CN">
                <a:latin typeface="汉仪粗仿宋简" panose="02010600000101010101" charset="-122"/>
                <a:ea typeface="汉仪粗仿宋简" panose="02010600000101010101" charset="-122"/>
                <a:cs typeface="汉仪粗仿宋简" panose="02010600000101010101" charset="-122"/>
              </a:rPr>
              <a:t>2</a:t>
            </a:r>
            <a:r>
              <a:rPr lang="zh-CN" altLang="en-US">
                <a:latin typeface="汉仪粗仿宋简" panose="02010600000101010101" charset="-122"/>
                <a:ea typeface="汉仪粗仿宋简" panose="02010600000101010101" charset="-122"/>
                <a:cs typeface="汉仪粗仿宋简" panose="02010600000101010101" charset="-122"/>
              </a:rPr>
              <a:t>是</a:t>
            </a:r>
            <a:r>
              <a:rPr lang="en-US" altLang="zh-CN">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为离散函数，使得基于梯度优化的方法不可行。第二点是更新知识数据库时，需要计算知识库</a:t>
            </a:r>
            <a:r>
              <a:rPr lang="en-US" altLang="zh-CN">
                <a:latin typeface="汉仪粗仿宋简" panose="02010600000101010101" charset="-122"/>
                <a:ea typeface="汉仪粗仿宋简" panose="02010600000101010101" charset="-122"/>
                <a:cs typeface="汉仪粗仿宋简" panose="02010600000101010101" charset="-122"/>
              </a:rPr>
              <a:t>D</a:t>
            </a:r>
            <a:r>
              <a:rPr lang="zh-CN" altLang="en-US">
                <a:latin typeface="汉仪粗仿宋简" panose="02010600000101010101" charset="-122"/>
                <a:ea typeface="汉仪粗仿宋简" panose="02010600000101010101" charset="-122"/>
                <a:cs typeface="汉仪粗仿宋简" panose="02010600000101010101" charset="-122"/>
              </a:rPr>
              <a:t>中的每个文本的梯度，引入了更大的计算成本</a:t>
            </a:r>
            <a:endParaRPr lang="zh-CN" altLang="en-US">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7099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endParaRPr lang="zh-CN" altLang="en-US" b="1">
              <a:latin typeface="汉仪粗仿宋简" panose="02010600000101010101" charset="-122"/>
              <a:ea typeface="汉仪粗仿宋简" panose="02010600000101010101" charset="-122"/>
            </a:endParaRPr>
          </a:p>
        </p:txBody>
      </p:sp>
      <p:sp>
        <p:nvSpPr>
          <p:cNvPr id="6" name="文本框 5"/>
          <p:cNvSpPr txBox="1"/>
          <p:nvPr/>
        </p:nvSpPr>
        <p:spPr>
          <a:xfrm>
            <a:off x="111125" y="1263015"/>
            <a:ext cx="11925300" cy="1751965"/>
          </a:xfrm>
          <a:prstGeom prst="rect">
            <a:avLst/>
          </a:prstGeom>
          <a:noFill/>
        </p:spPr>
        <p:txBody>
          <a:bodyPr wrap="square" rtlCol="0">
            <a:spAutoFit/>
          </a:bodyPr>
          <a:p>
            <a:pPr>
              <a:lnSpc>
                <a:spcPct val="120000"/>
              </a:lnSpc>
            </a:pPr>
            <a:r>
              <a:rPr lang="zh-CN" altLang="en-US">
                <a:latin typeface="汉仪粗仿宋简" panose="02010600000101010101" charset="-122"/>
                <a:ea typeface="汉仪粗仿宋简" panose="02010600000101010101" charset="-122"/>
                <a:cs typeface="汉仪粗仿宋简" panose="02010600000101010101" charset="-122"/>
              </a:rPr>
              <a:t>为了解决关键挑战，</a:t>
            </a:r>
            <a:r>
              <a:rPr lang="en-US" altLang="zh-CN">
                <a:latin typeface="汉仪粗仿宋简" panose="02010600000101010101" charset="-122"/>
                <a:ea typeface="汉仪粗仿宋简" panose="02010600000101010101" charset="-122"/>
                <a:cs typeface="汉仪粗仿宋简" panose="02010600000101010101" charset="-122"/>
              </a:rPr>
              <a:t>RAGForensics</a:t>
            </a:r>
            <a:r>
              <a:rPr lang="zh-CN" altLang="en-US">
                <a:latin typeface="汉仪粗仿宋简" panose="02010600000101010101" charset="-122"/>
                <a:ea typeface="汉仪粗仿宋简" panose="02010600000101010101" charset="-122"/>
                <a:cs typeface="汉仪粗仿宋简" panose="02010600000101010101" charset="-122"/>
              </a:rPr>
              <a:t>通过迭代检索和识别每个用户查询来查找中毒文本，对于每个查询，</a:t>
            </a:r>
            <a:r>
              <a:rPr lang="en-US" altLang="zh-CN">
                <a:latin typeface="汉仪粗仿宋简" panose="02010600000101010101" charset="-122"/>
                <a:ea typeface="汉仪粗仿宋简" panose="02010600000101010101" charset="-122"/>
                <a:cs typeface="汉仪粗仿宋简" panose="02010600000101010101" charset="-122"/>
              </a:rPr>
              <a:t>RAGForensics</a:t>
            </a:r>
            <a:r>
              <a:rPr lang="zh-CN" altLang="en-US">
                <a:latin typeface="汉仪粗仿宋简" panose="02010600000101010101" charset="-122"/>
                <a:ea typeface="汉仪粗仿宋简" panose="02010600000101010101" charset="-122"/>
                <a:cs typeface="汉仪粗仿宋简" panose="02010600000101010101" charset="-122"/>
              </a:rPr>
              <a:t>检索对错误输出负责的中毒文本，一旦前</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个文本没有中毒文本，这个过程就会停止。</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20000"/>
              </a:lnSpc>
            </a:pPr>
            <a:r>
              <a:rPr lang="zh-CN" altLang="en-US">
                <a:latin typeface="汉仪粗仿宋简" panose="02010600000101010101" charset="-122"/>
                <a:ea typeface="汉仪粗仿宋简" panose="02010600000101010101" charset="-122"/>
                <a:cs typeface="汉仪粗仿宋简" panose="02010600000101010101" charset="-122"/>
              </a:rPr>
              <a:t>由于追溯系统缺乏用来注入中毒文本的攻击者的策略，我们假设最坏的情况：中毒文本随机分布在整个知识数据库。最直接的办法就是搜索整个知识数据库</a:t>
            </a:r>
            <a:r>
              <a:rPr lang="en-US" altLang="zh-CN">
                <a:latin typeface="汉仪粗仿宋简" panose="02010600000101010101" charset="-122"/>
                <a:ea typeface="汉仪粗仿宋简" panose="02010600000101010101" charset="-122"/>
                <a:cs typeface="汉仪粗仿宋简" panose="02010600000101010101" charset="-122"/>
              </a:rPr>
              <a:t>D</a:t>
            </a:r>
            <a:r>
              <a:rPr lang="zh-CN" altLang="en-US">
                <a:latin typeface="汉仪粗仿宋简" panose="02010600000101010101" charset="-122"/>
                <a:ea typeface="汉仪粗仿宋简" panose="02010600000101010101" charset="-122"/>
                <a:cs typeface="汉仪粗仿宋简" panose="02010600000101010101" charset="-122"/>
              </a:rPr>
              <a:t>找到产生错误答案</a:t>
            </a:r>
            <a:r>
              <a:rPr lang="en-US" altLang="zh-CN">
                <a:latin typeface="汉仪粗仿宋简" panose="02010600000101010101" charset="-122"/>
                <a:ea typeface="汉仪粗仿宋简" panose="02010600000101010101" charset="-122"/>
                <a:cs typeface="汉仪粗仿宋简" panose="02010600000101010101" charset="-122"/>
              </a:rPr>
              <a:t>t</a:t>
            </a:r>
            <a:r>
              <a:rPr lang="en-US" altLang="zh-CN" baseline="-25000">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的中毒文本，但这样会造成巨大的计算成本并且容易产生误报。所以我们的解决办法是设计迭代的方法有效地定位和识别有毒文本，同时降低误报率。</a:t>
            </a:r>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8" name="文本框 7"/>
          <p:cNvSpPr txBox="1"/>
          <p:nvPr/>
        </p:nvSpPr>
        <p:spPr>
          <a:xfrm>
            <a:off x="183515" y="3465830"/>
            <a:ext cx="11852910" cy="1724660"/>
          </a:xfrm>
          <a:prstGeom prst="rect">
            <a:avLst/>
          </a:prstGeom>
          <a:noFill/>
        </p:spPr>
        <p:txBody>
          <a:bodyPr wrap="square" rtlCol="0">
            <a:noAutofit/>
          </a:bodyPr>
          <a:p>
            <a:pPr>
              <a:lnSpc>
                <a:spcPct val="120000"/>
              </a:lnSpc>
            </a:pPr>
            <a:r>
              <a:rPr lang="zh-CN" altLang="en-US">
                <a:latin typeface="汉仪粗仿宋简" panose="02010600000101010101" charset="-122"/>
                <a:ea typeface="汉仪粗仿宋简" panose="02010600000101010101" charset="-122"/>
                <a:cs typeface="汉仪粗仿宋简" panose="02010600000101010101" charset="-122"/>
              </a:rPr>
              <a:t>然而由于自然语言固有的复杂性，设计一个精确识别的确定性函数是困难的。我们的解决办法是使用一个</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用来分来，使用常见的</a:t>
            </a:r>
            <a:r>
              <a:rPr lang="en-US" altLang="zh-CN">
                <a:latin typeface="汉仪粗仿宋简" panose="02010600000101010101" charset="-122"/>
                <a:ea typeface="汉仪粗仿宋简" panose="02010600000101010101" charset="-122"/>
                <a:cs typeface="汉仪粗仿宋简" panose="02010600000101010101" charset="-122"/>
              </a:rPr>
              <a:t>NLP</a:t>
            </a:r>
            <a:r>
              <a:rPr lang="zh-CN" altLang="en-US">
                <a:latin typeface="汉仪粗仿宋简" panose="02010600000101010101" charset="-122"/>
                <a:ea typeface="汉仪粗仿宋简" panose="02010600000101010101" charset="-122"/>
                <a:cs typeface="汉仪粗仿宋简" panose="02010600000101010101" charset="-122"/>
              </a:rPr>
              <a:t>方法，但也有两个关键挑战。</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2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虽然</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有极强的文本理解能力，但它们需要明确的指令来评估文本是否中毒；</a:t>
            </a:r>
            <a:endParaRPr lang="zh-CN" altLang="en-US">
              <a:latin typeface="汉仪粗仿宋简" panose="02010600000101010101" charset="-122"/>
              <a:ea typeface="汉仪粗仿宋简" panose="02010600000101010101" charset="-122"/>
              <a:cs typeface="汉仪粗仿宋简" panose="02010600000101010101" charset="-122"/>
            </a:endParaRPr>
          </a:p>
          <a:p>
            <a:pPr marL="342900" indent="-342900">
              <a:lnSpc>
                <a:spcPct val="120000"/>
              </a:lnSpc>
              <a:buAutoNum type="arabicPeriod"/>
            </a:pPr>
            <a:r>
              <a:rPr lang="zh-CN" altLang="en-US">
                <a:latin typeface="汉仪粗仿宋简" panose="02010600000101010101" charset="-122"/>
                <a:ea typeface="汉仪粗仿宋简" panose="02010600000101010101" charset="-122"/>
                <a:cs typeface="汉仪粗仿宋简" panose="02010600000101010101" charset="-122"/>
              </a:rPr>
              <a:t>由于不正确的输出通常是事实不正确或有害的，因此现代安全对齐的</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可能会在遇到中毒文本时激活安全机制，干扰分类过程。</a:t>
            </a:r>
            <a:endParaRPr lang="zh-CN" altLang="en-US">
              <a:latin typeface="汉仪粗仿宋简" panose="02010600000101010101" charset="-122"/>
              <a:ea typeface="汉仪粗仿宋简" panose="02010600000101010101" charset="-122"/>
              <a:cs typeface="汉仪粗仿宋简" panose="02010600000101010101" charset="-122"/>
            </a:endParaRPr>
          </a:p>
        </p:txBody>
      </p:sp>
      <p:sp>
        <p:nvSpPr>
          <p:cNvPr id="14" name="圆角矩形 13"/>
          <p:cNvSpPr/>
          <p:nvPr/>
        </p:nvSpPr>
        <p:spPr>
          <a:xfrm>
            <a:off x="183515" y="5554980"/>
            <a:ext cx="11687810" cy="11531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377190" y="5680710"/>
            <a:ext cx="11280775" cy="922020"/>
          </a:xfrm>
          <a:prstGeom prst="rect">
            <a:avLst/>
          </a:prstGeom>
          <a:noFill/>
        </p:spPr>
        <p:txBody>
          <a:bodyPr wrap="square" rtlCol="0">
            <a:spAutoFit/>
          </a:bodyPr>
          <a:p>
            <a:r>
              <a:rPr lang="zh-CN" altLang="en-US">
                <a:solidFill>
                  <a:schemeClr val="bg1"/>
                </a:solidFill>
                <a:latin typeface="汉仪粗仿宋简" panose="02010600000101010101" charset="-122"/>
                <a:ea typeface="汉仪粗仿宋简" panose="02010600000101010101" charset="-122"/>
                <a:cs typeface="汉仪粗仿宋简" panose="02010600000101010101" charset="-122"/>
              </a:rPr>
              <a:t>现代的</a:t>
            </a:r>
            <a:r>
              <a:rPr lang="en-US" altLang="zh-CN">
                <a:solidFill>
                  <a:schemeClr val="bg1"/>
                </a:solidFill>
                <a:latin typeface="汉仪粗仿宋简" panose="02010600000101010101" charset="-122"/>
                <a:ea typeface="汉仪粗仿宋简" panose="02010600000101010101" charset="-122"/>
                <a:cs typeface="汉仪粗仿宋简" panose="02010600000101010101" charset="-122"/>
              </a:rPr>
              <a:t>LLM</a:t>
            </a:r>
            <a:r>
              <a:rPr lang="zh-CN" altLang="en-US">
                <a:solidFill>
                  <a:schemeClr val="bg1"/>
                </a:solidFill>
                <a:latin typeface="汉仪粗仿宋简" panose="02010600000101010101" charset="-122"/>
                <a:ea typeface="汉仪粗仿宋简" panose="02010600000101010101" charset="-122"/>
                <a:cs typeface="汉仪粗仿宋简" panose="02010600000101010101" charset="-122"/>
              </a:rPr>
              <a:t>都经历过特殊的训练，目的是减少或避免生成有害、虚假、偏见或不适当的内容，这就叫做安全对齐，即在面对敏感或有害的话题时会激活内嵌的安全机制，这就会导致在面对判断</a:t>
            </a:r>
            <a:r>
              <a:rPr lang="en-US" altLang="zh-CN">
                <a:solidFill>
                  <a:schemeClr val="bg1"/>
                </a:solidFill>
                <a:latin typeface="汉仪粗仿宋简" panose="02010600000101010101" charset="-122"/>
                <a:ea typeface="汉仪粗仿宋简" panose="02010600000101010101" charset="-122"/>
                <a:cs typeface="汉仪粗仿宋简" panose="02010600000101010101" charset="-122"/>
              </a:rPr>
              <a:t>C</a:t>
            </a:r>
            <a:r>
              <a:rPr lang="en-US" altLang="zh-CN" baseline="-25000">
                <a:solidFill>
                  <a:schemeClr val="bg1"/>
                </a:solidFill>
                <a:latin typeface="汉仪粗仿宋简" panose="02010600000101010101" charset="-122"/>
                <a:ea typeface="汉仪粗仿宋简" panose="02010600000101010101" charset="-122"/>
                <a:cs typeface="汉仪粗仿宋简" panose="02010600000101010101" charset="-122"/>
              </a:rPr>
              <a:t>j</a:t>
            </a:r>
            <a:r>
              <a:rPr lang="zh-CN" altLang="en-US">
                <a:solidFill>
                  <a:schemeClr val="bg1"/>
                </a:solidFill>
                <a:latin typeface="汉仪粗仿宋简" panose="02010600000101010101" charset="-122"/>
                <a:ea typeface="汉仪粗仿宋简" panose="02010600000101010101" charset="-122"/>
                <a:cs typeface="汉仪粗仿宋简" panose="02010600000101010101" charset="-122"/>
              </a:rPr>
              <a:t>是否中毒时，如果</a:t>
            </a:r>
            <a:r>
              <a:rPr lang="en-US" altLang="zh-CN">
                <a:solidFill>
                  <a:schemeClr val="bg1"/>
                </a:solidFill>
                <a:latin typeface="汉仪粗仿宋简" panose="02010600000101010101" charset="-122"/>
                <a:ea typeface="汉仪粗仿宋简" panose="02010600000101010101" charset="-122"/>
                <a:cs typeface="汉仪粗仿宋简" panose="02010600000101010101" charset="-122"/>
              </a:rPr>
              <a:t>t</a:t>
            </a:r>
            <a:r>
              <a:rPr lang="en-US" altLang="zh-CN" baseline="-25000">
                <a:solidFill>
                  <a:schemeClr val="bg1"/>
                </a:solidFill>
                <a:latin typeface="汉仪粗仿宋简" panose="02010600000101010101" charset="-122"/>
                <a:ea typeface="汉仪粗仿宋简" panose="02010600000101010101" charset="-122"/>
                <a:cs typeface="汉仪粗仿宋简" panose="02010600000101010101" charset="-122"/>
              </a:rPr>
              <a:t>i</a:t>
            </a:r>
            <a:r>
              <a:rPr lang="zh-CN" altLang="en-US">
                <a:solidFill>
                  <a:schemeClr val="bg1"/>
                </a:solidFill>
                <a:latin typeface="汉仪粗仿宋简" panose="02010600000101010101" charset="-122"/>
                <a:ea typeface="汉仪粗仿宋简" panose="02010600000101010101" charset="-122"/>
                <a:cs typeface="汉仪粗仿宋简" panose="02010600000101010101" charset="-122"/>
              </a:rPr>
              <a:t>有害，</a:t>
            </a:r>
            <a:r>
              <a:rPr lang="en-US" altLang="zh-CN">
                <a:solidFill>
                  <a:schemeClr val="bg1"/>
                </a:solidFill>
                <a:latin typeface="汉仪粗仿宋简" panose="02010600000101010101" charset="-122"/>
                <a:ea typeface="汉仪粗仿宋简" panose="02010600000101010101" charset="-122"/>
                <a:cs typeface="汉仪粗仿宋简" panose="02010600000101010101" charset="-122"/>
              </a:rPr>
              <a:t>LLM</a:t>
            </a:r>
            <a:r>
              <a:rPr lang="zh-CN" altLang="en-US">
                <a:solidFill>
                  <a:schemeClr val="bg1"/>
                </a:solidFill>
                <a:latin typeface="汉仪粗仿宋简" panose="02010600000101010101" charset="-122"/>
                <a:ea typeface="汉仪粗仿宋简" panose="02010600000101010101" charset="-122"/>
                <a:cs typeface="汉仪粗仿宋简" panose="02010600000101010101" charset="-122"/>
              </a:rPr>
              <a:t>的安全机制会直接拒绝处理整个输入，导致判断不准确。</a:t>
            </a:r>
            <a:endParaRPr lang="zh-CN" altLang="en-US">
              <a:solidFill>
                <a:schemeClr val="bg1"/>
              </a:solidFill>
              <a:latin typeface="汉仪粗仿宋简" panose="02010600000101010101" charset="-122"/>
              <a:ea typeface="汉仪粗仿宋简" panose="02010600000101010101" charset="-122"/>
              <a:cs typeface="汉仪粗仿宋简" panose="02010600000101010101"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513905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endParaRPr lang="zh-CN" altLang="en-US" b="1">
              <a:latin typeface="汉仪粗仿宋简" panose="02010600000101010101" charset="-122"/>
              <a:ea typeface="汉仪粗仿宋简" panose="02010600000101010101" charset="-122"/>
            </a:endParaRPr>
          </a:p>
        </p:txBody>
      </p:sp>
      <p:sp>
        <p:nvSpPr>
          <p:cNvPr id="6" name="文本框 5"/>
          <p:cNvSpPr txBox="1"/>
          <p:nvPr/>
        </p:nvSpPr>
        <p:spPr>
          <a:xfrm>
            <a:off x="8557895" y="2993390"/>
            <a:ext cx="3526155" cy="1433830"/>
          </a:xfrm>
          <a:prstGeom prst="rect">
            <a:avLst/>
          </a:prstGeom>
          <a:noFill/>
        </p:spPr>
        <p:txBody>
          <a:bodyPr wrap="square" rtlCol="0">
            <a:noAutofit/>
          </a:bodyPr>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为了解决上述安全对齐引起的分类不准确问题，我们设计了一个结构化的提示，以知道</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确定</a:t>
            </a:r>
            <a:r>
              <a:rPr lang="en-US" altLang="zh-CN">
                <a:latin typeface="汉仪粗仿宋简" panose="02010600000101010101" charset="-122"/>
                <a:ea typeface="汉仪粗仿宋简" panose="02010600000101010101" charset="-122"/>
                <a:cs typeface="汉仪粗仿宋简" panose="02010600000101010101" charset="-122"/>
              </a:rPr>
              <a:t>C</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zh-CN" altLang="en-US">
                <a:latin typeface="汉仪粗仿宋简" panose="02010600000101010101" charset="-122"/>
                <a:ea typeface="汉仪粗仿宋简" panose="02010600000101010101" charset="-122"/>
                <a:cs typeface="汉仪粗仿宋简" panose="02010600000101010101" charset="-122"/>
              </a:rPr>
              <a:t>是否是引起错误输出的中毒文本。</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9" name="图片 8"/>
          <p:cNvPicPr>
            <a:picLocks noChangeAspect="1"/>
          </p:cNvPicPr>
          <p:nvPr/>
        </p:nvPicPr>
        <p:blipFill>
          <a:blip r:embed="rId4"/>
          <a:stretch>
            <a:fillRect/>
          </a:stretch>
        </p:blipFill>
        <p:spPr>
          <a:xfrm>
            <a:off x="667385" y="1157605"/>
            <a:ext cx="7648575" cy="5105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5139055"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详细过程</a:t>
            </a:r>
            <a:endParaRPr lang="zh-CN" altLang="en-US" b="1">
              <a:latin typeface="汉仪粗仿宋简" panose="02010600000101010101" charset="-122"/>
              <a:ea typeface="汉仪粗仿宋简" panose="02010600000101010101" charset="-122"/>
            </a:endParaRPr>
          </a:p>
        </p:txBody>
      </p:sp>
      <p:sp>
        <p:nvSpPr>
          <p:cNvPr id="8" name="文本框 7"/>
          <p:cNvSpPr txBox="1"/>
          <p:nvPr/>
        </p:nvSpPr>
        <p:spPr>
          <a:xfrm>
            <a:off x="328295" y="4052570"/>
            <a:ext cx="11290300" cy="2527935"/>
          </a:xfrm>
          <a:prstGeom prst="rect">
            <a:avLst/>
          </a:prstGeom>
          <a:noFill/>
        </p:spPr>
        <p:txBody>
          <a:bodyPr wrap="square" rtlCol="0">
            <a:spAutoFit/>
          </a:bodyPr>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提示明确指出</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忽略背景知识和</a:t>
            </a:r>
            <a:r>
              <a:rPr lang="en-US" altLang="zh-CN">
                <a:latin typeface="汉仪粗仿宋简" panose="02010600000101010101" charset="-122"/>
                <a:ea typeface="汉仪粗仿宋简" panose="02010600000101010101" charset="-122"/>
                <a:cs typeface="汉仪粗仿宋简" panose="02010600000101010101" charset="-122"/>
              </a:rPr>
              <a:t>C</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zh-CN" altLang="en-US">
                <a:latin typeface="汉仪粗仿宋简" panose="02010600000101010101" charset="-122"/>
                <a:ea typeface="汉仪粗仿宋简" panose="02010600000101010101" charset="-122"/>
                <a:cs typeface="汉仪粗仿宋简" panose="02010600000101010101" charset="-122"/>
              </a:rPr>
              <a:t>、</a:t>
            </a:r>
            <a:r>
              <a:rPr lang="en-US" altLang="zh-CN">
                <a:latin typeface="汉仪粗仿宋简" panose="02010600000101010101" charset="-122"/>
                <a:ea typeface="汉仪粗仿宋简" panose="02010600000101010101" charset="-122"/>
                <a:cs typeface="汉仪粗仿宋简" panose="02010600000101010101" charset="-122"/>
              </a:rPr>
              <a:t>t</a:t>
            </a:r>
            <a:r>
              <a:rPr lang="en-US" altLang="zh-CN" baseline="-25000">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的事实正确性，确保只关注检索到的</a:t>
            </a:r>
            <a:r>
              <a:rPr lang="zh-CN" altLang="en-US">
                <a:latin typeface="汉仪粗仿宋简" panose="02010600000101010101" charset="-122"/>
                <a:ea typeface="汉仪粗仿宋简" panose="02010600000101010101" charset="-122"/>
                <a:cs typeface="汉仪粗仿宋简" panose="02010600000101010101" charset="-122"/>
              </a:rPr>
              <a:t>文本是否影响不正确的输出。</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我们还整合了一个逐步推理过程，提示遵循散步结构，系统的指导</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的评估：</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en-US" altLang="zh-CN">
                <a:latin typeface="汉仪粗仿宋简" panose="02010600000101010101" charset="-122"/>
                <a:ea typeface="汉仪粗仿宋简" panose="02010600000101010101" charset="-122"/>
                <a:cs typeface="汉仪粗仿宋简" panose="02010600000101010101" charset="-122"/>
              </a:rPr>
              <a:t>1. </a:t>
            </a:r>
            <a:r>
              <a:rPr lang="zh-CN" altLang="en-US">
                <a:latin typeface="汉仪粗仿宋简" panose="02010600000101010101" charset="-122"/>
                <a:ea typeface="汉仪粗仿宋简" panose="02010600000101010101" charset="-122"/>
                <a:cs typeface="汉仪粗仿宋简" panose="02010600000101010101" charset="-122"/>
              </a:rPr>
              <a:t>指示</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评估</a:t>
            </a:r>
            <a:r>
              <a:rPr lang="en-US" altLang="zh-CN">
                <a:latin typeface="汉仪粗仿宋简" panose="02010600000101010101" charset="-122"/>
                <a:ea typeface="汉仪粗仿宋简" panose="02010600000101010101" charset="-122"/>
                <a:cs typeface="汉仪粗仿宋简" panose="02010600000101010101" charset="-122"/>
              </a:rPr>
              <a:t>C</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zh-CN" altLang="en-US">
                <a:latin typeface="汉仪粗仿宋简" panose="02010600000101010101" charset="-122"/>
                <a:ea typeface="汉仪粗仿宋简" panose="02010600000101010101" charset="-122"/>
                <a:cs typeface="汉仪粗仿宋简" panose="02010600000101010101" charset="-122"/>
              </a:rPr>
              <a:t>是否鼓励生成和</a:t>
            </a:r>
            <a:r>
              <a:rPr lang="en-US" altLang="zh-CN">
                <a:latin typeface="汉仪粗仿宋简" panose="02010600000101010101" charset="-122"/>
                <a:ea typeface="汉仪粗仿宋简" panose="02010600000101010101" charset="-122"/>
                <a:cs typeface="汉仪粗仿宋简" panose="02010600000101010101" charset="-122"/>
              </a:rPr>
              <a:t>t</a:t>
            </a:r>
            <a:r>
              <a:rPr lang="en-US" altLang="zh-CN" baseline="-25000">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一致的答案，而不考虑事实正确性</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en-US" altLang="zh-CN">
                <a:latin typeface="汉仪粗仿宋简" panose="02010600000101010101" charset="-122"/>
                <a:ea typeface="汉仪粗仿宋简" panose="02010600000101010101" charset="-122"/>
                <a:cs typeface="汉仪粗仿宋简" panose="02010600000101010101" charset="-122"/>
              </a:rPr>
              <a:t>2. </a:t>
            </a:r>
            <a:r>
              <a:rPr lang="zh-CN" altLang="en-US">
                <a:latin typeface="汉仪粗仿宋简" panose="02010600000101010101" charset="-122"/>
                <a:ea typeface="汉仪粗仿宋简" panose="02010600000101010101" charset="-122"/>
                <a:cs typeface="汉仪粗仿宋简" panose="02010600000101010101" charset="-122"/>
              </a:rPr>
              <a:t>指示</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对其评估提供简短的解释，提高可靠性</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en-US" altLang="zh-CN">
                <a:latin typeface="汉仪粗仿宋简" panose="02010600000101010101" charset="-122"/>
                <a:ea typeface="汉仪粗仿宋简" panose="02010600000101010101" charset="-122"/>
                <a:cs typeface="汉仪粗仿宋简" panose="02010600000101010101" charset="-122"/>
              </a:rPr>
              <a:t>3. </a:t>
            </a:r>
            <a:r>
              <a:rPr lang="zh-CN" altLang="en-US">
                <a:latin typeface="汉仪粗仿宋简" panose="02010600000101010101" charset="-122"/>
                <a:ea typeface="汉仪粗仿宋简" panose="02010600000101010101" charset="-122"/>
                <a:cs typeface="汉仪粗仿宋简" panose="02010600000101010101" charset="-122"/>
              </a:rPr>
              <a:t>明确包括</a:t>
            </a:r>
            <a:r>
              <a:rPr lang="en-US" altLang="zh-CN">
                <a:latin typeface="汉仪粗仿宋简" panose="02010600000101010101" charset="-122"/>
                <a:ea typeface="汉仪粗仿宋简" panose="02010600000101010101" charset="-122"/>
                <a:cs typeface="汉仪粗仿宋简" panose="02010600000101010101" charset="-122"/>
              </a:rPr>
              <a:t>“Let's think step by step”</a:t>
            </a:r>
            <a:r>
              <a:rPr lang="zh-CN" altLang="en-US">
                <a:latin typeface="汉仪粗仿宋简" panose="02010600000101010101" charset="-122"/>
                <a:ea typeface="汉仪粗仿宋简" panose="02010600000101010101" charset="-122"/>
                <a:cs typeface="汉仪粗仿宋简" panose="02010600000101010101" charset="-122"/>
              </a:rPr>
              <a:t>促使</a:t>
            </a:r>
            <a:r>
              <a:rPr lang="en-US" altLang="zh-CN">
                <a:latin typeface="汉仪粗仿宋简" panose="02010600000101010101" charset="-122"/>
                <a:ea typeface="汉仪粗仿宋简" panose="02010600000101010101" charset="-122"/>
                <a:cs typeface="汉仪粗仿宋简" panose="02010600000101010101" charset="-122"/>
              </a:rPr>
              <a:t>LLM</a:t>
            </a:r>
            <a:r>
              <a:rPr lang="zh-CN" altLang="en-US">
                <a:latin typeface="汉仪粗仿宋简" panose="02010600000101010101" charset="-122"/>
                <a:ea typeface="汉仪粗仿宋简" panose="02010600000101010101" charset="-122"/>
                <a:cs typeface="汉仪粗仿宋简" panose="02010600000101010101" charset="-122"/>
              </a:rPr>
              <a:t>进行结构化的系统分析</a:t>
            </a:r>
            <a:endParaRPr lang="zh-CN" altLang="en-US">
              <a:latin typeface="汉仪粗仿宋简" panose="02010600000101010101" charset="-122"/>
              <a:ea typeface="汉仪粗仿宋简" panose="02010600000101010101" charset="-122"/>
              <a:cs typeface="汉仪粗仿宋简" panose="02010600000101010101" charset="-122"/>
            </a:endParaRPr>
          </a:p>
          <a:p>
            <a:pPr>
              <a:lnSpc>
                <a:spcPct val="110000"/>
              </a:lnSpc>
            </a:pPr>
            <a:r>
              <a:rPr lang="zh-CN" altLang="en-US">
                <a:latin typeface="汉仪粗仿宋简" panose="02010600000101010101" charset="-122"/>
                <a:ea typeface="汉仪粗仿宋简" panose="02010600000101010101" charset="-122"/>
                <a:cs typeface="汉仪粗仿宋简" panose="02010600000101010101" charset="-122"/>
              </a:rPr>
              <a:t>最后判断输出，如果输出是</a:t>
            </a:r>
            <a:r>
              <a:rPr lang="en-US" altLang="zh-CN">
                <a:latin typeface="汉仪粗仿宋简" panose="02010600000101010101" charset="-122"/>
                <a:ea typeface="汉仪粗仿宋简" panose="02010600000101010101" charset="-122"/>
                <a:cs typeface="汉仪粗仿宋简" panose="02010600000101010101" charset="-122"/>
              </a:rPr>
              <a:t>yes</a:t>
            </a:r>
            <a:r>
              <a:rPr lang="zh-CN" altLang="en-US">
                <a:latin typeface="汉仪粗仿宋简" panose="02010600000101010101" charset="-122"/>
                <a:ea typeface="汉仪粗仿宋简" panose="02010600000101010101" charset="-122"/>
                <a:cs typeface="汉仪粗仿宋简" panose="02010600000101010101" charset="-122"/>
              </a:rPr>
              <a:t>即</a:t>
            </a:r>
            <a:r>
              <a:rPr lang="en-US" altLang="zh-CN">
                <a:latin typeface="汉仪粗仿宋简" panose="02010600000101010101" charset="-122"/>
                <a:ea typeface="汉仪粗仿宋简" panose="02010600000101010101" charset="-122"/>
                <a:cs typeface="汉仪粗仿宋简" panose="02010600000101010101" charset="-122"/>
              </a:rPr>
              <a:t>C</a:t>
            </a:r>
            <a:r>
              <a:rPr lang="en-US" altLang="zh-CN" baseline="-25000">
                <a:latin typeface="汉仪粗仿宋简" panose="02010600000101010101" charset="-122"/>
                <a:ea typeface="汉仪粗仿宋简" panose="02010600000101010101" charset="-122"/>
                <a:cs typeface="汉仪粗仿宋简" panose="02010600000101010101" charset="-122"/>
              </a:rPr>
              <a:t>j</a:t>
            </a:r>
            <a:r>
              <a:rPr lang="zh-CN" altLang="en-US">
                <a:latin typeface="汉仪粗仿宋简" panose="02010600000101010101" charset="-122"/>
                <a:ea typeface="汉仪粗仿宋简" panose="02010600000101010101" charset="-122"/>
                <a:cs typeface="汉仪粗仿宋简" panose="02010600000101010101" charset="-122"/>
              </a:rPr>
              <a:t>对</a:t>
            </a:r>
            <a:r>
              <a:rPr lang="en-US" altLang="zh-CN">
                <a:latin typeface="汉仪粗仿宋简" panose="02010600000101010101" charset="-122"/>
                <a:ea typeface="汉仪粗仿宋简" panose="02010600000101010101" charset="-122"/>
                <a:cs typeface="汉仪粗仿宋简" panose="02010600000101010101" charset="-122"/>
              </a:rPr>
              <a:t>t</a:t>
            </a:r>
            <a:r>
              <a:rPr lang="en-US" altLang="zh-CN" baseline="-25000">
                <a:latin typeface="汉仪粗仿宋简" panose="02010600000101010101" charset="-122"/>
                <a:ea typeface="汉仪粗仿宋简" panose="02010600000101010101" charset="-122"/>
                <a:cs typeface="汉仪粗仿宋简" panose="02010600000101010101" charset="-122"/>
              </a:rPr>
              <a:t>i</a:t>
            </a:r>
            <a:r>
              <a:rPr lang="zh-CN" altLang="en-US">
                <a:latin typeface="汉仪粗仿宋简" panose="02010600000101010101" charset="-122"/>
                <a:ea typeface="汉仪粗仿宋简" panose="02010600000101010101" charset="-122"/>
                <a:cs typeface="汉仪粗仿宋简" panose="02010600000101010101" charset="-122"/>
              </a:rPr>
              <a:t>的生成有贡献，，将其分类为中毒文本，如果为</a:t>
            </a:r>
            <a:r>
              <a:rPr lang="en-US" altLang="zh-CN">
                <a:latin typeface="汉仪粗仿宋简" panose="02010600000101010101" charset="-122"/>
                <a:ea typeface="汉仪粗仿宋简" panose="02010600000101010101" charset="-122"/>
                <a:cs typeface="汉仪粗仿宋简" panose="02010600000101010101" charset="-122"/>
              </a:rPr>
              <a:t>no</a:t>
            </a:r>
            <a:r>
              <a:rPr lang="zh-CN" altLang="en-US">
                <a:latin typeface="汉仪粗仿宋简" panose="02010600000101010101" charset="-122"/>
                <a:ea typeface="汉仪粗仿宋简" panose="02010600000101010101" charset="-122"/>
                <a:cs typeface="汉仪粗仿宋简" panose="02010600000101010101" charset="-122"/>
              </a:rPr>
              <a:t>也没有贡献划分至良性文本，该过程一致迭代到所识别到的良性文本的数量达到</a:t>
            </a:r>
            <a:r>
              <a:rPr lang="en-US" altLang="zh-CN">
                <a:latin typeface="汉仪粗仿宋简" panose="02010600000101010101" charset="-122"/>
                <a:ea typeface="汉仪粗仿宋简" panose="02010600000101010101" charset="-122"/>
                <a:cs typeface="汉仪粗仿宋简" panose="02010600000101010101" charset="-122"/>
              </a:rPr>
              <a:t>k</a:t>
            </a:r>
            <a:r>
              <a:rPr lang="zh-CN" altLang="en-US">
                <a:latin typeface="汉仪粗仿宋简" panose="02010600000101010101" charset="-122"/>
                <a:ea typeface="汉仪粗仿宋简" panose="02010600000101010101" charset="-122"/>
                <a:cs typeface="汉仪粗仿宋简" panose="02010600000101010101" charset="-122"/>
              </a:rPr>
              <a:t>，即确保检索到的文本中移除了所有的中毒文本，防止</a:t>
            </a:r>
            <a:r>
              <a:rPr lang="en-US" altLang="zh-CN">
                <a:latin typeface="汉仪粗仿宋简" panose="02010600000101010101" charset="-122"/>
                <a:ea typeface="汉仪粗仿宋简" panose="02010600000101010101" charset="-122"/>
                <a:cs typeface="汉仪粗仿宋简" panose="02010600000101010101" charset="-122"/>
              </a:rPr>
              <a:t>RAG</a:t>
            </a:r>
            <a:r>
              <a:rPr lang="zh-CN" altLang="en-US">
                <a:latin typeface="汉仪粗仿宋简" panose="02010600000101010101" charset="-122"/>
                <a:ea typeface="汉仪粗仿宋简" panose="02010600000101010101" charset="-122"/>
                <a:cs typeface="汉仪粗仿宋简" panose="02010600000101010101" charset="-122"/>
              </a:rPr>
              <a:t>系统产生不正确的输出。</a:t>
            </a:r>
            <a:endParaRPr lang="zh-CN" altLang="en-US">
              <a:latin typeface="汉仪粗仿宋简" panose="02010600000101010101" charset="-122"/>
              <a:ea typeface="汉仪粗仿宋简" panose="02010600000101010101" charset="-122"/>
              <a:cs typeface="汉仪粗仿宋简" panose="02010600000101010101" charset="-122"/>
            </a:endParaRPr>
          </a:p>
        </p:txBody>
      </p:sp>
      <p:pic>
        <p:nvPicPr>
          <p:cNvPr id="11" name="图片 10"/>
          <p:cNvPicPr>
            <a:picLocks noChangeAspect="1"/>
          </p:cNvPicPr>
          <p:nvPr/>
        </p:nvPicPr>
        <p:blipFill>
          <a:blip r:embed="rId4"/>
          <a:stretch>
            <a:fillRect/>
          </a:stretch>
        </p:blipFill>
        <p:spPr>
          <a:xfrm>
            <a:off x="3101340" y="628650"/>
            <a:ext cx="5873115" cy="339788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55625" y="83755"/>
            <a:ext cx="2985156" cy="548884"/>
          </a:xfrm>
          <a:prstGeom prst="rect">
            <a:avLst/>
          </a:prstGeom>
        </p:spPr>
      </p:pic>
      <p:sp>
        <p:nvSpPr>
          <p:cNvPr id="2" name="矩形 1"/>
          <p:cNvSpPr/>
          <p:nvPr/>
        </p:nvSpPr>
        <p:spPr>
          <a:xfrm>
            <a:off x="1" y="0"/>
            <a:ext cx="328202" cy="97313"/>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2"/>
          <p:cNvSpPr/>
          <p:nvPr/>
        </p:nvSpPr>
        <p:spPr>
          <a:xfrm>
            <a:off x="0" y="149171"/>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p:cNvSpPr/>
          <p:nvPr/>
        </p:nvSpPr>
        <p:spPr>
          <a:xfrm>
            <a:off x="0" y="300027"/>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0" y="437089"/>
            <a:ext cx="328202" cy="102906"/>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nvSpPr>
        <p:spPr>
          <a:xfrm>
            <a:off x="0" y="585996"/>
            <a:ext cx="328202" cy="91061"/>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矩形 62"/>
          <p:cNvSpPr/>
          <p:nvPr/>
        </p:nvSpPr>
        <p:spPr>
          <a:xfrm>
            <a:off x="3355942" y="-9525"/>
            <a:ext cx="8836059" cy="612475"/>
          </a:xfrm>
          <a:prstGeom prst="rect">
            <a:avLst/>
          </a:prstGeom>
          <a:solidFill>
            <a:srgbClr val="004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矩形 12"/>
          <p:cNvSpPr/>
          <p:nvPr/>
        </p:nvSpPr>
        <p:spPr>
          <a:xfrm>
            <a:off x="3355942" y="603048"/>
            <a:ext cx="8836058" cy="9106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 name="文本框 6" descr="7b0a202020202262756c6c6574223a20227b5c2263617465676f727949645c223a5c225c222c5c2274656d706c61746549645c223a32303233313634317d220a7d0a"/>
          <p:cNvSpPr txBox="1"/>
          <p:nvPr/>
        </p:nvSpPr>
        <p:spPr>
          <a:xfrm>
            <a:off x="111125" y="789305"/>
            <a:ext cx="1570990" cy="368300"/>
          </a:xfrm>
          <a:prstGeom prst="rect">
            <a:avLst/>
          </a:prstGeom>
          <a:noFill/>
        </p:spPr>
        <p:txBody>
          <a:bodyPr wrap="square" rtlCol="0">
            <a:spAutoFit/>
          </a:bodyPr>
          <a:p>
            <a:pPr>
              <a:buBlip>
                <a:blip r:embed="rId2">
                  <a:extLst>
                    <a:ext uri="{96DAC541-7B7A-43D3-8B79-37D633B846F1}">
                      <asvg:svgBlip xmlns:asvg="http://schemas.microsoft.com/office/drawing/2016/SVG/main" r:embed="rId3"/>
                    </a:ext>
                  </a:extLst>
                </a:blip>
              </a:buBlip>
            </a:pPr>
            <a:r>
              <a:rPr lang="en-US" altLang="zh-CN" b="1">
                <a:latin typeface="汉仪粗仿宋简" panose="02010600000101010101" charset="-122"/>
                <a:ea typeface="汉仪粗仿宋简" panose="02010600000101010101" charset="-122"/>
              </a:rPr>
              <a:t> </a:t>
            </a:r>
            <a:r>
              <a:rPr lang="zh-CN" altLang="en-US" b="1">
                <a:latin typeface="汉仪粗仿宋简" panose="02010600000101010101" charset="-122"/>
                <a:ea typeface="汉仪粗仿宋简" panose="02010600000101010101" charset="-122"/>
              </a:rPr>
              <a:t>算法</a:t>
            </a:r>
            <a:r>
              <a:rPr lang="zh-CN" altLang="en-US" b="1">
                <a:latin typeface="汉仪粗仿宋简" panose="02010600000101010101" charset="-122"/>
                <a:ea typeface="汉仪粗仿宋简" panose="02010600000101010101" charset="-122"/>
              </a:rPr>
              <a:t>分析</a:t>
            </a:r>
            <a:endParaRPr lang="zh-CN" altLang="en-US" b="1">
              <a:latin typeface="汉仪粗仿宋简" panose="02010600000101010101" charset="-122"/>
              <a:ea typeface="汉仪粗仿宋简" panose="02010600000101010101" charset="-122"/>
            </a:endParaRPr>
          </a:p>
        </p:txBody>
      </p:sp>
      <p:pic>
        <p:nvPicPr>
          <p:cNvPr id="8" name="图片 7"/>
          <p:cNvPicPr>
            <a:picLocks noChangeAspect="1"/>
          </p:cNvPicPr>
          <p:nvPr/>
        </p:nvPicPr>
        <p:blipFill>
          <a:blip r:embed="rId4"/>
          <a:srcRect r="27825"/>
          <a:stretch>
            <a:fillRect/>
          </a:stretch>
        </p:blipFill>
        <p:spPr>
          <a:xfrm>
            <a:off x="2256790" y="789305"/>
            <a:ext cx="6150610" cy="586295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14707</Words>
  <Application>WPS 演示</Application>
  <PresentationFormat>宽屏</PresentationFormat>
  <Paragraphs>485</Paragraphs>
  <Slides>48</Slides>
  <Notes>16</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48</vt:i4>
      </vt:variant>
    </vt:vector>
  </HeadingPairs>
  <TitlesOfParts>
    <vt:vector size="62" baseType="lpstr">
      <vt:lpstr>Arial</vt:lpstr>
      <vt:lpstr>宋体</vt:lpstr>
      <vt:lpstr>Wingdings</vt:lpstr>
      <vt:lpstr>等线</vt:lpstr>
      <vt:lpstr>Times New Roman</vt:lpstr>
      <vt:lpstr>Chaparral Pro Light</vt:lpstr>
      <vt:lpstr>微软雅黑</vt:lpstr>
      <vt:lpstr>汉仪粗仿宋简</vt:lpstr>
      <vt:lpstr>Wingdings</vt:lpstr>
      <vt:lpstr>Arial Unicode MS</vt:lpstr>
      <vt:lpstr>等线 Light</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洪坤 卢</dc:creator>
  <cp:lastModifiedBy>epoch</cp:lastModifiedBy>
  <cp:revision>28</cp:revision>
  <dcterms:created xsi:type="dcterms:W3CDTF">2025-10-12T08:12:00Z</dcterms:created>
  <dcterms:modified xsi:type="dcterms:W3CDTF">2026-01-16T12:06:14Z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D82AE3C198174C54BD55A7C59BAA5903_13</vt:lpwstr>
  </property>
  <property fmtid="{D5CDD505-2E9C-101B-9397-08002B2CF9AE}" pid="3" name="KSOProductBuildVer">
    <vt:lpwstr>2052-12.1.0.24657</vt:lpwstr>
  </property>
</Properties>
</file>